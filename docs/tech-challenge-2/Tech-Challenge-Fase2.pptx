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tarde. Somos o Danilo e o Guilherme, e este é o Tech Challenge da Fase 2: a API de gestão de uma oficina mecânica de médio porte.
Na Fase 1 entregamos o MVP em Clean Architecture. A Fase 2 pediu duas coisas: evoluir as regras de negócio e entregar a cadeia de infraestrutura inteira — container, Kubernetes, Terraform e CI/CD.
É isso que vamos mostrar. E vamos mostrar rodando — na AWS.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falar do que é novo, vale lembrar de onde a gente parte.
A Fase 1 entregou o MVP: back-end monolítico containerizado, em Clean Architecture — domínio em Java puro, sem framework nenhum. O ciclo de vida completo da ordem de serviço, com snapshot de preço e estorno atômico de estoque.
Por trás disso, DDD de verdade: Event Storming, Context Map, sete bounded contexts, a OrdemServico como único Aggregate Root. E autenticação com JWT e refresh token, com rotação e detecção de reúso.
104 testes, JaCoCo travando o build abaixo de 80% no domínio, OWASP e SonarCloud barrando a main.
E três débitos técnicos. Não foram esquecimento: foram anotados de propósito, com a justificativa de cada um. Guardem esse detalhe — a Fase 2 fecha os três.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Fase 2 ataca três coisas.
Primeira, o domínio: três regras novas. A fila de ordens ordenada por prioridade de negócio, e não por data. Exclusão lógica — OS Finalizada e Entregue somem da fila, mas continuam no banco. E a aprovação externa: o cliente aprova o orçamento por um token único, recebido por e-mail, sem ter login no sistema.
Segunda, a infraestrutura inteira: a imagem, o cluster Kubernetes com escalabilidade automática, o Terraform, e a esteira que vai do commit até o deploy.
Terceira, e é a que fecha o ciclo: os três débitos da Fase 1, quitados. Os mappers manuais dos adapters de persistência saíram — trocamos pela biblioteca MapStruct, que gera esse código de mapeamento no build. O construtor de nove parâmetros virou um record. E a notificação ganhou canal concreto — SMTP de verdade — fechando aquele Hot Spot que estava aberto desde o Event Storming.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imagem é um Dockerfile multi-stage: o primeiro estágio compila com Maven, o segundo carrega só o JRE e o JAR.
O que vai pra produção não tem Maven, não tem código-fonte, não tem cache de build — e roda como usuário não-root, com healthcheck.
Para o dia a dia, um docker compose up sobe API, Postgres e MailHog.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namespace só: a API, o MailHog e — no cluster local — o Postgres. Na AWS o banco sai do cluster e vira RDS.
A API tem TRÊS probes, e cada uma resolve um problema diferente.
A startupProbe é a mais importante e a mais esquecida: ela dá cinco minutos de orçamento para o Spring subir, e segura as outras duas nesse meio-tempo. Sem ela, a liveness começaria a contar durante o boot e mataria um pod saudável que só estava demorando — o que aparece como CrashLoopBackOff e parece bug da aplicação.
Depois que sobe, a readiness controla o tráfego e a liveness reinicia o pod que travou.
Requests e limits de CPU e memória. E é por isso que o autoscaling funciona: sem requests, o HPA não tem denominador e não calcula porcentagem nenhuma.
O metrics-server precisou ser adicionado à mão: nem o kind nem o EKS o trazem, e sem ele o HPA lê &lt;unknown&gt; para sempre.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Terraform provisiona a AWS do zero: VPC, subnets, Internet Gateway, IAM, o cluster EKS e um PostgreSQL gerenciado no RDS. Nada foi criado a mão no console.
A porta de entrada é um Service do tipo LoadBalancer. O Kubernetes pede, e a AWS provisiona um ELB de verdade — com hostname público. É esse endereço que vamos usar na demonstração.
O mesmo Terraform sobe um cluster kind local, com Postgres dentro do cluster e custo zero. A diferença entre os dois cenários é só onde está o banco e de onde vem a imagem: o resto é exatamente o mesmo YAML.
Escolhas de custo mínimo na AWS: sem NAT Gateway, instâncias pequenas, single-AZ. É um ambiente efêmero — subir, demonstrar, destruir.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decisão que vale explicar, porque é uma armadilha clássica.
Para saber o que já criou, o Terraform escreve um arquivo — o state. É por ele que a ferramenta sabe que o cluster já existe e não precisa ser criado de novo. Guardamos esse arquivo num bucket S3, versionado, com uma trava no DynamoDB que impede dois apply rodarem ao mesmo tempo e corromperem o registro.
Aí vem a pergunta: quem cria o bucket?
Se fosse o próprio Terraform, o primeiro apply — justamente o que cria o bucket — ainda não teria bucket onde guardar o seu state. Ele ficaria em disco. E state em disco morre junto com o runner do CI: na execução seguinte, o Terraform esqueceria que o bucket existe e tentaria criá-lo de novo.
A causa é tratar um pré-requisito como se fosse um recurso. Então o bucket e a tabela são criados por um script de AWS CLI idempotente, que não tem state nenhum: pode rodar dez vezes, converge sempre no mesmo lugar. E aí ele roda tranquilo num runner efêmero — como o primeiro job da nossa esteira.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esteiras no mesmo repositório, com gatilhos diferentes.
A da aplicação roda a cada push: build, testes unitários e de integração com Testcontainers, cobertura no JaCoCo, OWASP Dependency-Check e o quality gate do SonarCloud. Passando, a imagem é construída e publicada no GHCR — com a tag do SHA do commit.
A da infraestrutura dispara quando o Terraform muda. O bootstrap do backend de state, que acabamos de explicar, é o PRIMEIRO JOB dela: não é passo manual, é bootstrap, depois plan, depois apply.
Três decisões de engenharia aqui.
Primeira: autenticação na AWS via OIDC. Não existe access key estática guardada em secret — o GitHub troca um token de curta duração por uma role que só este repositório consegue assumir. Nenhuma credencial de longa duração para vazar ou rotacionar.
Segunda: o apply não roda direto. O plan é gerado, publicado como artefato, e um GitHub Environment com required reviewers segura a esteira até alguém aprovar. É controle de mudança: separa quem propõe de quem aplica, e o apply usa exatamente o plano que foi revisado.
Terceira: a imagem é taggeada com o SHA do commit. O que está rodando no cluster é rastreável até a linha de código que o gerou.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Fechando: o que a Fase 2 entregou, e o que dela é conteúdo das aulas posto em prática.
Na aplicação, as três regras novas entraram sem que uma linha de infraestrutura mudasse. Esse é o teste da Clean Architecture da Fase 1 — e ela passou.
Na infraestrutura: imagem multi-stage, cluster Kubernetes com probes, requests e limits e escalabilidade automática, e o Terraform provisionando VPC, EKS e RDS do zero.
E a esteira ligando as duas pontas: do commit ao cluster, com quality gates, autenticação federada e controle de mudança.
Os conceitos das aulas que isso exercita: Clean Architecture e DDD, containerização, orquestração e escalabilidade, infraestrutura como código, e a cultura DevOps de automatizar tudo que dá — e revisar o que não deve ser automático.
(Se perguntarem sobre segurança de dependências: OWASP roda a cada push; as CVEs sem patch publicado estão suprimidas com justificativa e data, documentadas no README.)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1 — a aplicação, rodando na AWS.
A base é o hostname público do ELB — o mesmo Service LoadBalancer do slide de Terraform. Não é localhost: é o cluster EKS respondendo pela internet.
Roteiro em docs/demo.http.
Pontos para narrar:
• No passo 4, o estoque da peça cai na hora — decremento atômico, sem race condition.
• No passo 5, o e-mail sai de verdade. Abra o MailHog (port-forward na porta 8025) e mostre o token.
• O passo 6 é o caminho do funcionário: aprovação interna, com JWT.
• O passo 7 é a novidade da fase: numa OS separada, o CLIENTE aprova pelo token do e-mail, no endpoint público, SEM login.
Deixe cliente, veículo, serviço e peça já cadastrados antes de gravar.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2 — a infraestrutura.
Mostre os dois clusters rodando os mesmos manifestos: o kind local e o EKS na AWS. Um kubectl get pods em cada, apontando que o YAML é o mesmo.
Na AWS, mostre também o RDS e o ELB — o banco fora do cluster e a porta de entrada pública.
Depois, o autoscaling: tela dividida com o HPA de um lado e o k6 do outro. Suba a carga e narre o HPA acordando — de &lt;unknown&gt; ao percentual real, passando de 70%, e as réplicas subindo de 2 até 8.
ATENÇÃO: não prometa que as réplicas voltam a 2 sozinhas. Com a métrica de memória ligada, a JVM não devolve heap e o HPA fica preso no teto. Se quiserem essa fala, o HPA precisa ser ajustado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Regras novas sem tocar em infraestrutura, porque a arquitetura aguentou. Infraestrutura declarada, versionada e destruível com um clique. E a esteira inteira, do commit ao cluster.
Obrigado.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22960" y="1737360"/>
            <a:ext cx="1463040" cy="54864"/>
          </a:xfrm>
          <a:prstGeom prst="rect">
            <a:avLst/>
          </a:prstGeom>
          <a:solidFill>
            <a:srgbClr val="C46B2E"/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1965960"/>
            <a:ext cx="1054577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Oficina Mecânica API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822960" y="3017520"/>
            <a:ext cx="738204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Gestão de ordens de serviço para uma oficina de médio porte.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 regra de negócio ao cluster, com a esteira inteira no meio.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4206240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Danilo Canato          Guilherme Fumagali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457200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Challenge · Fase 2 · PosTech FIAP — Arquitetura de Software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566928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já existe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822960" y="1572768"/>
            <a:ext cx="1005840" cy="41148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783080"/>
            <a:ext cx="86475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Fase 1 entregou o MVP. Esta fase parte dele — inclusive da dívida que deixamos anotada.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514600"/>
            <a:ext cx="3271418" cy="36576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679192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PRODUTO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22960" y="2935224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em Clean Architecture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520440"/>
            <a:ext cx="327141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Back-end monolítico containerizado. Domínio em Java puro, sem framework. O ciclo de vida completo da OS: 8 endpoints, snapshot de preço, estorno atômico de estoque.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60138" y="2514600"/>
            <a:ext cx="3271418" cy="36576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11" name="Text 8"/>
          <p:cNvSpPr/>
          <p:nvPr/>
        </p:nvSpPr>
        <p:spPr>
          <a:xfrm>
            <a:off x="4460138" y="2679192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MODELO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460138" y="2935224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DDD, estratégico e tático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460138" y="3520440"/>
            <a:ext cx="327141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Storming e Context Map. 7 bounded contexts. OrdemServico como único Aggregate Root. JWT + refresh token com rotação e detecção de reúso.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97317" y="2514600"/>
            <a:ext cx="3271418" cy="36576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15" name="Text 12"/>
          <p:cNvSpPr/>
          <p:nvPr/>
        </p:nvSpPr>
        <p:spPr>
          <a:xfrm>
            <a:off x="8097317" y="2679192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RIGOR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097317" y="2935224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104 testes, gate bloqueante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097317" y="3520440"/>
            <a:ext cx="327141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JaCoCo com enforce de 80% no domínio. OWASP Dependency-Check e SonarCloud barrando a main.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" y="5038344"/>
            <a:ext cx="100584" cy="100584"/>
          </a:xfrm>
          <a:prstGeom prst="rect">
            <a:avLst/>
          </a:prstGeom>
          <a:solidFill>
            <a:srgbClr val="C46B2E"/>
          </a:solidFill>
          <a:ln/>
        </p:spPr>
      </p:sp>
      <p:sp>
        <p:nvSpPr>
          <p:cNvPr id="19" name="Text 16"/>
          <p:cNvSpPr/>
          <p:nvPr/>
        </p:nvSpPr>
        <p:spPr>
          <a:xfrm>
            <a:off x="1097280" y="4892040"/>
            <a:ext cx="1022573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três débitos técnicos: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mappers manuais, um construtor de nove parâmetros, e o serviço de notificação sem canal concreto — o Hot Spot PA2 do Event Storming, deixado em aberto porque isso ainda não tinha sido decidido.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22960" y="6199632"/>
            <a:ext cx="10545775" cy="10973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21" name="Text 18"/>
          <p:cNvSpPr/>
          <p:nvPr/>
        </p:nvSpPr>
        <p:spPr>
          <a:xfrm>
            <a:off x="10820095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566928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esta entrega atende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822960" y="1572768"/>
            <a:ext cx="1005840" cy="41148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783080"/>
            <a:ext cx="86475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Novas regras de negócio e a cadeia de infraestrutura completa, do container ao cluster.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514600"/>
            <a:ext cx="3271418" cy="36576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679192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DOMÍNIO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22960" y="2935224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regras novas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520440"/>
            <a:ext cx="32714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fila de OS ordenada por prioridade de negócio, não por data. Exclusão lógica de Finalizada e Entregue. E o cliente aprovando o orçamento por token, sem login, pelo e-mail que recebe.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60138" y="2514600"/>
            <a:ext cx="3271418" cy="36576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11" name="Text 8"/>
          <p:cNvSpPr/>
          <p:nvPr/>
        </p:nvSpPr>
        <p:spPr>
          <a:xfrm>
            <a:off x="4460138" y="2679192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INFRAESTRUTURA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460138" y="2935224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container ao cluster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460138" y="3520440"/>
            <a:ext cx="32714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Imagem enxuta, Kubernetes com escalabilidade automática, Terraform provisionando do zero e uma esteira que vai do commit ao deploy.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97317" y="2514600"/>
            <a:ext cx="3271418" cy="36576"/>
          </a:xfrm>
          <a:prstGeom prst="rect">
            <a:avLst/>
          </a:prstGeom>
          <a:solidFill>
            <a:srgbClr val="C46B2E"/>
          </a:solidFill>
          <a:ln/>
        </p:spPr>
      </p:sp>
      <p:sp>
        <p:nvSpPr>
          <p:cNvPr id="15" name="Text 12"/>
          <p:cNvSpPr/>
          <p:nvPr/>
        </p:nvSpPr>
        <p:spPr>
          <a:xfrm>
            <a:off x="8097317" y="2679192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DÍVIDA TÉCNICA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097317" y="2935224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três débitos, quitados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097317" y="3520440"/>
            <a:ext cx="32714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Mappers manuais trocados pela lib MapStruct, que gera o mapeamento no build. O construtor de nove parâmetros virou um record. E a notificação ganhou canal: SMTP real — fechando o Hot Spot que a Fase 1 deixou aberto.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" y="6199632"/>
            <a:ext cx="10545775" cy="10973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19" name="Text 16"/>
          <p:cNvSpPr/>
          <p:nvPr/>
        </p:nvSpPr>
        <p:spPr>
          <a:xfrm>
            <a:off x="10820095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566928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e produção, separados por construção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822960" y="1572768"/>
            <a:ext cx="1005840" cy="41148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783080"/>
            <a:ext cx="9555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multi-stage: a etapa que constrói é descartada, e a imagem final carrega só o necessário para executar.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697480"/>
            <a:ext cx="6035040" cy="2514600"/>
          </a:xfrm>
          <a:prstGeom prst="rect">
            <a:avLst/>
          </a:prstGeom>
          <a:solidFill>
            <a:srgbClr val="ECE8E1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2697480"/>
            <a:ext cx="32004" cy="2514600"/>
          </a:xfrm>
          <a:prstGeom prst="rect">
            <a:avLst/>
          </a:prstGeom>
          <a:solidFill>
            <a:srgbClr val="C46B2E"/>
          </a:solidFill>
          <a:ln/>
        </p:spPr>
      </p:sp>
      <p:sp>
        <p:nvSpPr>
          <p:cNvPr id="8" name="Text 5"/>
          <p:cNvSpPr/>
          <p:nvPr/>
        </p:nvSpPr>
        <p:spPr>
          <a:xfrm>
            <a:off x="1078992" y="2862072"/>
            <a:ext cx="5577840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etapa 1 — compila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maven:3.9-eclipse-temurin-21 AS builder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mvn package -DskipTests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etapa 2 — o que realmente vai pra produção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eclipse-temurin:21-jre-alpine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adduser -S spring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--from=builder /app/target/*.jar app.jar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spring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HEALTHCHECK CMD wget -qO- /actuator/health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223760" y="2880360"/>
            <a:ext cx="91440" cy="91440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10" name="Text 7"/>
          <p:cNvSpPr/>
          <p:nvPr/>
        </p:nvSpPr>
        <p:spPr>
          <a:xfrm>
            <a:off x="7479792" y="2743200"/>
            <a:ext cx="38706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Maven, sem fonte, sem cache.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 imagem final tem só o JRE e o JAR.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223760" y="3749040"/>
            <a:ext cx="91440" cy="91440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12" name="Text 9"/>
          <p:cNvSpPr/>
          <p:nvPr/>
        </p:nvSpPr>
        <p:spPr>
          <a:xfrm>
            <a:off x="7479792" y="3611880"/>
            <a:ext cx="38706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Usuário não-root.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 um healthcheck declarado no próprio container.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223760" y="4617720"/>
            <a:ext cx="91440" cy="91440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14" name="Text 11"/>
          <p:cNvSpPr/>
          <p:nvPr/>
        </p:nvSpPr>
        <p:spPr>
          <a:xfrm>
            <a:off x="7479792" y="4480560"/>
            <a:ext cx="38706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Serviços separados.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docker compose up sobe API, Postgres e MailHog.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22960" y="6199632"/>
            <a:ext cx="10545775" cy="10973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16" name="Text 13"/>
          <p:cNvSpPr/>
          <p:nvPr/>
        </p:nvSpPr>
        <p:spPr>
          <a:xfrm>
            <a:off x="10820095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566928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faz o autoscaling funcionar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822960" y="1572768"/>
            <a:ext cx="1005840" cy="41148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783080"/>
            <a:ext cx="86475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Não é o HPA sozinho. São três peças, e faltar uma delas quebra tudo em silêncio.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514600"/>
            <a:ext cx="3271418" cy="36576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679192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RÉPLICAS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22960" y="2935224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2 a 8, pela carga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520440"/>
            <a:ext cx="327141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HPA acompanha CPU e memória e sobe réplicas quando a carga aperta — com atraso proposital, para não ficar oscilando a cada pico.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60138" y="2514600"/>
            <a:ext cx="3271418" cy="36576"/>
          </a:xfrm>
          <a:prstGeom prst="rect">
            <a:avLst/>
          </a:prstGeom>
          <a:solidFill>
            <a:srgbClr val="C46B2E"/>
          </a:solidFill>
          <a:ln/>
        </p:spPr>
      </p:sp>
      <p:sp>
        <p:nvSpPr>
          <p:cNvPr id="11" name="Text 8"/>
          <p:cNvSpPr/>
          <p:nvPr/>
        </p:nvSpPr>
        <p:spPr>
          <a:xfrm>
            <a:off x="4460138" y="2679192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PEÇA QUE TODO MUNDO ESQUECE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460138" y="2935224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requests, não há conta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460138" y="3520440"/>
            <a:ext cx="327141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HPA calcula uso sobre o que o pod pediu. Sem requests declarados, ele não tem denominador — e simplesmente não escala.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97317" y="2514600"/>
            <a:ext cx="3271418" cy="36576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15" name="Text 12"/>
          <p:cNvSpPr/>
          <p:nvPr/>
        </p:nvSpPr>
        <p:spPr>
          <a:xfrm>
            <a:off x="8097317" y="2679192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PROBES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097317" y="2935224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Três, cada uma com um papel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097317" y="3520440"/>
            <a:ext cx="327141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startup dá 5 min para o Spring subir e segura as outras. A readiness controla o tráfego. A liveness reinicia o pod travado.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" y="4855464"/>
            <a:ext cx="100584" cy="100584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19" name="Text 16"/>
          <p:cNvSpPr/>
          <p:nvPr/>
        </p:nvSpPr>
        <p:spPr>
          <a:xfrm>
            <a:off x="1097280" y="4709160"/>
            <a:ext cx="1022573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startupProbe, a liveness mata o app durante o boot.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Ela conta desde o início e derruba um pod saudável que só estava demorando a subir. O sintoma é CrashLoopBackOff — e parece bug da aplicação.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22960" y="5568696"/>
            <a:ext cx="100584" cy="100584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21" name="Text 18"/>
          <p:cNvSpPr/>
          <p:nvPr/>
        </p:nvSpPr>
        <p:spPr>
          <a:xfrm>
            <a:off x="1097280" y="5422392"/>
            <a:ext cx="10225735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metrics-server é responsabilidade nossa.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Nem o kind nem o EKS o trazem de fábrica. Sem ele, o HPA lê &lt;unknown&gt; para sempre e nunca escala.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22960" y="6199632"/>
            <a:ext cx="10545775" cy="10973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23" name="Text 20"/>
          <p:cNvSpPr/>
          <p:nvPr/>
        </p:nvSpPr>
        <p:spPr>
          <a:xfrm>
            <a:off x="10820095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566928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o Terraform provisiona na AWS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822960" y="1572768"/>
            <a:ext cx="1005840" cy="41148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783080"/>
            <a:ext cx="86475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recursos em us-east-1: rede, IAM, EKS e RDS — do CIDR da VPC à classe da instância do banco.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651760"/>
            <a:ext cx="5394960" cy="3291840"/>
          </a:xfrm>
          <a:prstGeom prst="rect">
            <a:avLst/>
          </a:prstGeom>
          <a:solidFill>
            <a:srgbClr val="ECE8E1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2651760"/>
            <a:ext cx="32004" cy="3291840"/>
          </a:xfrm>
          <a:prstGeom prst="rect">
            <a:avLst/>
          </a:prstGeom>
          <a:solidFill>
            <a:srgbClr val="C46B2E"/>
          </a:solidFill>
          <a:ln/>
        </p:spPr>
      </p:sp>
      <p:sp>
        <p:nvSpPr>
          <p:cNvPr id="8" name="Text 5"/>
          <p:cNvSpPr/>
          <p:nvPr/>
        </p:nvSpPr>
        <p:spPr>
          <a:xfrm>
            <a:off x="1078992" y="2816352"/>
            <a:ext cx="4937760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"aws_eks_node_group" "oficina" {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instance_types = ["t3.small"]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scaling_config {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desired_size = 2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min_size     = 2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max_size     = 3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"aws_db_instance" "oficina" {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engine            = "postgres"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engine_version    = "16"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instance_class    = "db.t4g.micro"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allocated_storage = 20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storage_type      = "gp3"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multi_az          = false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583680" y="2862072"/>
            <a:ext cx="91440" cy="91440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10" name="Text 7"/>
          <p:cNvSpPr/>
          <p:nvPr/>
        </p:nvSpPr>
        <p:spPr>
          <a:xfrm>
            <a:off x="6821424" y="2743200"/>
            <a:ext cx="4529023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Rede.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VPC 10.0.0.0/16, duas subnets públicas (us-east-1a e 1b), Internet Gateway e rota default. Sem NAT Gateway: os nós ficam em subnet pública, com Security Group restritivo — trade-off aceito porque o cluster é efêmero.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583680" y="4206240"/>
            <a:ext cx="91440" cy="91440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12" name="Text 9"/>
          <p:cNvSpPr/>
          <p:nvPr/>
        </p:nvSpPr>
        <p:spPr>
          <a:xfrm>
            <a:off x="6821424" y="4087368"/>
            <a:ext cx="4529023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IAM.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Duas roles — cluster e nós — com as quatro managed policies que o EKS exige.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583680" y="5093208"/>
            <a:ext cx="91440" cy="91440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14" name="Text 11"/>
          <p:cNvSpPr/>
          <p:nvPr/>
        </p:nvSpPr>
        <p:spPr>
          <a:xfrm>
            <a:off x="6821424" y="4974336"/>
            <a:ext cx="4529023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Computação.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EKS 1.33, node group gerenciado de 2 a 3 nós t3.small.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583680" y="5769864"/>
            <a:ext cx="91440" cy="91440"/>
          </a:xfrm>
          <a:prstGeom prst="rect">
            <a:avLst/>
          </a:prstGeom>
          <a:solidFill>
            <a:srgbClr val="C46B2E"/>
          </a:solidFill>
          <a:ln/>
        </p:spPr>
      </p:sp>
      <p:sp>
        <p:nvSpPr>
          <p:cNvPr id="16" name="Text 13"/>
          <p:cNvSpPr/>
          <p:nvPr/>
        </p:nvSpPr>
        <p:spPr>
          <a:xfrm>
            <a:off x="6821424" y="5650992"/>
            <a:ext cx="4529023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Exposição.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Service type LoadBalancer: o cloud controller do EKS provisiona um ELB e devolve o hostname público.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22960" y="6199632"/>
            <a:ext cx="10545775" cy="10973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18" name="Text 15"/>
          <p:cNvSpPr/>
          <p:nvPr/>
        </p:nvSpPr>
        <p:spPr>
          <a:xfrm>
            <a:off x="10820095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566928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backend de state do Terraform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822960" y="1572768"/>
            <a:ext cx="1005840" cy="41148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783080"/>
            <a:ext cx="86475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Terraform registra num arquivo — o state — tudo que já provisionou. É por ele que a ferramenta sabe o que existe e o que falta criar. Guardamos esse arquivo num bucket S3, com trava no DynamoDB. Mas quem cria o bucket?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3063240"/>
            <a:ext cx="3271418" cy="36576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227832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É FEITO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22960" y="3483864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S3 versionado, trava no DynamoDB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4069080"/>
            <a:ext cx="327141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state vive num bucket S3 versionado e criptografado. A trava no DynamoDB impede que dois apply simultâneos corrompam o registro.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60138" y="3063240"/>
            <a:ext cx="3271418" cy="36576"/>
          </a:xfrm>
          <a:prstGeom prst="rect">
            <a:avLst/>
          </a:prstGeom>
          <a:solidFill>
            <a:srgbClr val="C46B2E"/>
          </a:solidFill>
          <a:ln/>
        </p:spPr>
      </p:sp>
      <p:sp>
        <p:nvSpPr>
          <p:cNvPr id="11" name="Text 8"/>
          <p:cNvSpPr/>
          <p:nvPr/>
        </p:nvSpPr>
        <p:spPr>
          <a:xfrm>
            <a:off x="4460138" y="3227832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IMPASSE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460138" y="3483864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 não cria o próprio backend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460138" y="4069080"/>
            <a:ext cx="327141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primeiro apply — o que criaria o bucket — não teria onde guardar o próprio state. Em disco não serve: o runner do CI é efêmero e leva o arquivo embora.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97317" y="3063240"/>
            <a:ext cx="3271418" cy="36576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15" name="Text 12"/>
          <p:cNvSpPr/>
          <p:nvPr/>
        </p:nvSpPr>
        <p:spPr>
          <a:xfrm>
            <a:off x="8097317" y="3227832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SAÍDA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097317" y="3483864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script sem estado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097317" y="4069080"/>
            <a:ext cx="327141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Bucket e tabela são criados por um script de AWS CLI idempotente. Sem state para perder, ele converge sempre no mesmo lugar — e roda dez vezes sem susto.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1703070" y="5440680"/>
            <a:ext cx="2033626" cy="384048"/>
          </a:xfrm>
          <a:prstGeom prst="rect">
            <a:avLst/>
          </a:prstGeom>
          <a:solidFill>
            <a:srgbClr val="F5F2ED"/>
          </a:solidFill>
          <a:ln w="19050">
            <a:solidFill>
              <a:srgbClr val="C46B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703070" y="5440680"/>
            <a:ext cx="203362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bootstrap.sh (AWS CLI)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736696" y="5440680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065880" y="5440680"/>
            <a:ext cx="2558491" cy="384048"/>
          </a:xfrm>
          <a:prstGeom prst="rect">
            <a:avLst/>
          </a:prstGeom>
          <a:solidFill>
            <a:srgbClr val="F5F2ED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65880" y="5440680"/>
            <a:ext cx="255849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versionado + DynamoDB lock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624371" y="5440680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953555" y="5440680"/>
            <a:ext cx="1433779" cy="384048"/>
          </a:xfrm>
          <a:prstGeom prst="rect">
            <a:avLst/>
          </a:prstGeom>
          <a:solidFill>
            <a:srgbClr val="F5F2ED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53555" y="5440680"/>
            <a:ext cx="143377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387334" y="5440680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716518" y="5440680"/>
            <a:ext cx="683971" cy="384048"/>
          </a:xfrm>
          <a:prstGeom prst="rect">
            <a:avLst/>
          </a:prstGeom>
          <a:solidFill>
            <a:srgbClr val="F5F2ED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716518" y="5440680"/>
            <a:ext cx="68397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9400489" y="5440680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9729673" y="5440680"/>
            <a:ext cx="758952" cy="384048"/>
          </a:xfrm>
          <a:prstGeom prst="rect">
            <a:avLst/>
          </a:prstGeom>
          <a:solidFill>
            <a:srgbClr val="F5F2ED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729673" y="5440680"/>
            <a:ext cx="758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22960" y="5870448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 cinco passos são jobs do mesmo workflow: o bootstrap é o job 1, e roda antes do plan.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22960" y="6199632"/>
            <a:ext cx="10545775" cy="10973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34" name="Text 31"/>
          <p:cNvSpPr/>
          <p:nvPr/>
        </p:nvSpPr>
        <p:spPr>
          <a:xfrm>
            <a:off x="10820095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566928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commit ao cluster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822960" y="1572768"/>
            <a:ext cx="1005840" cy="41148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783080"/>
            <a:ext cx="86475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Duas esteiras no mesmo repositório: uma entrega a aplicação, a outra a infraestrutura.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2267712"/>
            <a:ext cx="105457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APLICAÇÃO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039569" y="2514600"/>
            <a:ext cx="683971" cy="384048"/>
          </a:xfrm>
          <a:prstGeom prst="rect">
            <a:avLst/>
          </a:prstGeom>
          <a:solidFill>
            <a:srgbClr val="F5F2ED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39569" y="2514600"/>
            <a:ext cx="68397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723540" y="2514600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052724" y="2514600"/>
            <a:ext cx="833933" cy="384048"/>
          </a:xfrm>
          <a:prstGeom prst="rect">
            <a:avLst/>
          </a:prstGeom>
          <a:solidFill>
            <a:srgbClr val="F5F2ED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52724" y="2514600"/>
            <a:ext cx="83393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886657" y="2514600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15841" y="2514600"/>
            <a:ext cx="833933" cy="384048"/>
          </a:xfrm>
          <a:prstGeom prst="rect">
            <a:avLst/>
          </a:prstGeom>
          <a:solidFill>
            <a:srgbClr val="F5F2ED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15841" y="2514600"/>
            <a:ext cx="83393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JaCoCo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049774" y="2514600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378958" y="2514600"/>
            <a:ext cx="758952" cy="384048"/>
          </a:xfrm>
          <a:prstGeom prst="rect">
            <a:avLst/>
          </a:prstGeom>
          <a:solidFill>
            <a:srgbClr val="F5F2ED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78958" y="2514600"/>
            <a:ext cx="758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OWASP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137910" y="2514600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67094" y="2514600"/>
            <a:ext cx="758952" cy="384048"/>
          </a:xfrm>
          <a:prstGeom prst="rect">
            <a:avLst/>
          </a:prstGeom>
          <a:solidFill>
            <a:srgbClr val="F5F2ED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67094" y="2514600"/>
            <a:ext cx="758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Sonar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226046" y="2514600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555230" y="2514600"/>
            <a:ext cx="1433779" cy="384048"/>
          </a:xfrm>
          <a:prstGeom prst="rect">
            <a:avLst/>
          </a:prstGeom>
          <a:solidFill>
            <a:srgbClr val="F5F2ED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55230" y="2514600"/>
            <a:ext cx="143377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imagem no GHCR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989009" y="2514600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9318193" y="2514600"/>
            <a:ext cx="833933" cy="384048"/>
          </a:xfrm>
          <a:prstGeom prst="rect">
            <a:avLst/>
          </a:prstGeom>
          <a:solidFill>
            <a:srgbClr val="F5F2ED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318193" y="2514600"/>
            <a:ext cx="83393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22960" y="3090672"/>
            <a:ext cx="105457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INFRAESTRUTURA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109417" y="3337560"/>
            <a:ext cx="1733702" cy="384048"/>
          </a:xfrm>
          <a:prstGeom prst="rect">
            <a:avLst/>
          </a:prstGeom>
          <a:solidFill>
            <a:srgbClr val="F5F2ED"/>
          </a:solidFill>
          <a:ln w="19050">
            <a:solidFill>
              <a:srgbClr val="C46B2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109417" y="3337560"/>
            <a:ext cx="17337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bootstrap do state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843120" y="3337560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172304" y="3337560"/>
            <a:ext cx="683971" cy="384048"/>
          </a:xfrm>
          <a:prstGeom prst="rect">
            <a:avLst/>
          </a:prstGeom>
          <a:solidFill>
            <a:srgbClr val="F5F2ED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172304" y="3337560"/>
            <a:ext cx="68397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856275" y="3337560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185459" y="3337560"/>
            <a:ext cx="1808683" cy="384048"/>
          </a:xfrm>
          <a:prstGeom prst="rect">
            <a:avLst/>
          </a:prstGeom>
          <a:solidFill>
            <a:srgbClr val="F5F2ED"/>
          </a:solidFill>
          <a:ln w="19050">
            <a:solidFill>
              <a:srgbClr val="C46B2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85459" y="3337560"/>
            <a:ext cx="180868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revisão + aprovação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7994142" y="3337560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8323326" y="3337560"/>
            <a:ext cx="758952" cy="384048"/>
          </a:xfrm>
          <a:prstGeom prst="rect">
            <a:avLst/>
          </a:prstGeom>
          <a:solidFill>
            <a:srgbClr val="F5F2ED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323326" y="3337560"/>
            <a:ext cx="758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822960" y="4096512"/>
            <a:ext cx="3271418" cy="36576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40" name="Text 37"/>
          <p:cNvSpPr/>
          <p:nvPr/>
        </p:nvSpPr>
        <p:spPr>
          <a:xfrm>
            <a:off x="822960" y="4261104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AUTENTICAÇÃO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822960" y="4517136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OIDC, sem chave estática</a:t>
            </a:r>
            <a:endParaRPr lang="en-US" sz="1700" dirty="0"/>
          </a:p>
        </p:txBody>
      </p:sp>
      <p:sp>
        <p:nvSpPr>
          <p:cNvPr id="42" name="Text 39"/>
          <p:cNvSpPr/>
          <p:nvPr/>
        </p:nvSpPr>
        <p:spPr>
          <a:xfrm>
            <a:off x="822960" y="5102352"/>
            <a:ext cx="32714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GitHub troca um token de curta duração por uma role que só este repositório consegue assumir. Nenhuma credencial de longa duração para vazar ou rotacionar.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4460138" y="4096512"/>
            <a:ext cx="3271418" cy="36576"/>
          </a:xfrm>
          <a:prstGeom prst="rect">
            <a:avLst/>
          </a:prstGeom>
          <a:solidFill>
            <a:srgbClr val="C46B2E"/>
          </a:solidFill>
          <a:ln/>
        </p:spPr>
      </p:sp>
      <p:sp>
        <p:nvSpPr>
          <p:cNvPr id="44" name="Text 41"/>
          <p:cNvSpPr/>
          <p:nvPr/>
        </p:nvSpPr>
        <p:spPr>
          <a:xfrm>
            <a:off x="4460138" y="4261104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CONTROLE DE MUDANÇA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4460138" y="4517136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plan é revisado antes do apply</a:t>
            </a:r>
            <a:endParaRPr lang="en-US" sz="1700" dirty="0"/>
          </a:p>
        </p:txBody>
      </p:sp>
      <p:sp>
        <p:nvSpPr>
          <p:cNvPr id="46" name="Text 43"/>
          <p:cNvSpPr/>
          <p:nvPr/>
        </p:nvSpPr>
        <p:spPr>
          <a:xfrm>
            <a:off x="4460138" y="5102352"/>
            <a:ext cx="32714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plan vira artefato e a esteira para num Environment com required reviewers. Separa quem propõe de quem aplica — e o apply usa exatamente o plano revisado.</a:t>
            </a:r>
            <a:endParaRPr lang="en-US" sz="1250" dirty="0"/>
          </a:p>
        </p:txBody>
      </p:sp>
      <p:sp>
        <p:nvSpPr>
          <p:cNvPr id="47" name="Shape 44"/>
          <p:cNvSpPr/>
          <p:nvPr/>
        </p:nvSpPr>
        <p:spPr>
          <a:xfrm>
            <a:off x="8097317" y="4096512"/>
            <a:ext cx="3271418" cy="36576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48" name="Text 45"/>
          <p:cNvSpPr/>
          <p:nvPr/>
        </p:nvSpPr>
        <p:spPr>
          <a:xfrm>
            <a:off x="8097317" y="4261104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RASTREABILIDADE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8097317" y="4517136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imagem carrega o SHA do commit</a:t>
            </a:r>
            <a:endParaRPr lang="en-US" sz="1700" dirty="0"/>
          </a:p>
        </p:txBody>
      </p:sp>
      <p:sp>
        <p:nvSpPr>
          <p:cNvPr id="50" name="Text 47"/>
          <p:cNvSpPr/>
          <p:nvPr/>
        </p:nvSpPr>
        <p:spPr>
          <a:xfrm>
            <a:off x="8097317" y="5102352"/>
            <a:ext cx="32714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tag da imagem é o hash do commit. O que roda no cluster é rastreável até a linha de código que o gerou.</a:t>
            </a:r>
            <a:endParaRPr lang="en-US" sz="1250" dirty="0"/>
          </a:p>
        </p:txBody>
      </p:sp>
      <p:sp>
        <p:nvSpPr>
          <p:cNvPr id="51" name="Shape 48"/>
          <p:cNvSpPr/>
          <p:nvPr/>
        </p:nvSpPr>
        <p:spPr>
          <a:xfrm>
            <a:off x="822960" y="6199632"/>
            <a:ext cx="10545775" cy="10973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52" name="Text 49"/>
          <p:cNvSpPr/>
          <p:nvPr/>
        </p:nvSpPr>
        <p:spPr>
          <a:xfrm>
            <a:off x="10820095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566928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entregamos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822960" y="1572768"/>
            <a:ext cx="1005840" cy="41148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783080"/>
            <a:ext cx="86475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 regra de negócio ao cluster em nuvem — e os conceitos das aulas que cada etapa exercita.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651760"/>
            <a:ext cx="3271418" cy="36576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816352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APLICAÇÃO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22960" y="3072384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arquitetura sustentou a evolução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327141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três regras novas entraram sem tocar em infraestrutura. É o teste que a Clean Architecture precisa passar — e passou.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60138" y="2651760"/>
            <a:ext cx="3271418" cy="36576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11" name="Text 8"/>
          <p:cNvSpPr/>
          <p:nvPr/>
        </p:nvSpPr>
        <p:spPr>
          <a:xfrm>
            <a:off x="4460138" y="2816352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INFRAESTRUTURA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460138" y="3072384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container à nuvem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460138" y="3657600"/>
            <a:ext cx="327141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Imagem multi-stage, Kubernetes com probes e escalabilidade automática, e Terraform provisionando VPC, EKS e RDS do zero.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97317" y="2651760"/>
            <a:ext cx="3271418" cy="36576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15" name="Text 12"/>
          <p:cNvSpPr/>
          <p:nvPr/>
        </p:nvSpPr>
        <p:spPr>
          <a:xfrm>
            <a:off x="8097317" y="2816352"/>
            <a:ext cx="32714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AUTOMAÇÃO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097317" y="3072384"/>
            <a:ext cx="32714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esteira liga as duas pontas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097317" y="3657600"/>
            <a:ext cx="327141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commit ao cluster: quality gates a cada push, autenticação federada por OIDC e controle de mudança na infraestrutura.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" y="5129784"/>
            <a:ext cx="100584" cy="100584"/>
          </a:xfrm>
          <a:prstGeom prst="rect">
            <a:avLst/>
          </a:prstGeom>
          <a:solidFill>
            <a:srgbClr val="C46B2E"/>
          </a:solidFill>
          <a:ln/>
        </p:spPr>
      </p:sp>
      <p:sp>
        <p:nvSpPr>
          <p:cNvPr id="19" name="Text 16"/>
          <p:cNvSpPr/>
          <p:nvPr/>
        </p:nvSpPr>
        <p:spPr>
          <a:xfrm>
            <a:off x="1097280" y="4983480"/>
            <a:ext cx="102257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Conceitos exercitados: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Clean Architecture e DDD · containerização · orquestração e escalabilidade · infraestrutura como código · CI/CD e cultura DevOps.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22960" y="6199632"/>
            <a:ext cx="10545775" cy="10973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21" name="Text 18"/>
          <p:cNvSpPr/>
          <p:nvPr/>
        </p:nvSpPr>
        <p:spPr>
          <a:xfrm>
            <a:off x="10820095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22960" y="566928"/>
            <a:ext cx="1417320" cy="292608"/>
          </a:xfrm>
          <a:prstGeom prst="rect">
            <a:avLst/>
          </a:prstGeom>
          <a:solidFill>
            <a:srgbClr val="C46B2E"/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56692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5F2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" y="100584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aplicação, rodando no EKS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2103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88720" y="2103120"/>
            <a:ext cx="1008857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→ JWT. Access de 15 minutos, refresh de 7 dias com rotação e detecção de reúso.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88720" y="2651760"/>
            <a:ext cx="1008857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Cadastrar cliente (CPF com dígito verificador real) e veículo (placa Mercosul).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3200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88720" y="3200400"/>
            <a:ext cx="1008857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Abrir a OS e iniciar o diagnóstico.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3749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88720" y="3749040"/>
            <a:ext cx="1008857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Adicionar serviço (snapshot de preço) e peça — e ver o estoque cair na hora.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88720" y="4297680"/>
            <a:ext cx="1008857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Gerar o orçamento. A API dispara o e-mail para o cliente, com o token de aprovação.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2960" y="4846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88720" y="4846320"/>
            <a:ext cx="1008857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Aprovar internamente, com JWT: o caminho do funcionário. Concluir e entregar.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22960" y="5394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88720" y="5394960"/>
            <a:ext cx="1008857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Numa OS nova: o cliente aprova pelo token do e-mail, no endpoint público, sem login.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22960" y="5870448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E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= ELB público do cluster EKS  ·  roteiro completo em docs/demo.http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22960" y="6199632"/>
            <a:ext cx="10545775" cy="10973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22" name="Text 19"/>
          <p:cNvSpPr/>
          <p:nvPr/>
        </p:nvSpPr>
        <p:spPr>
          <a:xfrm>
            <a:off x="10820095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22960" y="566928"/>
            <a:ext cx="1417320" cy="292608"/>
          </a:xfrm>
          <a:prstGeom prst="rect">
            <a:avLst/>
          </a:prstGeom>
          <a:solidFill>
            <a:srgbClr val="C46B2E"/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56692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5F2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" y="100584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mesmos manifestos, dois clusters — e o HPA reagindo à carga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2103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88720" y="2103120"/>
            <a:ext cx="1008857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kind: um terraform apply cria o cluster, constrói a imagem e sobe tudo. Custo zero.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5968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88720" y="2596896"/>
            <a:ext cx="1008857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AWS: o mesmo Terraform provisiona VPC, EKS e RDS — e o ELB que a demo anterior usou.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3090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88720" y="3090672"/>
            <a:ext cx="1008857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kubectl get pods nos dois clusters: os manifestos são exatamente os mesmos.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35844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88720" y="3584448"/>
            <a:ext cx="1008857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Tela dividida: o HPA de um lado, o k6 gerando carga do outro.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40782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88720" y="4078224"/>
            <a:ext cx="1008857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Subir a carga e acompanhar o HPA — de &lt;unknown&gt; ao percentual real, passando de 70%.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2960" y="4572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6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88720" y="4572000"/>
            <a:ext cx="1008857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réplicas sobem: 2, 4, 6, 8. Oito é o teto que definimos no manifesto.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22960" y="6199632"/>
            <a:ext cx="10545775" cy="10973"/>
          </a:xfrm>
          <a:prstGeom prst="rect">
            <a:avLst/>
          </a:prstGeom>
          <a:solidFill>
            <a:srgbClr val="D8D3CA"/>
          </a:solidFill>
          <a:ln/>
        </p:spPr>
      </p:sp>
      <p:sp>
        <p:nvSpPr>
          <p:cNvPr id="19" name="Text 16"/>
          <p:cNvSpPr/>
          <p:nvPr/>
        </p:nvSpPr>
        <p:spPr>
          <a:xfrm>
            <a:off x="10820095" y="6309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22960" y="1737360"/>
            <a:ext cx="1463040" cy="54864"/>
          </a:xfrm>
          <a:prstGeom prst="rect">
            <a:avLst/>
          </a:prstGeom>
          <a:solidFill>
            <a:srgbClr val="C46B2E"/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196596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822960" y="3191256"/>
            <a:ext cx="91440" cy="91440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6" name="Text 3"/>
          <p:cNvSpPr/>
          <p:nvPr/>
        </p:nvSpPr>
        <p:spPr>
          <a:xfrm>
            <a:off x="1078992" y="3063240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Regras novas sem tocar em infraestrutura.</a:t>
            </a:r>
            <a:pPr indent="0" marL="0">
              <a:buNone/>
            </a:pPr>
            <a:r>
              <a:rPr lang="en-US" sz="14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 arquitetura aguentou.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3648456"/>
            <a:ext cx="91440" cy="91440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8" name="Text 5"/>
          <p:cNvSpPr/>
          <p:nvPr/>
        </p:nvSpPr>
        <p:spPr>
          <a:xfrm>
            <a:off x="1078992" y="3520440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Infraestrutura declarada e versionada.</a:t>
            </a:r>
            <a:pPr indent="0" marL="0">
              <a:buNone/>
            </a:pPr>
            <a:r>
              <a:rPr lang="en-US" sz="14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 destruível com um clique.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4105656"/>
            <a:ext cx="91440" cy="91440"/>
          </a:xfrm>
          <a:prstGeom prst="rect">
            <a:avLst/>
          </a:prstGeom>
          <a:solidFill>
            <a:srgbClr val="1E6E63"/>
          </a:solidFill>
          <a:ln/>
        </p:spPr>
      </p:sp>
      <p:sp>
        <p:nvSpPr>
          <p:cNvPr id="10" name="Text 7"/>
          <p:cNvSpPr/>
          <p:nvPr/>
        </p:nvSpPr>
        <p:spPr>
          <a:xfrm>
            <a:off x="1078992" y="3977640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esteira inteira.</a:t>
            </a:r>
            <a:pPr indent="0" marL="0">
              <a:buNone/>
            </a:pPr>
            <a:r>
              <a:rPr lang="en-US" sz="1400" dirty="0">
                <a:solidFill>
                  <a:srgbClr val="767E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Do commit ao cluster.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5029200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E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Danilo Canato          Guilherme Fumagali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Oficina Mecânica API — Tech Challenge Fase 2</dc:title>
  <dc:subject>PptxGenJS Presentation</dc:subject>
  <dc:creator>Danilo Canato · Guilherme Fumagali</dc:creator>
  <cp:lastModifiedBy>Danilo Canato · Guilherme Fumagali</cp:lastModifiedBy>
  <cp:revision>1</cp:revision>
  <dcterms:created xsi:type="dcterms:W3CDTF">2026-07-14T19:03:20Z</dcterms:created>
  <dcterms:modified xsi:type="dcterms:W3CDTF">2026-07-14T19:03:20Z</dcterms:modified>
</cp:coreProperties>
</file>