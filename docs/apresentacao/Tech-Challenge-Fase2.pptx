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tarde. Somos o Danilo e o Guilherme, e este é o Tech Challenge da Fase 2: a API de gestão de uma oficina mecânica de médio porte.
Na Fase 1 entregamos o MVP em Clean Architecture. A Fase 2 pediu duas coisas: evoluir as regras de negócio e entregar a cadeia de infraestrutura inteira — container, Kubernetes, Terraform e CI/CD.
É isso que vamos mostrar. E vamos mostrar rodando.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entregas. Três regras novas de domínio; a aplicação containerizada; um cluster Kubernetes com escalabilidade automática; a infraestrutura descrita em Terraform; e uma esteira de CI/CD que vai do commit ao deploy.
Eu cubro a aplicação, o Guilherme cobre a infraestrutura. Cada um com uma demo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primeira regra: a listagem de OS é ordenada por prioridade de negócio, não por data. Dentro do mesmo status, as mais antigas primeiro — quem esperou mais aparece antes.
Segunda: OS Finalizada e Entregue somem da listagem. Exclusão lógica — o registro fica no banco para o relatório de tempo médio, só não polui a fila de quem está no balcão.
Terceira, e a mais interessante: aprovação externa por token. Ao gerar o orçamento, a OS ganha um token único, de uso único e com expiração, e o cliente recebe um e-mail de verdade. Ele aprova sem ter login — o endpoint é público, mas só aceita aquele token, para aquela OS, uma vez só.
E reprovar não é só mudar status: estorna o estoque das peças já baixadas.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arquitetura não mudou — e esse é o ponto: as três regras novas entraram sem tocar em infraestrutura.
O domínio é Java puro, zero Spring. A aplicação orquestra os casos de uso. A infraestrutura tem Spring, JPA, REST, Security.
O e-mail é o exemplo mais claro. No Context Map, a notificação é um sistema externo, e a fronteira é um Anti-Corruption Layer: uma porta de saída escrita na linguagem do negócio. Dois adaptadores a implementam — um que só loga, outro que manda SMTP — e a escolha é uma property, não uma decisão de código.
Na Fase 1 o canal ficou como Hot Spot em aberto porque o negócio ainda não tinha decidido. Na Fase 2 plugamos o SMTP: nenhuma regra de negócio mudou, só apareceu um adaptador novo. É o ACL fazendo o trabalho dele.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1 — 2:30. É o trecho mais fácil de estourar: ensaie.
Deixe cliente e veículo já criados ANTES de gravar.
Ao adicionar a peça, repare no estoque caindo — decremento atômico, ACID, sem race condition.
No MailHog: "isto é o que o cliente recebe".
No aprovar-externo: "sem login, só o token".
Repita o POST para mostrar que o token já queimou.
Se o tempo apertar, corte o passo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imagem é um Dockerfile multi-stage: o primeiro estágio compila com Maven, o segundo carrega só o JRE e o JAR.
O que vai pra produção não tem Maven, não tem código-fonte, não tem cache de build — e roda como usuário não-root, com healthcheck.
Para o dia a dia, um docker compose up sobe API, Postgres e MailHog.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namespace só: Postgres, MailHog e a API.
A API tem readiness e liveness separadas — a readiness segura o tráfego até o Spring subir, a liveness reinicia o pod travado.
Requests e limits de CPU e memória. E é por isso que o autoscaling funciona: sem requests, o HPA não tem denominador e não calcula porcentagem nenhuma.
HPA de 2 a 8 réplicas, mirando 70% de CPU e 80% de memória.
Os secret.yaml versionados têm só REPLACE_ME — os valores reais são renderizados pelo Terraform. Nunca há segredo commitado.
E o metrics-server precisou ser adicionado à mão: nem o kind nem o EKS o trazem, e sem ele o HPA lê &lt;unknown&gt; para sempre.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cenários, os mesmos manifestos.
O local sobe um cluster kind, com Postgres dentro do cluster. Custo zero — é o que vou mostrar daqui a pouco.
O da AWS provisiona tudo do zero: VPC, subnets, Internet Gateway, IAM, o cluster EKS e um PostgreSQL gerenciado no RDS.
A diferença entre os dois é só onde está o banco e de onde vem a imagem. O resto é o mesmo YAML.
Escolhas de custo mínimo no cenário AWS: sem NAT Gateway, instâncias pequenas, single-AZ. É um ambiente efêmero — subir, gravar, destruir.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armadilha clássica que vale a pena contar.
O state do Terraform mora num bucket S3, com lock no DynamoDB. A pergunta é: quem cria o bucket?
Se for o próprio Terraform, o primeiro apply — o que cria o bucket — ainda não tem bucket onde guardar o state. Ele ficaria em disco. E state em disco morre junto com o runner do CI: na execução seguinte, o Terraform esqueceria que o bucket existe e tentaria criá-lo de novo.
A causa é tratar um pré-requisito como se fosse um recurso. Então o bucket e a tabela são criados por um script de AWS CLI idempotente, que não tem state nenhum: pode rodar dez vezes, converge sempre no mesmo lugar. E aí ele roda tranquilo num runner efêmero.
O Terraform continua dono de tudo que o desafio pede. Só a prateleira onde ele guarda o próprio state é que fica de fora.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cada push: build, testes unitários e de integração com Testcontainers, cobertura no JaCoCo, OWASP Dependency-Check e o quality gate do SonarCloud. Passando, a imagem é construída, publicada no GHCR, e o deploy vai pro cluster.
Duas decisões que valem a menção.
Primeira: o Actions se autentica na AWS via OIDC. Não existe access key estática guardada em secret. O GitHub troca um token de curta duração por uma role que só este repositório consegue assumir.
Segunda: tudo que cobra dinheiro — o apply, o destroy — passa por um GitHub Environment com aprovação manual obrigatória. A pipeline para e espera um humano.
Depois de um único passo local — criar essa primeira credencial, que é impossível de automatizar, porque para criar a primeira credencial você já precisaria de uma — todo o resto é um clique no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2 — 2:30. O HPA é a estrela: reserve tempo pra ele.
Se o cluster já estiver criado, mostre o apply retornando sem mudanças e comente que a criação do zero leva uns 4 minutos, por causa do docker build.
Tela dividida: kubectl get hpa -w de um lado, k6 do outro.
Narre o HPA acordando: &lt;unknown&gt; → percentual real → passa de 70% → as réplicas sobem.
Feche assim: "oito réplicas, o teto que definimos. Quando a carga cair, ele volta a duas sozinho — com um atraso proposital, pra não ficar batendo pra cima e pra baixo."
NÃO corte esta demo. Autoscaling ao vivo é requisito explícito do enunciado.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GUILHERME: Na esteira, a cada push: quality gate do SonarCloud, cobertura pelo JaCoCo e OWASP Dependency-Check. Quatro CVEs seguem suprimidas com justificativa — são de Tomcat e Spring Security, e ainda não existe patch publicado pelos mantenedores. Estão documentadas, com data, e reavaliadas a cada fase.
DANILO: E três débitos da Fase 1 foram quitados: o MapStruct que estava declarado e nunca foi usado saiu do projeto; o construtor de nove parâmetros virou um record; e o stub de notificação virou SMTP de verdade.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Regras novas sem tocar em infraestrutura, porque a arquitetura aguentou. Infraestrutura declarada, versionada e destruível com um clique. E a esteira inteira, do commit ao cluster.
Obrigado.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22960" y="1737360"/>
            <a:ext cx="1463040" cy="54864"/>
          </a:xfrm>
          <a:prstGeom prst="rect">
            <a:avLst/>
          </a:prstGeom>
          <a:solidFill>
            <a:srgbClr val="C46B2E"/>
          </a:solidFill>
          <a:ln/>
        </p:spPr>
      </p:sp>
      <p:sp>
        <p:nvSpPr>
          <p:cNvPr id="4" name="Text 1"/>
          <p:cNvSpPr/>
          <p:nvPr/>
        </p:nvSpPr>
        <p:spPr>
          <a:xfrm>
            <a:off x="822960" y="1965960"/>
            <a:ext cx="1054577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Oficina Mecânica API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822960" y="3017520"/>
            <a:ext cx="7382043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Gestão de ordens de serviço para uma oficina de médio porte.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 regra de negócio ao cluster, com a esteira inteira no meio.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4206240"/>
            <a:ext cx="105457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Danilo Canato          Guilherme Fumagali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22960" y="4572000"/>
            <a:ext cx="105457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Challenge · Fase 2 · PosTech FIAP — Arquitetura de Software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a Fase 2 pediu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22960" y="1572768"/>
            <a:ext cx="1005840" cy="41148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783080"/>
            <a:ext cx="822570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Cinco entregas. As duas primeiras são minhas; as três últimas, do Guilherme.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2843784"/>
            <a:ext cx="100584" cy="100584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7" name="Text 4"/>
          <p:cNvSpPr/>
          <p:nvPr/>
        </p:nvSpPr>
        <p:spPr>
          <a:xfrm>
            <a:off x="1097280" y="2697480"/>
            <a:ext cx="10225735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Novas regras de negócio.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Priorização da fila, exclusão lógica e aprovação externa por token.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22960" y="3648456"/>
            <a:ext cx="100584" cy="100584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3502152"/>
            <a:ext cx="10225735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aplicação containerizada.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Imagem enxuta, sem ferramenta de build e sem root.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22960" y="4453128"/>
            <a:ext cx="100584" cy="100584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11" name="Text 8"/>
          <p:cNvSpPr/>
          <p:nvPr/>
        </p:nvSpPr>
        <p:spPr>
          <a:xfrm>
            <a:off x="1097280" y="4306824"/>
            <a:ext cx="10225735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Kubernetes com escalabilidade automática.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Probes, requests e limits, e um HPA que reage à carga de verdade.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22960" y="5257800"/>
            <a:ext cx="100584" cy="100584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13" name="Text 10"/>
          <p:cNvSpPr/>
          <p:nvPr/>
        </p:nvSpPr>
        <p:spPr>
          <a:xfrm>
            <a:off x="1097280" y="5111496"/>
            <a:ext cx="10225735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infraestrutura descrita em Terraform.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Dois cenários: um cluster local e um na nuvem.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22960" y="6062472"/>
            <a:ext cx="100584" cy="100584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15" name="Text 12"/>
          <p:cNvSpPr/>
          <p:nvPr/>
        </p:nvSpPr>
        <p:spPr>
          <a:xfrm>
            <a:off x="1097280" y="5916168"/>
            <a:ext cx="10225735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Uma esteira que vai do commit ao cluster.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Testes, segurança, imagem publicada e deploy.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822960" y="6199632"/>
            <a:ext cx="10545775" cy="10973"/>
          </a:xfrm>
          <a:prstGeom prst="rect">
            <a:avLst/>
          </a:prstGeom>
          <a:solidFill>
            <a:srgbClr val="D8D3CA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630936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6E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Danilo</a:t>
            </a:r>
            <a:pPr indent="0" marL="0">
              <a:buNone/>
            </a:pPr>
            <a:r>
              <a:rPr lang="en-US" sz="1000" dirty="0">
                <a:solidFill>
                  <a:srgbClr val="D8D3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Escopo</a:t>
            </a:r>
            <a:pPr indent="0" marL="0">
              <a:buNone/>
            </a:pPr>
            <a:r>
              <a:rPr lang="en-US" sz="1000" dirty="0">
                <a:solidFill>
                  <a:srgbClr val="D8D3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0:40 → 1:20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820095" y="63093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Três regras novas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22960" y="1572768"/>
            <a:ext cx="1005840" cy="41148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783080"/>
            <a:ext cx="822570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Todas nascem da mesma pergunta: o que a pessoa no balcão precisa ver primeiro?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2660904"/>
            <a:ext cx="100584" cy="100584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7" name="Text 4"/>
          <p:cNvSpPr/>
          <p:nvPr/>
        </p:nvSpPr>
        <p:spPr>
          <a:xfrm>
            <a:off x="1097280" y="2514600"/>
            <a:ext cx="10225735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fila é ordenada por prioridade, não por data.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Em Execução vem antes de Aguardando Aprovação, que vem antes de Em Diagnóstico. No mesmo status, quem esperou mais aparece antes.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22960" y="3465576"/>
            <a:ext cx="100584" cy="100584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3319272"/>
            <a:ext cx="10225735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OS entregue some da fila, mas não do banco.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Exclusão lógica. O registro continua lá para o relatório de tempo médio — só para de poluir o trabalho de quem está atendendo.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22960" y="4270248"/>
            <a:ext cx="100584" cy="100584"/>
          </a:xfrm>
          <a:prstGeom prst="rect">
            <a:avLst/>
          </a:prstGeom>
          <a:solidFill>
            <a:srgbClr val="C46B2E"/>
          </a:solidFill>
          <a:ln/>
        </p:spPr>
      </p:sp>
      <p:sp>
        <p:nvSpPr>
          <p:cNvPr id="11" name="Text 8"/>
          <p:cNvSpPr/>
          <p:nvPr/>
        </p:nvSpPr>
        <p:spPr>
          <a:xfrm>
            <a:off x="1097280" y="4123944"/>
            <a:ext cx="10225735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cliente aprova o orçamento sem ter login.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Um token único por OS, de uso único e com prazo, entregue por e-mail. O endpoint é público, mas só aceita aquele token, para aquela OS, uma vez.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22960" y="5074920"/>
            <a:ext cx="100584" cy="100584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13" name="Text 10"/>
          <p:cNvSpPr/>
          <p:nvPr/>
        </p:nvSpPr>
        <p:spPr>
          <a:xfrm>
            <a:off x="1097280" y="4928616"/>
            <a:ext cx="1022573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Reprovar devolve as peças ao estoque.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Não é só uma troca de status: o que já tinha sido baixado volta.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458925" y="5623560"/>
            <a:ext cx="983894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458925" y="5623560"/>
            <a:ext cx="98389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Recebida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2442820" y="562356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2772004" y="5623560"/>
            <a:ext cx="1433779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772004" y="5623560"/>
            <a:ext cx="143377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 Diagnóstico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205783" y="562356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534967" y="5623560"/>
            <a:ext cx="1883664" cy="384048"/>
          </a:xfrm>
          <a:prstGeom prst="rect">
            <a:avLst/>
          </a:prstGeom>
          <a:solidFill>
            <a:srgbClr val="F5F2ED"/>
          </a:solidFill>
          <a:ln w="19050">
            <a:solidFill>
              <a:srgbClr val="C46B2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34967" y="5623560"/>
            <a:ext cx="18836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Aguardando Aprovação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418631" y="562356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747815" y="5623560"/>
            <a:ext cx="1208837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747815" y="5623560"/>
            <a:ext cx="120883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 Execução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7956652" y="562356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285836" y="5623560"/>
            <a:ext cx="1133856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285836" y="5623560"/>
            <a:ext cx="11338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Finalizada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9419692" y="562356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9748876" y="5623560"/>
            <a:ext cx="983894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748876" y="5623560"/>
            <a:ext cx="98389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Entregue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822960" y="6199632"/>
            <a:ext cx="10545775" cy="10973"/>
          </a:xfrm>
          <a:prstGeom prst="rect">
            <a:avLst/>
          </a:prstGeom>
          <a:solidFill>
            <a:srgbClr val="D8D3CA"/>
          </a:solidFill>
          <a:ln/>
        </p:spPr>
      </p:sp>
      <p:sp>
        <p:nvSpPr>
          <p:cNvPr id="32" name="Text 29"/>
          <p:cNvSpPr/>
          <p:nvPr/>
        </p:nvSpPr>
        <p:spPr>
          <a:xfrm>
            <a:off x="822960" y="630936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6E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Danilo</a:t>
            </a:r>
            <a:pPr indent="0" marL="0">
              <a:buNone/>
            </a:pPr>
            <a:r>
              <a:rPr lang="en-US" sz="1000" dirty="0">
                <a:solidFill>
                  <a:srgbClr val="D8D3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Domínio</a:t>
            </a:r>
            <a:pPr indent="0" marL="0">
              <a:buNone/>
            </a:pPr>
            <a:r>
              <a:rPr lang="en-US" sz="1000" dirty="0">
                <a:solidFill>
                  <a:srgbClr val="D8D3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1:20 → 2:40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10820095" y="63093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arquitetura aguentou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22960" y="1572768"/>
            <a:ext cx="1005840" cy="41148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783080"/>
            <a:ext cx="822570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 três regras novas entraram sem que uma linha de infraestrutura mudasse. É o teste que uma Clean Architecture precisa passar.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2743200"/>
            <a:ext cx="5486400" cy="2286000"/>
          </a:xfrm>
          <a:prstGeom prst="rect">
            <a:avLst/>
          </a:prstGeom>
          <a:solidFill>
            <a:srgbClr val="ECE8E1"/>
          </a:solidFill>
          <a:ln/>
        </p:spPr>
      </p:sp>
      <p:sp>
        <p:nvSpPr>
          <p:cNvPr id="7" name="Shape 4"/>
          <p:cNvSpPr/>
          <p:nvPr/>
        </p:nvSpPr>
        <p:spPr>
          <a:xfrm>
            <a:off x="822960" y="2743200"/>
            <a:ext cx="32004" cy="2286000"/>
          </a:xfrm>
          <a:prstGeom prst="rect">
            <a:avLst/>
          </a:prstGeom>
          <a:solidFill>
            <a:srgbClr val="C46B2E"/>
          </a:solidFill>
          <a:ln/>
        </p:spPr>
      </p:sp>
      <p:sp>
        <p:nvSpPr>
          <p:cNvPr id="8" name="Text 5"/>
          <p:cNvSpPr/>
          <p:nvPr/>
        </p:nvSpPr>
        <p:spPr>
          <a:xfrm>
            <a:off x="1078992" y="2907792"/>
            <a:ext cx="5029200" cy="1956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Application — a fronteira do ACL,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escrita na linguagem do negócio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interface NotificacaoService {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notificarOrcamentoPendente(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UUID osId, UUID clienteId,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BigDecimal valorTotal,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String tokenAprovacao);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675120" y="2743200"/>
            <a:ext cx="46936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 FASE 1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675120" y="2980944"/>
            <a:ext cx="46936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canal ficou em aberto de propósito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675120" y="3346704"/>
            <a:ext cx="46936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negócio ainda não tinha decidido entre e-mail, SMS ou push. Fixar um canal em código seria dívida técnica no dia zero — então construímos só a fronteira.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675120" y="4315968"/>
            <a:ext cx="469361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C46B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 FASE 2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6675120" y="4553712"/>
            <a:ext cx="46936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SMTP plugado, domínio intacto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675120" y="4919472"/>
            <a:ext cx="46936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Apareceu um adaptador novo. Nenhum caso de uso, nenhuma entidade e nenhuma regra de negócio foram alterados.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22960" y="6199632"/>
            <a:ext cx="10545775" cy="10973"/>
          </a:xfrm>
          <a:prstGeom prst="rect">
            <a:avLst/>
          </a:prstGeom>
          <a:solidFill>
            <a:srgbClr val="D8D3CA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630936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6E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Danilo</a:t>
            </a:r>
            <a:pPr indent="0" marL="0">
              <a:buNone/>
            </a:pPr>
            <a:r>
              <a:rPr lang="en-US" sz="1000" dirty="0">
                <a:solidFill>
                  <a:srgbClr val="D8D3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Arquitetura</a:t>
            </a:r>
            <a:pPr indent="0" marL="0">
              <a:buNone/>
            </a:pPr>
            <a:r>
              <a:rPr lang="en-US" sz="1000" dirty="0">
                <a:solidFill>
                  <a:srgbClr val="D8D3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2:40 → 3:50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0820095" y="63093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22960" y="566928"/>
            <a:ext cx="1417320" cy="292608"/>
          </a:xfrm>
          <a:prstGeom prst="rect">
            <a:avLst/>
          </a:prstGeom>
          <a:solidFill>
            <a:srgbClr val="C46B2E"/>
          </a:solidFill>
          <a:ln/>
        </p:spPr>
      </p:sp>
      <p:sp>
        <p:nvSpPr>
          <p:cNvPr id="4" name="Text 1"/>
          <p:cNvSpPr/>
          <p:nvPr/>
        </p:nvSpPr>
        <p:spPr>
          <a:xfrm>
            <a:off x="822960" y="566928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5F2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" y="100584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orçamento ao e-mail, e do e-mail à aprovação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22960" y="2057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188720" y="2057400"/>
            <a:ext cx="10088575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Login → JWT. As rotas administrativas exigem token.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26060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88720" y="2606040"/>
            <a:ext cx="10088575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Abrir a OS, iniciar o diagnóstico, adicionar um serviço e uma peça — e ver o estoque cair na hora.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3410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188720" y="3410712"/>
            <a:ext cx="10088575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Gerar o orçamento. O status vai para Aguardando Aprovação.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395935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188720" y="3959352"/>
            <a:ext cx="10088575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Abrir o MailHog: o e-mail chegou, com o token. É exatamente isto que o cliente recebe.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45079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88720" y="4507992"/>
            <a:ext cx="10088575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Aprovar pelo endpoint público, sem header de autenticação. Sem login. Só o token.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22960" y="5056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188720" y="5056632"/>
            <a:ext cx="10088575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Repetir o mesmo POST — e falhar. Uso único: o token já queimou.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822960" y="56052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188720" y="5605272"/>
            <a:ext cx="10088575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Listar as ordens e mostrar a fila ordenada por prioridade.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22960" y="6199632"/>
            <a:ext cx="10545775" cy="10973"/>
          </a:xfrm>
          <a:prstGeom prst="rect">
            <a:avLst/>
          </a:prstGeom>
          <a:solidFill>
            <a:srgbClr val="D8D3CA"/>
          </a:solidFill>
          <a:ln/>
        </p:spPr>
      </p:sp>
      <p:sp>
        <p:nvSpPr>
          <p:cNvPr id="21" name="Text 18"/>
          <p:cNvSpPr/>
          <p:nvPr/>
        </p:nvSpPr>
        <p:spPr>
          <a:xfrm>
            <a:off x="822960" y="630936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6E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Danilo</a:t>
            </a:r>
            <a:pPr indent="0" marL="0">
              <a:buNone/>
            </a:pPr>
            <a:r>
              <a:rPr lang="en-US" sz="1000" dirty="0">
                <a:solidFill>
                  <a:srgbClr val="D8D3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Ao vivo</a:t>
            </a:r>
            <a:pPr indent="0" marL="0">
              <a:buNone/>
            </a:pPr>
            <a:r>
              <a:rPr lang="en-US" sz="1000" dirty="0">
                <a:solidFill>
                  <a:srgbClr val="D8D3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3:50 → 6:20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10820095" y="63093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imagem carrega só o que roda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22960" y="1572768"/>
            <a:ext cx="1005840" cy="41148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783080"/>
            <a:ext cx="822570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Duas etapas: uma compila, a outra é a que vai pra produção.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2697480"/>
            <a:ext cx="6035040" cy="2514600"/>
          </a:xfrm>
          <a:prstGeom prst="rect">
            <a:avLst/>
          </a:prstGeom>
          <a:solidFill>
            <a:srgbClr val="ECE8E1"/>
          </a:solidFill>
          <a:ln/>
        </p:spPr>
      </p:sp>
      <p:sp>
        <p:nvSpPr>
          <p:cNvPr id="7" name="Shape 4"/>
          <p:cNvSpPr/>
          <p:nvPr/>
        </p:nvSpPr>
        <p:spPr>
          <a:xfrm>
            <a:off x="822960" y="2697480"/>
            <a:ext cx="32004" cy="2514600"/>
          </a:xfrm>
          <a:prstGeom prst="rect">
            <a:avLst/>
          </a:prstGeom>
          <a:solidFill>
            <a:srgbClr val="C46B2E"/>
          </a:solidFill>
          <a:ln/>
        </p:spPr>
      </p:sp>
      <p:sp>
        <p:nvSpPr>
          <p:cNvPr id="8" name="Text 5"/>
          <p:cNvSpPr/>
          <p:nvPr/>
        </p:nvSpPr>
        <p:spPr>
          <a:xfrm>
            <a:off x="1078992" y="2862072"/>
            <a:ext cx="5577840" cy="2185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etapa 1 — compila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maven:3.9-eclipse-temurin-21 AS builder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mvn package -DskipTests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etapa 2 — o que realmente vai pra produção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eclipse-temurin:21-jre-alpine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adduser -S spring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COPY --from=builder /app/target/*.jar app.jar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spring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HEALTHCHECK CMD wget -qO- /actuator/health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223760" y="2880360"/>
            <a:ext cx="91440" cy="91440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10" name="Text 7"/>
          <p:cNvSpPr/>
          <p:nvPr/>
        </p:nvSpPr>
        <p:spPr>
          <a:xfrm>
            <a:off x="7479792" y="2743200"/>
            <a:ext cx="38706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 Maven, sem fonte, sem cache.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 imagem final tem só o JRE e o JAR.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223760" y="3749040"/>
            <a:ext cx="91440" cy="91440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12" name="Text 9"/>
          <p:cNvSpPr/>
          <p:nvPr/>
        </p:nvSpPr>
        <p:spPr>
          <a:xfrm>
            <a:off x="7479792" y="3611880"/>
            <a:ext cx="38706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Usuário não-root.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E um healthcheck declarado no próprio container.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223760" y="4617720"/>
            <a:ext cx="91440" cy="91440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14" name="Text 11"/>
          <p:cNvSpPr/>
          <p:nvPr/>
        </p:nvSpPr>
        <p:spPr>
          <a:xfrm>
            <a:off x="7479792" y="4480560"/>
            <a:ext cx="38706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dia a dia é separado.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docker compose up sobe API, Postgres e MailHog.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22960" y="6199632"/>
            <a:ext cx="10545775" cy="10973"/>
          </a:xfrm>
          <a:prstGeom prst="rect">
            <a:avLst/>
          </a:prstGeom>
          <a:solidFill>
            <a:srgbClr val="D8D3CA"/>
          </a:solidFill>
          <a:ln/>
        </p:spPr>
      </p:sp>
      <p:sp>
        <p:nvSpPr>
          <p:cNvPr id="16" name="Text 13"/>
          <p:cNvSpPr/>
          <p:nvPr/>
        </p:nvSpPr>
        <p:spPr>
          <a:xfrm>
            <a:off x="822960" y="630936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6E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Guilherme</a:t>
            </a:r>
            <a:pPr indent="0" marL="0">
              <a:buNone/>
            </a:pPr>
            <a:r>
              <a:rPr lang="en-US" sz="1000" dirty="0">
                <a:solidFill>
                  <a:srgbClr val="D8D3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Container</a:t>
            </a:r>
            <a:pPr indent="0" marL="0">
              <a:buNone/>
            </a:pPr>
            <a:r>
              <a:rPr lang="en-US" sz="1000" dirty="0">
                <a:solidFill>
                  <a:srgbClr val="D8D3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6:20 → 7:00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0820095" y="63093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faz o autoscaling funcionar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22960" y="1572768"/>
            <a:ext cx="1005840" cy="41148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783080"/>
            <a:ext cx="822570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Não é o HPA sozinho. São três peças, e faltar uma delas quebra tudo em silêncio.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2514600"/>
            <a:ext cx="3271418" cy="36576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2679192"/>
            <a:ext cx="3271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RÉPLICAS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822960" y="2935224"/>
            <a:ext cx="327141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2 a 8, pela carga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22960" y="3520440"/>
            <a:ext cx="327141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HPA mira 70% de CPU e 80% de memória. Sobe quando aperta, desce quando alivia — com atraso proposital, para não oscilar.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460138" y="2514600"/>
            <a:ext cx="3271418" cy="36576"/>
          </a:xfrm>
          <a:prstGeom prst="rect">
            <a:avLst/>
          </a:prstGeom>
          <a:solidFill>
            <a:srgbClr val="C46B2E"/>
          </a:solidFill>
          <a:ln/>
        </p:spPr>
      </p:sp>
      <p:sp>
        <p:nvSpPr>
          <p:cNvPr id="11" name="Text 8"/>
          <p:cNvSpPr/>
          <p:nvPr/>
        </p:nvSpPr>
        <p:spPr>
          <a:xfrm>
            <a:off x="4460138" y="2679192"/>
            <a:ext cx="3271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PEÇA QUE TODO MUNDO ESQUECE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4460138" y="2935224"/>
            <a:ext cx="327141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 requests, não há conta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460138" y="3520440"/>
            <a:ext cx="327141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HPA calcula uso sobre o que o pod pediu. Sem requests declarados, ele não tem denominador — e simplesmente não escala.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97317" y="2514600"/>
            <a:ext cx="3271418" cy="36576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15" name="Text 12"/>
          <p:cNvSpPr/>
          <p:nvPr/>
        </p:nvSpPr>
        <p:spPr>
          <a:xfrm>
            <a:off x="8097317" y="2679192"/>
            <a:ext cx="327141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PROBES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097317" y="2935224"/>
            <a:ext cx="327141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segura, a outra cura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8097317" y="3520440"/>
            <a:ext cx="3271418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readiness segura o tráfego até o Spring terminar de subir. A liveness reinicia o pod que travou.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822960" y="4855464"/>
            <a:ext cx="100584" cy="100584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19" name="Text 16"/>
          <p:cNvSpPr/>
          <p:nvPr/>
        </p:nvSpPr>
        <p:spPr>
          <a:xfrm>
            <a:off x="1097280" y="4709160"/>
            <a:ext cx="1022573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metrics-server é responsabilidade nossa.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Nem o kind nem o EKS o trazem de fábrica. Sem ele, o HPA lê &lt;unknown&gt; para sempre e nunca escala.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22960" y="5568696"/>
            <a:ext cx="100584" cy="100584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21" name="Text 18"/>
          <p:cNvSpPr/>
          <p:nvPr/>
        </p:nvSpPr>
        <p:spPr>
          <a:xfrm>
            <a:off x="1097280" y="5422392"/>
            <a:ext cx="1022573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Nenhum segredo commitado.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Os secret.yaml do repositório têm só REPLACE_ME. Os valores reais são renderizados pelo Terraform, no apply.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822960" y="6199632"/>
            <a:ext cx="10545775" cy="10973"/>
          </a:xfrm>
          <a:prstGeom prst="rect">
            <a:avLst/>
          </a:prstGeom>
          <a:solidFill>
            <a:srgbClr val="D8D3CA"/>
          </a:solidFill>
          <a:ln/>
        </p:spPr>
      </p:sp>
      <p:sp>
        <p:nvSpPr>
          <p:cNvPr id="23" name="Text 20"/>
          <p:cNvSpPr/>
          <p:nvPr/>
        </p:nvSpPr>
        <p:spPr>
          <a:xfrm>
            <a:off x="822960" y="630936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6E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Guilherme</a:t>
            </a:r>
            <a:pPr indent="0" marL="0">
              <a:buNone/>
            </a:pPr>
            <a:r>
              <a:rPr lang="en-US" sz="1000" dirty="0">
                <a:solidFill>
                  <a:srgbClr val="D8D3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Kubernetes</a:t>
            </a:r>
            <a:pPr indent="0" marL="0">
              <a:buNone/>
            </a:pPr>
            <a:r>
              <a:rPr lang="en-US" sz="1000" dirty="0">
                <a:solidFill>
                  <a:srgbClr val="D8D3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7:00 → 8:10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0820095" y="63093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Dois ambientes, os mesmos manifestos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22960" y="1572768"/>
            <a:ext cx="1005840" cy="41148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783080"/>
            <a:ext cx="822570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YAML não sabe em que cluster está rodando. E isso é de propósito.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2788920"/>
            <a:ext cx="5090008" cy="36576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2953512"/>
            <a:ext cx="509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ENVIRONMENTS/LOCAL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822960" y="3209544"/>
            <a:ext cx="509000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cluster kind, custo zero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22960" y="3794760"/>
            <a:ext cx="50900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 único apply cria o cluster, constrói a imagem, injeta no nó e sobe tudo. O Postgres roda dentro do cluster. É o que vou mostrar daqui a pouco.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8728" y="2788920"/>
            <a:ext cx="5090008" cy="36576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11" name="Text 8"/>
          <p:cNvSpPr/>
          <p:nvPr/>
        </p:nvSpPr>
        <p:spPr>
          <a:xfrm>
            <a:off x="6278728" y="2953512"/>
            <a:ext cx="509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ENVIRONMENTS/AWS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278728" y="3209544"/>
            <a:ext cx="509000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EKS e RDS, do zero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278728" y="3794760"/>
            <a:ext cx="50900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VPC, subnets, Internet Gateway, IAM, o cluster e um PostgreSQL gerenciado. Sem NAT Gateway, instâncias pequenas, single-AZ: um ambiente efêmero, por decisão de custo.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2960" y="5266944"/>
            <a:ext cx="100584" cy="100584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15" name="Text 12"/>
          <p:cNvSpPr/>
          <p:nvPr/>
        </p:nvSpPr>
        <p:spPr>
          <a:xfrm>
            <a:off x="1097280" y="5120640"/>
            <a:ext cx="10225735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diferença é só o banco e a origem da imagem.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Namespace, probes, HPA, metrics-server — é exatamente o mesmo YAML nos dois clusters.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822960" y="6199632"/>
            <a:ext cx="10545775" cy="10973"/>
          </a:xfrm>
          <a:prstGeom prst="rect">
            <a:avLst/>
          </a:prstGeom>
          <a:solidFill>
            <a:srgbClr val="D8D3CA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630936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6E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Guilherme</a:t>
            </a:r>
            <a:pPr indent="0" marL="0">
              <a:buNone/>
            </a:pPr>
            <a:r>
              <a:rPr lang="en-US" sz="1000" dirty="0">
                <a:solidFill>
                  <a:srgbClr val="D8D3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Terraform</a:t>
            </a:r>
            <a:pPr indent="0" marL="0">
              <a:buNone/>
            </a:pPr>
            <a:r>
              <a:rPr lang="en-US" sz="1000" dirty="0">
                <a:solidFill>
                  <a:srgbClr val="D8D3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8:10 → 9:00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820095" y="63093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cria o bucket do state?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22960" y="1572768"/>
            <a:ext cx="1005840" cy="41148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783080"/>
            <a:ext cx="822570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state mora no S3. Mas se o próprio Terraform criasse esse bucket, o primeiro apply não teria onde guardar o state do apply que cria o bucket.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2926080"/>
            <a:ext cx="5090008" cy="36576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3090672"/>
            <a:ext cx="509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SINTOMA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822960" y="3346704"/>
            <a:ext cx="509000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em disco morre com o runner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22960" y="3931920"/>
            <a:ext cx="50900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runner do CI é efêmero. Na execução seguinte, o Terraform esqueceria que o bucket existe — e tentaria criá-lo de novo, e falharia.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8728" y="2926080"/>
            <a:ext cx="5090008" cy="36576"/>
          </a:xfrm>
          <a:prstGeom prst="rect">
            <a:avLst/>
          </a:prstGeom>
          <a:solidFill>
            <a:srgbClr val="C46B2E"/>
          </a:solidFill>
          <a:ln/>
        </p:spPr>
      </p:sp>
      <p:sp>
        <p:nvSpPr>
          <p:cNvPr id="11" name="Text 8"/>
          <p:cNvSpPr/>
          <p:nvPr/>
        </p:nvSpPr>
        <p:spPr>
          <a:xfrm>
            <a:off x="6278728" y="3090672"/>
            <a:ext cx="509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CAUSA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278728" y="3346704"/>
            <a:ext cx="509000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pré-requisito tratado como recurso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278728" y="3931920"/>
            <a:ext cx="509000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não é aplicação. Bucket e tabela são criados por um script de AWS CLI idempotente: sem state, converge sempre no mesmo lugar, roda dez vezes sem susto.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690976" y="5349240"/>
            <a:ext cx="1283818" cy="384048"/>
          </a:xfrm>
          <a:prstGeom prst="rect">
            <a:avLst/>
          </a:prstGeom>
          <a:solidFill>
            <a:srgbClr val="F5F2ED"/>
          </a:solidFill>
          <a:ln w="19050">
            <a:solidFill>
              <a:srgbClr val="C46B2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90976" y="5349240"/>
            <a:ext cx="128381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bootstrap.sh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974793" y="534924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303977" y="5349240"/>
            <a:ext cx="1358798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303977" y="5349240"/>
            <a:ext cx="135879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 + DynamoDB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662776" y="534924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991960" y="5349240"/>
            <a:ext cx="1508760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991960" y="5349240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terraform apply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822960" y="5806440"/>
            <a:ext cx="105457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script constrói a prateleira. O Terraform guarda o state nela.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22960" y="6199632"/>
            <a:ext cx="10545775" cy="10973"/>
          </a:xfrm>
          <a:prstGeom prst="rect">
            <a:avLst/>
          </a:prstGeom>
          <a:solidFill>
            <a:srgbClr val="D8D3CA"/>
          </a:solidFill>
          <a:ln/>
        </p:spPr>
      </p:sp>
      <p:sp>
        <p:nvSpPr>
          <p:cNvPr id="24" name="Text 21"/>
          <p:cNvSpPr/>
          <p:nvPr/>
        </p:nvSpPr>
        <p:spPr>
          <a:xfrm>
            <a:off x="822960" y="630936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6E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Guilherme</a:t>
            </a:r>
            <a:pPr indent="0" marL="0">
              <a:buNone/>
            </a:pPr>
            <a:r>
              <a:rPr lang="en-US" sz="1000" dirty="0">
                <a:solidFill>
                  <a:srgbClr val="D8D3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Decisão</a:t>
            </a:r>
            <a:pPr indent="0" marL="0">
              <a:buNone/>
            </a:pPr>
            <a:r>
              <a:rPr lang="en-US" sz="1000" dirty="0">
                <a:solidFill>
                  <a:srgbClr val="D8D3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9:00 → 9:50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0820095" y="63093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commit ao cluster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22960" y="1572768"/>
            <a:ext cx="1005840" cy="41148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783080"/>
            <a:ext cx="822570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Tudo automático, menos o que cobra dinheiro. Esse, alguém precisa aprovar.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083107" y="2743200"/>
            <a:ext cx="683971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83107" y="2743200"/>
            <a:ext cx="683971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767078" y="274320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096262" y="2743200"/>
            <a:ext cx="1433779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096262" y="2743200"/>
            <a:ext cx="143377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 + testes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530041" y="274320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859225" y="2743200"/>
            <a:ext cx="833933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859225" y="2743200"/>
            <a:ext cx="83393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JaCoCo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693158" y="274320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022342" y="2743200"/>
            <a:ext cx="758952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2342" y="2743200"/>
            <a:ext cx="7589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OWASP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781294" y="274320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110478" y="2743200"/>
            <a:ext cx="758952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10478" y="2743200"/>
            <a:ext cx="7589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869430" y="274320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198614" y="2743200"/>
            <a:ext cx="833933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198614" y="2743200"/>
            <a:ext cx="83393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imagem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032547" y="274320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8361731" y="2743200"/>
            <a:ext cx="1583741" cy="384048"/>
          </a:xfrm>
          <a:prstGeom prst="rect">
            <a:avLst/>
          </a:prstGeom>
          <a:solidFill>
            <a:srgbClr val="F5F2ED"/>
          </a:solidFill>
          <a:ln w="19050">
            <a:solidFill>
              <a:srgbClr val="C46B2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361731" y="2743200"/>
            <a:ext cx="1583741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aprovação humana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9945472" y="2743200"/>
            <a:ext cx="329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10274656" y="2743200"/>
            <a:ext cx="833933" cy="384048"/>
          </a:xfrm>
          <a:prstGeom prst="rect">
            <a:avLst/>
          </a:prstGeom>
          <a:solidFill>
            <a:srgbClr val="F5F2ED"/>
          </a:solidFill>
          <a:ln w="12700">
            <a:solidFill>
              <a:srgbClr val="D8D3C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274656" y="2743200"/>
            <a:ext cx="833933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A2E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822960" y="3566160"/>
            <a:ext cx="5090008" cy="36576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30" name="Text 27"/>
          <p:cNvSpPr/>
          <p:nvPr/>
        </p:nvSpPr>
        <p:spPr>
          <a:xfrm>
            <a:off x="822960" y="3730752"/>
            <a:ext cx="509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AUTENTICAÇÃO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822960" y="3986784"/>
            <a:ext cx="509000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Nenhuma chave estática</a:t>
            </a:r>
            <a:endParaRPr lang="en-US" sz="1700" dirty="0"/>
          </a:p>
        </p:txBody>
      </p:sp>
      <p:sp>
        <p:nvSpPr>
          <p:cNvPr id="32" name="Text 29"/>
          <p:cNvSpPr/>
          <p:nvPr/>
        </p:nvSpPr>
        <p:spPr>
          <a:xfrm>
            <a:off x="822960" y="4572000"/>
            <a:ext cx="509000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Não há access key guardada em secret. O GitHub troca um token de curta duração por uma role que só este repositório consegue assumir — via OIDC.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6278728" y="3566160"/>
            <a:ext cx="5090008" cy="36576"/>
          </a:xfrm>
          <a:prstGeom prst="rect">
            <a:avLst/>
          </a:prstGeom>
          <a:solidFill>
            <a:srgbClr val="C46B2E"/>
          </a:solidFill>
          <a:ln/>
        </p:spPr>
      </p:sp>
      <p:sp>
        <p:nvSpPr>
          <p:cNvPr id="34" name="Text 31"/>
          <p:cNvSpPr/>
          <p:nvPr/>
        </p:nvSpPr>
        <p:spPr>
          <a:xfrm>
            <a:off x="6278728" y="3730752"/>
            <a:ext cx="509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FREIO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6278728" y="3986784"/>
            <a:ext cx="509000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Tudo que cobra, para e espera</a:t>
            </a:r>
            <a:endParaRPr lang="en-US" sz="1700" dirty="0"/>
          </a:p>
        </p:txBody>
      </p:sp>
      <p:sp>
        <p:nvSpPr>
          <p:cNvPr id="36" name="Text 33"/>
          <p:cNvSpPr/>
          <p:nvPr/>
        </p:nvSpPr>
        <p:spPr>
          <a:xfrm>
            <a:off x="6278728" y="4572000"/>
            <a:ext cx="509000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apply e o destroy passam por um GitHub Environment com aprovação manual. Nenhum recurso pago sobe sem alguém dizer sim.</a:t>
            </a:r>
            <a:endParaRPr lang="en-US" sz="1250" dirty="0"/>
          </a:p>
        </p:txBody>
      </p:sp>
      <p:sp>
        <p:nvSpPr>
          <p:cNvPr id="37" name="Shape 34"/>
          <p:cNvSpPr/>
          <p:nvPr/>
        </p:nvSpPr>
        <p:spPr>
          <a:xfrm>
            <a:off x="822960" y="5614416"/>
            <a:ext cx="100584" cy="100584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38" name="Text 35"/>
          <p:cNvSpPr/>
          <p:nvPr/>
        </p:nvSpPr>
        <p:spPr>
          <a:xfrm>
            <a:off x="1097280" y="5468112"/>
            <a:ext cx="10225735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 único passo roda na nossa máquina — e é irredutível.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Criar a primeira credencial não dá para automatizar: para criá-la, o pipeline já precisaria de uma. Feito isso, o ciclo inteiro é um clique no Actions.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822960" y="6199632"/>
            <a:ext cx="10545775" cy="10973"/>
          </a:xfrm>
          <a:prstGeom prst="rect">
            <a:avLst/>
          </a:prstGeom>
          <a:solidFill>
            <a:srgbClr val="D8D3CA"/>
          </a:solidFill>
          <a:ln/>
        </p:spPr>
      </p:sp>
      <p:sp>
        <p:nvSpPr>
          <p:cNvPr id="40" name="Text 37"/>
          <p:cNvSpPr/>
          <p:nvPr/>
        </p:nvSpPr>
        <p:spPr>
          <a:xfrm>
            <a:off x="822960" y="630936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6E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Guilherme</a:t>
            </a:r>
            <a:pPr indent="0" marL="0">
              <a:buNone/>
            </a:pPr>
            <a:r>
              <a:rPr lang="en-US" sz="1000" dirty="0">
                <a:solidFill>
                  <a:srgbClr val="D8D3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</a:t>
            </a:r>
            <a:pPr indent="0" marL="0">
              <a:buNone/>
            </a:pPr>
            <a:r>
              <a:rPr lang="en-US" sz="1000" dirty="0">
                <a:solidFill>
                  <a:srgbClr val="D8D3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9:50 → 11:00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10820095" y="63093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22960" y="566928"/>
            <a:ext cx="1417320" cy="292608"/>
          </a:xfrm>
          <a:prstGeom prst="rect">
            <a:avLst/>
          </a:prstGeom>
          <a:solidFill>
            <a:srgbClr val="C46B2E"/>
          </a:solidFill>
          <a:ln/>
        </p:spPr>
      </p:sp>
      <p:sp>
        <p:nvSpPr>
          <p:cNvPr id="4" name="Text 1"/>
          <p:cNvSpPr/>
          <p:nvPr/>
        </p:nvSpPr>
        <p:spPr>
          <a:xfrm>
            <a:off x="822960" y="566928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5F2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2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22960" y="1005840"/>
            <a:ext cx="1054577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HPA reagindo à carga, ao vivo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22960" y="21031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188720" y="2103120"/>
            <a:ext cx="10088575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terraform apply — cria o cluster, constrói a imagem, injeta no nó e aplica os manifestos.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26517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88720" y="2651760"/>
            <a:ext cx="10088575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Listar os pods: API, Postgres e MailHog de pé. Duas réplicas da API.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188720" y="3200400"/>
            <a:ext cx="10088575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Port-forward e um curl no health. É a mesma API da primeira demo, agora num cluster.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22960" y="37490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188720" y="3749040"/>
            <a:ext cx="10088575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Tela dividida: o HPA de um lado, o k6 do outro.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88720" y="4297680"/>
            <a:ext cx="10088575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Subir a carga e narrar o HPA acordando — de &lt;unknown&gt; ao percentual real, passando de 70%, e as réplicas subindo: 2, 4, 6, 8.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22960" y="510235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46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188720" y="5102352"/>
            <a:ext cx="10088575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Oito réplicas, o teto que definimos. Quando a carga cai, ele volta a duas sozinho.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822960" y="6199632"/>
            <a:ext cx="10545775" cy="10973"/>
          </a:xfrm>
          <a:prstGeom prst="rect">
            <a:avLst/>
          </a:prstGeom>
          <a:solidFill>
            <a:srgbClr val="D8D3CA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630936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6E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Guilherme</a:t>
            </a:r>
            <a:pPr indent="0" marL="0">
              <a:buNone/>
            </a:pPr>
            <a:r>
              <a:rPr lang="en-US" sz="1000" dirty="0">
                <a:solidFill>
                  <a:srgbClr val="D8D3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Ao vivo</a:t>
            </a:r>
            <a:pPr indent="0" marL="0">
              <a:buNone/>
            </a:pPr>
            <a:r>
              <a:rPr lang="en-US" sz="1000" dirty="0">
                <a:solidFill>
                  <a:srgbClr val="D8D3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11:00 → 13:30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820095" y="63093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22960" y="566928"/>
            <a:ext cx="10545775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a esteira cobra da gente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822960" y="1572768"/>
            <a:ext cx="1005840" cy="41148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1783080"/>
            <a:ext cx="8225705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 o que a gente devia da fase passada.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2834640"/>
            <a:ext cx="5090008" cy="36576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2999232"/>
            <a:ext cx="509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CADA PUSH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822960" y="3255264"/>
            <a:ext cx="509000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Sonar, JaCoCo e OWASP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22960" y="3840480"/>
            <a:ext cx="509000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gate, cobertura e varredura de dependências. Quatro CVEs seguem suprimidas — com justificativa: são de Tomcat e Spring Security, e ainda não existe patch publicado. Documentadas, datadas, reavaliadas a cada fase.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78728" y="2834640"/>
            <a:ext cx="5090008" cy="36576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11" name="Text 8"/>
          <p:cNvSpPr/>
          <p:nvPr/>
        </p:nvSpPr>
        <p:spPr>
          <a:xfrm>
            <a:off x="6278728" y="2999232"/>
            <a:ext cx="5090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DÉBITOS DA FASE 1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278728" y="3255264"/>
            <a:ext cx="5090008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Três quitados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278728" y="3840480"/>
            <a:ext cx="5090008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MapStruct estava declarado no pom e nunca tinha sido usado — saiu. O construtor de nove parâmetros virou um record. E o stub de notificação virou SMTP de verdade.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2960" y="6199632"/>
            <a:ext cx="10545775" cy="10973"/>
          </a:xfrm>
          <a:prstGeom prst="rect">
            <a:avLst/>
          </a:prstGeom>
          <a:solidFill>
            <a:srgbClr val="D8D3CA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630936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6E6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Danilo e Guilherme</a:t>
            </a:r>
            <a:pPr indent="0" marL="0">
              <a:buNone/>
            </a:pPr>
            <a:r>
              <a:rPr lang="en-US" sz="1000" dirty="0">
                <a:solidFill>
                  <a:srgbClr val="D8D3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Qualidade</a:t>
            </a:r>
            <a:pPr indent="0" marL="0">
              <a:buNone/>
            </a:pPr>
            <a:r>
              <a:rPr lang="en-US" sz="1000" dirty="0">
                <a:solidFill>
                  <a:srgbClr val="D8D3C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13:30 → 14:10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820095" y="63093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22960" y="1737360"/>
            <a:ext cx="1463040" cy="54864"/>
          </a:xfrm>
          <a:prstGeom prst="rect">
            <a:avLst/>
          </a:prstGeom>
          <a:solidFill>
            <a:srgbClr val="C46B2E"/>
          </a:solidFill>
          <a:ln/>
        </p:spPr>
      </p:sp>
      <p:sp>
        <p:nvSpPr>
          <p:cNvPr id="4" name="Text 1"/>
          <p:cNvSpPr/>
          <p:nvPr/>
        </p:nvSpPr>
        <p:spPr>
          <a:xfrm>
            <a:off x="822960" y="1965960"/>
            <a:ext cx="1054577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2E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822960" y="3191256"/>
            <a:ext cx="91440" cy="91440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6" name="Text 3"/>
          <p:cNvSpPr/>
          <p:nvPr/>
        </p:nvSpPr>
        <p:spPr>
          <a:xfrm>
            <a:off x="1078992" y="3063240"/>
            <a:ext cx="1027145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Regras novas sem tocar em infraestrutura.</a:t>
            </a:r>
            <a:pPr indent="0" marL="0">
              <a:buNone/>
            </a:pPr>
            <a:r>
              <a:rPr lang="en-US" sz="14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 arquitetura aguentou.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22960" y="3648456"/>
            <a:ext cx="91440" cy="91440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8" name="Text 5"/>
          <p:cNvSpPr/>
          <p:nvPr/>
        </p:nvSpPr>
        <p:spPr>
          <a:xfrm>
            <a:off x="1078992" y="3520440"/>
            <a:ext cx="1027145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Infraestrutura declarada e versionada.</a:t>
            </a:r>
            <a:pPr indent="0" marL="0">
              <a:buNone/>
            </a:pPr>
            <a:r>
              <a:rPr lang="en-US" sz="14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E destruível com um clique.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4105656"/>
            <a:ext cx="91440" cy="91440"/>
          </a:xfrm>
          <a:prstGeom prst="rect">
            <a:avLst/>
          </a:prstGeom>
          <a:solidFill>
            <a:srgbClr val="1E6E63"/>
          </a:solidFill>
          <a:ln/>
        </p:spPr>
      </p:sp>
      <p:sp>
        <p:nvSpPr>
          <p:cNvPr id="10" name="Text 7"/>
          <p:cNvSpPr/>
          <p:nvPr/>
        </p:nvSpPr>
        <p:spPr>
          <a:xfrm>
            <a:off x="1078992" y="3977640"/>
            <a:ext cx="10271455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esteira inteira.</a:t>
            </a:r>
            <a:pPr indent="0" marL="0">
              <a:buNone/>
            </a:pPr>
            <a:r>
              <a:rPr lang="en-US" sz="1400" dirty="0">
                <a:solidFill>
                  <a:srgbClr val="767E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Do commit ao cluster.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22960" y="5029200"/>
            <a:ext cx="105457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2E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Danilo Canato          Guilherme Fumagali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Oficina Mecânica API — Tech Challenge Fase 2</dc:title>
  <dc:subject>PptxGenJS Presentation</dc:subject>
  <dc:creator>Danilo Canato · Guilherme Fumagali</dc:creator>
  <cp:lastModifiedBy>Danilo Canato · Guilherme Fumagali</cp:lastModifiedBy>
  <cp:revision>1</cp:revision>
  <dcterms:created xsi:type="dcterms:W3CDTF">2026-07-13T18:50:38Z</dcterms:created>
  <dcterms:modified xsi:type="dcterms:W3CDTF">2026-07-13T18:50:38Z</dcterms:modified>
</cp:coreProperties>
</file>