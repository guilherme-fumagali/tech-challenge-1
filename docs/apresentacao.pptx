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2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B25D08-F121-4212-9AA5-FE149F8A978A}" type="datetimeFigureOut">
              <a:rPr lang="pt-BR" smtClean="0"/>
              <a:t>01/05/2026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1948E8-F21B-4D22-A92B-30DD5C31BD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7987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1948E8-F21B-4D22-A92B-30DD5C31BDA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2485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34747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</a:rPr>
              <a:t>PosTech FIAP  ·  Pós-Graduação em Arquitetura de Software  ·  Turma SOAT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8686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Sistema Integrado de
Atendimento e Execução
de Serviços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566160"/>
            <a:ext cx="43891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</a:rPr>
              <a:t>Tech Challenge —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2519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</a:rPr>
              <a:t>Domain-Driven Design  ·  Clean Architecture  ·  Spring Boot 3.4.5  ·  PostgreSQL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0972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0" b="0" i="0">
                <a:solidFill>
                  <a:srgbClr val="1E3A5F"/>
                </a:solidFill>
              </a:rPr>
              <a:t>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44768"/>
            <a:ext cx="12188952" cy="7132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19048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Grupo: [NOME DO GRUPO]   ·   [Nome] — RM [XXXXX]   ·   [Nome] — RM [XXXXX]   ·  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B923C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Uma oficina mecânica de médio porte gerenciava tudo com planilhas e anotações.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" y="2331720"/>
            <a:ext cx="3749039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Sem rastreabilidade de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Clientes não sabiam o andamento dos serviços.
Ligações constantes e retrabalho na recepção.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06240" y="2331720"/>
            <a:ext cx="3749039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Estoque descontrolado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Peças retiradas sem registro. Quantidade
negativa e compras emergenciais frequentes.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83879" y="2331720"/>
            <a:ext cx="3749039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59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Orçamentos inconsistentes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Preços alterados durante a execução.
Sem snapshot de preço, valores divergiam.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MVP back-end monolítico · API RESTful · containerizado com Docker Compose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" y="1874519"/>
            <a:ext cx="2788920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22C55E"/>
                </a:solidFill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testes automatizados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18688" y="1874519"/>
            <a:ext cx="27889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18688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59E0B"/>
                </a:solidFill>
              </a:rPr>
              <a:t>80%+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cobertura de domínio (JaCoCo)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08776" y="1874519"/>
            <a:ext cx="27889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08776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3B82F6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bounded contexts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98864" y="1874519"/>
            <a:ext cx="2788920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98864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14B8A6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endpoints de ciclo de vida da 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</a:rPr>
              <a:t>Stack tecnológica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" y="4279392"/>
            <a:ext cx="1184148" cy="40233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1752" y="4315968"/>
            <a:ext cx="10378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Java 21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9908" y="4279392"/>
            <a:ext cx="2418588" cy="40233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623060" y="4315968"/>
            <a:ext cx="22722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Spring Boot 3.4.5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05656" y="4279392"/>
            <a:ext cx="1924812" cy="402336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78808" y="4315968"/>
            <a:ext cx="17785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PostgreSQL 16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7628" y="4279392"/>
            <a:ext cx="1060704" cy="402336"/>
          </a:xfrm>
          <a:prstGeom prst="roundRect">
            <a:avLst/>
          </a:prstGeom>
          <a:solidFill>
            <a:srgbClr val="CC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0780" y="431596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Flyway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5492" y="4279392"/>
            <a:ext cx="2665476" cy="402336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38644" y="4315968"/>
            <a:ext cx="25191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JWT + Refresh Token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8600" y="4791456"/>
            <a:ext cx="2048256" cy="40233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01752" y="4828032"/>
            <a:ext cx="1901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Docker Compose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4016" y="4791456"/>
            <a:ext cx="3282696" cy="40233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487168" y="4828032"/>
            <a:ext cx="31363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JUnit 5 + Testcontainers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33872" y="4791456"/>
            <a:ext cx="2295144" cy="402336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07024" y="482803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OWASP Dep. Check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66176" y="4791456"/>
            <a:ext cx="2542032" cy="40233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39328" y="4828032"/>
            <a:ext cx="2395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MapStruct + Lombok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8600" y="5303520"/>
            <a:ext cx="2418588" cy="40233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01752" y="5340096"/>
            <a:ext cx="22722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Springdoc OpenAPI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Event Storming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event_storming.drawio.pdf  ·  7 bounded contexts  ·  10 eventos  ·  5 políticas  ·  4 hot spots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90672"/>
            <a:ext cx="11750040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28600" y="1737360"/>
            <a:ext cx="1572768" cy="1261872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Atendimento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" y="2999232"/>
            <a:ext cx="201168" cy="201168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8600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Cliente
AG: Veículo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8528" y="1737360"/>
            <a:ext cx="1572768" cy="126187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84248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Diagnóstico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3472" y="2999232"/>
            <a:ext cx="201168" cy="20116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38528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48456" y="1737360"/>
            <a:ext cx="1572768" cy="126187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94176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Gestão de
Serviços/Peças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99923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48456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AG: Peça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1737360"/>
            <a:ext cx="1572768" cy="1261872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04104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Orçamento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53328" y="2999232"/>
            <a:ext cx="201168" cy="201168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58384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SE: Notificação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68312" y="1737360"/>
            <a:ext cx="1572768" cy="1261872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14032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Aprovação /
Cancelamento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63256" y="2999232"/>
            <a:ext cx="201168" cy="20116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68312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AG: Peça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1737360"/>
            <a:ext cx="1572768" cy="12618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23960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Execução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73184" y="2999232"/>
            <a:ext cx="201168" cy="20116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0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88168" y="1737360"/>
            <a:ext cx="1572768" cy="12618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33888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Entrega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183112" y="2999232"/>
            <a:ext cx="201168" cy="2011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488168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← linha do tempo do atendimento 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297680"/>
            <a:ext cx="11750040" cy="14173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28600" y="4297680"/>
            <a:ext cx="1175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4343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Fluxo principal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754880"/>
            <a:ext cx="11750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923C"/>
                </a:solidFill>
              </a:rPr>
              <a:t>OS Aberta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8528" y="4700016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94A3B8"/>
                </a:solidFill>
              </a:rPr>
              <a:t>→ </a:t>
            </a:r>
            <a:r>
              <a:rPr sz="1200" b="0" i="0" dirty="0" err="1">
                <a:solidFill>
                  <a:srgbClr val="94A3B8"/>
                </a:solidFill>
              </a:rPr>
              <a:t>Diagnóstico</a:t>
            </a:r>
            <a:r>
              <a:rPr sz="1200" b="0" i="0" dirty="0">
                <a:solidFill>
                  <a:srgbClr val="94A3B8"/>
                </a:solidFill>
              </a:rPr>
              <a:t> </a:t>
            </a:r>
            <a:r>
              <a:rPr sz="1200" b="0" i="0" dirty="0" err="1">
                <a:solidFill>
                  <a:srgbClr val="94A3B8"/>
                </a:solidFill>
              </a:rPr>
              <a:t>Iniciado</a:t>
            </a:r>
            <a:endParaRPr sz="1200" b="0" i="0" dirty="0">
              <a:solidFill>
                <a:srgbClr val="94A3B8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648456" y="4719106"/>
            <a:ext cx="22265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94A3B8"/>
                </a:solidFill>
              </a:rPr>
              <a:t>→ </a:t>
            </a:r>
            <a:r>
              <a:rPr sz="1200" b="0" i="0" dirty="0" err="1">
                <a:solidFill>
                  <a:srgbClr val="94A3B8"/>
                </a:solidFill>
              </a:rPr>
              <a:t>Itens</a:t>
            </a:r>
            <a:r>
              <a:rPr sz="1200" b="0" i="0" dirty="0">
                <a:solidFill>
                  <a:srgbClr val="94A3B8"/>
                </a:solidFill>
              </a:rPr>
              <a:t> </a:t>
            </a:r>
            <a:r>
              <a:rPr sz="1200" b="0" i="0" dirty="0" err="1">
                <a:solidFill>
                  <a:srgbClr val="94A3B8"/>
                </a:solidFill>
              </a:rPr>
              <a:t>Adicionados</a:t>
            </a:r>
            <a:endParaRPr sz="1200" b="0" i="0" dirty="0">
              <a:solidFill>
                <a:srgbClr val="94A3B8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358384" y="4719106"/>
            <a:ext cx="21214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14B8A6"/>
                </a:solidFill>
              </a:rPr>
              <a:t>→ </a:t>
            </a:r>
            <a:r>
              <a:rPr sz="1200" b="1" i="0" dirty="0" err="1">
                <a:solidFill>
                  <a:srgbClr val="14B8A6"/>
                </a:solidFill>
              </a:rPr>
              <a:t>Orçamento</a:t>
            </a:r>
            <a:r>
              <a:rPr sz="1200" b="1" i="0" dirty="0">
                <a:solidFill>
                  <a:srgbClr val="14B8A6"/>
                </a:solidFill>
              </a:rPr>
              <a:t> Gerado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2" y="470001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22C55E"/>
                </a:solidFill>
              </a:rPr>
              <a:t>→ </a:t>
            </a:r>
            <a:r>
              <a:rPr sz="1200" b="1" i="0" dirty="0" err="1">
                <a:solidFill>
                  <a:srgbClr val="22C55E"/>
                </a:solidFill>
              </a:rPr>
              <a:t>Aprovado</a:t>
            </a:r>
            <a:endParaRPr sz="1200" b="1" i="0" dirty="0">
              <a:solidFill>
                <a:srgbClr val="22C55E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778240" y="4700016"/>
            <a:ext cx="22265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3B82F6"/>
                </a:solidFill>
              </a:rPr>
              <a:t>→ </a:t>
            </a:r>
            <a:r>
              <a:rPr sz="1200" b="1" i="0" dirty="0" err="1">
                <a:solidFill>
                  <a:srgbClr val="3B82F6"/>
                </a:solidFill>
              </a:rPr>
              <a:t>Execução</a:t>
            </a:r>
            <a:r>
              <a:rPr sz="1200" b="1" i="0" dirty="0">
                <a:solidFill>
                  <a:srgbClr val="3B82F6"/>
                </a:solidFill>
              </a:rPr>
              <a:t> </a:t>
            </a:r>
            <a:r>
              <a:rPr sz="1200" b="1" i="0" dirty="0" err="1">
                <a:solidFill>
                  <a:srgbClr val="3B82F6"/>
                </a:solidFill>
              </a:rPr>
              <a:t>Iniciada</a:t>
            </a:r>
            <a:endParaRPr sz="1200" b="1" i="0" dirty="0">
              <a:solidFill>
                <a:srgbClr val="3B82F6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819388" y="5128181"/>
            <a:ext cx="18059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22C55E"/>
                </a:solidFill>
              </a:rPr>
              <a:t>→ OS </a:t>
            </a:r>
            <a:r>
              <a:rPr sz="1200" b="1" i="0" dirty="0" err="1">
                <a:solidFill>
                  <a:srgbClr val="22C55E"/>
                </a:solidFill>
              </a:rPr>
              <a:t>Finalizada</a:t>
            </a:r>
            <a:endParaRPr sz="1200" b="1" i="0" dirty="0">
              <a:solidFill>
                <a:srgbClr val="22C55E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488168" y="4717503"/>
            <a:ext cx="12801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sng" dirty="0">
                <a:solidFill>
                  <a:srgbClr val="F59E0B"/>
                </a:solidFill>
              </a:rPr>
              <a:t>→ </a:t>
            </a:r>
            <a:r>
              <a:rPr sz="1200" b="1" i="0" u="sng" dirty="0" err="1">
                <a:solidFill>
                  <a:srgbClr val="F59E0B"/>
                </a:solidFill>
              </a:rPr>
              <a:t>Entregue</a:t>
            </a:r>
            <a:endParaRPr sz="1200" b="1" i="0" u="sng" dirty="0">
              <a:solidFill>
                <a:srgbClr val="F59E0B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65760" y="544228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BBF24"/>
                </a:solidFill>
              </a:rPr>
              <a:t>⚠  Alt: </a:t>
            </a:r>
            <a:r>
              <a:rPr sz="1100" b="0" i="1" dirty="0" err="1">
                <a:solidFill>
                  <a:srgbClr val="FBBF24"/>
                </a:solidFill>
              </a:rPr>
              <a:t>Orçamento</a:t>
            </a:r>
            <a:r>
              <a:rPr sz="1100" b="0" i="1" dirty="0">
                <a:solidFill>
                  <a:srgbClr val="FBBF24"/>
                </a:solidFill>
              </a:rPr>
              <a:t> </a:t>
            </a:r>
            <a:r>
              <a:rPr sz="1100" b="0" i="1" dirty="0" err="1">
                <a:solidFill>
                  <a:srgbClr val="FBBF24"/>
                </a:solidFill>
              </a:rPr>
              <a:t>Reprovado</a:t>
            </a:r>
            <a:r>
              <a:rPr sz="1100" b="0" i="1" dirty="0">
                <a:solidFill>
                  <a:srgbClr val="FBBF24"/>
                </a:solidFill>
              </a:rPr>
              <a:t> → POL: </a:t>
            </a:r>
            <a:r>
              <a:rPr sz="1100" b="0" i="1" dirty="0" err="1">
                <a:solidFill>
                  <a:srgbClr val="FBBF24"/>
                </a:solidFill>
              </a:rPr>
              <a:t>Cancelar</a:t>
            </a:r>
            <a:r>
              <a:rPr sz="1100" b="0" i="1" dirty="0">
                <a:solidFill>
                  <a:srgbClr val="FBBF24"/>
                </a:solidFill>
              </a:rPr>
              <a:t> OS e </a:t>
            </a:r>
            <a:r>
              <a:rPr sz="1100" b="0" i="1" dirty="0" err="1">
                <a:solidFill>
                  <a:srgbClr val="FBBF24"/>
                </a:solidFill>
              </a:rPr>
              <a:t>Estornar</a:t>
            </a:r>
            <a:r>
              <a:rPr sz="1100" b="0" i="1" dirty="0">
                <a:solidFill>
                  <a:srgbClr val="FBBF24"/>
                </a:solidFill>
              </a:rPr>
              <a:t> Estoque → OS </a:t>
            </a:r>
            <a:r>
              <a:rPr sz="1100" b="0" i="1" dirty="0" err="1">
                <a:solidFill>
                  <a:srgbClr val="FBBF24"/>
                </a:solidFill>
              </a:rPr>
              <a:t>Cancelada</a:t>
            </a:r>
            <a:endParaRPr sz="1100" b="0" i="1" dirty="0">
              <a:solidFill>
                <a:srgbClr val="FBBF24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28600" y="6446520"/>
            <a:ext cx="1175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43F5E"/>
                </a:solidFill>
              </a:rPr>
              <a:t>Hot Spots: PA1 Mecânico disponível?  ·  PA2 Canal de notificação?  ·  PA3 Prazo aprovação?  ·  PA4 Permissões por papel?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B82F6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Context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ContextMap.drawio.pdf  ·  padrões: Customer-Supplier · Shared Kernel · ACL · OHS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09160" y="1828800"/>
            <a:ext cx="2743200" cy="749808"/>
          </a:xfrm>
          <a:prstGeom prst="rect">
            <a:avLst/>
          </a:prstGeom>
          <a:solidFill>
            <a:srgbClr val="1E3A5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800600" y="1892807"/>
            <a:ext cx="566928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73752" y="1929383"/>
            <a:ext cx="42062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72A"/>
                </a:solidFill>
              </a:rPr>
              <a:t>OHS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9385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Segurança (JWT)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75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B923C"/>
                </a:solidFill>
              </a:rPr>
              <a:t>Atendimento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911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8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1343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</a:rPr>
              <a:t>Diagnóstico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079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2511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</a:rPr>
              <a:t>Orçamento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1615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3679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3F5E"/>
                </a:solidFill>
              </a:rPr>
              <a:t>Aprovação /
Cancelamento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5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 dirty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4847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</a:rPr>
              <a:t>Execução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5499" y="568431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8700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36015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</a:rPr>
              <a:t>Entrega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0280" y="416052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0280" y="4206240"/>
            <a:ext cx="18470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</a:rPr>
              <a:t>Gestão de
Estoque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5280152"/>
            <a:ext cx="1847088" cy="320040"/>
          </a:xfrm>
          <a:prstGeom prst="roundRect">
            <a:avLst/>
          </a:prstGeom>
          <a:solidFill>
            <a:srgbClr val="0D4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13432" y="5316728"/>
            <a:ext cx="17007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4B8A6"/>
                </a:solidFill>
              </a:rPr>
              <a:t>Shared Kernel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5069840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4A3B8"/>
                </a:solidFill>
              </a:rPr>
              <a:t>↕ bidirecional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087" y="4370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43F5E"/>
                </a:solidFill>
              </a:rPr>
              <a:t>← ACL estorno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4160520"/>
            <a:ext cx="1847088" cy="868680"/>
          </a:xfrm>
          <a:prstGeom prst="rect">
            <a:avLst/>
          </a:prstGeom>
          <a:solidFill>
            <a:srgbClr val="121222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26480" y="4206240"/>
            <a:ext cx="18470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4A3B8"/>
                </a:solidFill>
              </a:rPr>
              <a:t>Serviço de
Notificação (SE)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5262372"/>
            <a:ext cx="1847088" cy="320040"/>
          </a:xfrm>
          <a:prstGeom prst="round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99632" y="5298948"/>
            <a:ext cx="17007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OHS + ACL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5020056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 dirty="0">
                <a:solidFill>
                  <a:srgbClr val="F43F5E"/>
                </a:solidFill>
              </a:rPr>
              <a:t>↕ Hot Spot PA2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0748" y="4581143"/>
            <a:ext cx="3790188" cy="2322577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07908" y="464515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Legenda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07908" y="5111495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81060" y="5148071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B82F6"/>
                </a:solidFill>
              </a:rPr>
              <a:t>U→D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39428" y="5057582"/>
            <a:ext cx="9829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Customer-Supplier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08692" y="5111495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81844" y="5148071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4B8A6"/>
                </a:solidFill>
              </a:rPr>
              <a:t>SK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40212" y="514807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Shared Kernel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48472" y="5789474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21624" y="5826050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>
                <a:solidFill>
                  <a:srgbClr val="F43F5E"/>
                </a:solidFill>
              </a:rPr>
              <a:t>ACL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79992" y="5629454"/>
            <a:ext cx="110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Anti-Corruption Layer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108692" y="5771186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181844" y="5807762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OHS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40212" y="5807762"/>
            <a:ext cx="11018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Open Host Service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334756" y="6384275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407908" y="6420851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66276" y="6420851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</a:rPr>
              <a:t>Sistema </a:t>
            </a:r>
            <a:r>
              <a:rPr sz="1200" b="0" i="0" dirty="0" err="1">
                <a:solidFill>
                  <a:srgbClr val="FFFFFF"/>
                </a:solidFill>
              </a:rPr>
              <a:t>Externo</a:t>
            </a:r>
            <a:endParaRPr sz="1200" b="0" i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Design Tático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Building blocks do DDD implementados no domínio da oficina (Evans, 2003)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" y="1920240"/>
            <a:ext cx="3767328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3192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923C"/>
                </a:solidFill>
              </a:rPr>
              <a:t>Value Objects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CpfCnpj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Dígitos verificadores, sem UUID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3192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Placa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Antigo ABC-1234 e Mercosul ABC1D23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3192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StatusOS (enum)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validarTransicaoPara() fecha transições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3192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B923C"/>
                </a:solidFill>
              </a:rPr>
              <a:t>Imutáveis · identificados pelo valor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24528" y="1920240"/>
            <a:ext cx="376732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89120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Entities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Cliente  — UUID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CPF/CNPJ é atributo, não identidade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9120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Veículo  — UUID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Placa é atributo de domínio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89120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Serviço  — UUID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Peça  — UUID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0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B82F6"/>
                </a:solidFill>
              </a:rPr>
              <a:t>Estado mutável · UUID persistente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0456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0456" y="1920240"/>
            <a:ext cx="376732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85048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</a:rPr>
              <a:t>Aggregate Root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5048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OrdemServico  (único AG)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8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85048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├─ ItemServico  (interno)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5048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 snapshot de preço do Serviço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8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85048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├─ ItemPeca  (interno)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8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 snapshot de preço da Peça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8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85048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└─ StatusOS  (VO interno)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8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59E0B"/>
                </a:solidFill>
              </a:rPr>
              <a:t>Acesso somente via OrdemServicoRepository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</a:rPr>
              <a:t>⚡  Use Cases:  AdicionarPecaAOSUseCase  ·  ReprovarOrcamentoUseCase  ·  GerarOrcamentoUseCase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2C55E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Arquitetura em Camadas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Clean Architecture · dependências apontam para o domínio · testável por camada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965960"/>
            <a:ext cx="1218895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1965960"/>
            <a:ext cx="64008" cy="1207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168" y="2057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3AED"/>
                </a:solidFill>
              </a:rPr>
              <a:t>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253288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infrastructure/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75688"/>
            <a:ext cx="8394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Spring Boot · JPA · Flyway · Security
REST Controllers · LogNotificacaoService (ACL stub)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291839"/>
            <a:ext cx="1045159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68680" y="3291839"/>
            <a:ext cx="64008" cy="1207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9848" y="338327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858767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application/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401567"/>
            <a:ext cx="66568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Use Cases · Ports de entrada e saída
Orquestra o domínio sem conhecer HTTP ou JPA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617720"/>
            <a:ext cx="871423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737360" y="4617720"/>
            <a:ext cx="64008" cy="1207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38528" y="4709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8528" y="51846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domain/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49194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Entidades · Value Objects · Aggregates
Exceções · Interfaces de Repositório
Puro Java — zero dependência de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</a:rPr>
              <a:t>⬆  regra de dependência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" y="56235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Verificável empiricamente: testes de domínio executam sem Spring Context (ms). JaCoCo enforce 80%+ em domain.* a cada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Ciclo de Vida da Ordem de Serviço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Invariante central: OS só avança — nunca retrocede. Validado em StatusOS.validarTransicaoPara()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B923C"/>
                </a:solidFill>
              </a:rPr>
              <a:t>Recebida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2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67712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67712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</a:rPr>
              <a:t>Em
Diagnóstico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61104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Aguardando
Aprovação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71616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54496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Em
Execução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47888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B8A6"/>
                </a:solidFill>
              </a:rPr>
              <a:t>Finalizada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0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Entregue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80" y="3154680"/>
            <a:ext cx="1920240" cy="96012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12080" y="3218688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43F5E"/>
                </a:solidFill>
              </a:rPr>
              <a:t>Cancelada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7889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43F5E"/>
                </a:solidFill>
              </a:rPr>
              <a:t>↓ reprovação + estorno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" y="434340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</a:rPr>
              <a:t>Endpoints do ciclo de vida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482803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/api/ordens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2803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Abre 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5266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…/iniciar-diagnostico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52669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Inicia diagnóstico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" y="57058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…/servicos + /pecas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5705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Adiciona itens (snapshot de preço; peça: decrementa estoque)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61447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…/gerar-orcamento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6144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Gera orçamento e notifica cliente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82803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…/aprovar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482803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Aprova → Em Execução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5266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…/concluir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52669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Conclui serviços → Finalizada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7058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…/entregar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5705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Entrega → Entregue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61447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…/reprovar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6144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Cancela + estorna estoque → Cancelada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B923C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Segurança — JWT com Refresh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Autenticação stateless (access) + stateful (refresh) com rotação e detecção de token roubado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783080"/>
            <a:ext cx="5760720" cy="26060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" y="1783080"/>
            <a:ext cx="57607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892807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🔑  Access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505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Tipo: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45059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JWT · HMAC-SHA384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9535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Validade: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5351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15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45643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Storage: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4564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Stateless — validado pela assinatura, sem banco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783080"/>
            <a:ext cx="5760720" cy="26060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7607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1892807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</a:rPr>
              <a:t>🔄  Refresh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4505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Tipo: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45059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UUID opaco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9535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Validade: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95351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7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45643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Storage: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4564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Stateful — persiste na tabela refresh_tokens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4617720"/>
            <a:ext cx="11750040" cy="1719072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28600" y="4617720"/>
            <a:ext cx="11750040" cy="4572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🔁  Rotação de Refresh Tokens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80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Envia
refresh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4288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350008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Verifica
no banco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7368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2816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88536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Invalida
token antigo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25896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1344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27064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Emite novo
par access+refresh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4424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43F5E"/>
                </a:solidFill>
              </a:rPr>
              <a:t>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19872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65592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3F5E"/>
                </a:solidFill>
              </a:rPr>
              <a:t>Token já
revogado?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2952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58400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104120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3F5E"/>
                </a:solidFill>
              </a:rPr>
              <a:t>Revoga TODOS
do usuário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126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RefreshTokenService.rotacionar()  ·  detecção de reutilização revoga família inteira do usuário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2C55E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Qualidade de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Pirâmide de testes · JaCoCo enforce 80% · OWASP Dependency Check · SonarCloud Quality Gate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" y="1691640"/>
            <a:ext cx="3767328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22C55E"/>
                </a:solidFill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Testes automatizados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Domain: JUnit 5 puro (sem Spring)
Application: JUnit 5 + Mockito
Integração: Testcontainers
(PostgreSQL real)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24528" y="1691640"/>
            <a:ext cx="376732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7408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59E0B"/>
                </a:solidFill>
              </a:rPr>
              <a:t>80%+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Cobertura de domínio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JaCoCo fase verify
Falha o build se &lt; 80%
Pacote: com.oficina.mecanica.domain.*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0456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0456" y="1691640"/>
            <a:ext cx="376732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03336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3B82F6"/>
                </a:solidFill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OWASP Dep.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3336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3.3.4 → 3.4.5
3 CVEs críticos resolvidos
3 false-positives suprimidos
(Tomcat DefaultServlet desabilitado)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B8A6"/>
                </a:solidFill>
              </a:rPr>
              <a:t>mvn test   ·   mvn verify   ·   mvn dependency-check:check   ·   GitHub Actions: mvn verify sonar:sonar  →  Quality Gate bloqueante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docker-compose up --build  →  http://localhost:8080/swagger-ui.html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874519"/>
            <a:ext cx="530352" cy="86868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8600" y="187451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9202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33171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/api/auth/login — obtém access token + refresh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" y="2971800"/>
            <a:ext cx="530352" cy="8686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8600" y="2971800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017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Cadastrar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429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/api/clientes — CPF validado por dígito verificador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" y="4069079"/>
            <a:ext cx="530352" cy="868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8600" y="406907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114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Cadastrar Veículo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45262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/api/veiculos — placa formato antigo ou Mercosul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" y="5166359"/>
            <a:ext cx="530352" cy="8686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8600" y="516635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5212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Abrir 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562355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/api/ordens — status: Recebida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874519"/>
            <a:ext cx="530352" cy="8686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187451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5432" y="19202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</a:rPr>
              <a:t>Fluxo completo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5432" y="233171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iniciar-diagnostico → adicionar itens → gerar-orcamento → aprovar → concluir → entregar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971800"/>
            <a:ext cx="530352" cy="86868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63640" y="2971800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432" y="3017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3F5E"/>
                </a:solidFill>
              </a:rPr>
              <a:t>Estorno de estoque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85432" y="3429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…/reprovar — itens devolvidos ao estoque atomicamente, status: Cancelada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069079"/>
            <a:ext cx="530352" cy="86868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63640" y="406907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432" y="4114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4A3B8"/>
                </a:solidFill>
              </a:rPr>
              <a:t>Consulta pública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85432" y="45262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GET /api/ordens/{id}/status — sem JWT (endpoint público)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5166359"/>
            <a:ext cx="530352" cy="868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63640" y="516635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85432" y="5212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Relatório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85432" y="562355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GET /api/ordens/relatorio/tempo-medio — AVG(DataConclusao - DataInicio) SQL nativo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Que Foi Entregue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60020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184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Back-end monolítico containerizado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18488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3.4.5 + Docker Compose · API RESTful documentada no Swagger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212848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DDD — Design Estratégico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31136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Event Storming · Context Map · Linguagem Ubíqua · 7 bounded contexts modelados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825496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437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</a:rPr>
              <a:t>DDD — Design Tático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843784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Value Objects · Entities · Aggregate Root (OrdemServico) · Use Cases · Repositórios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3438144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564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Clean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456432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Domain / Application / Infrastructure · dependência invertida verificável pelos testes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050791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Ciclo completo da 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069079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8 endpoints de ciclo de vida · snapshot de preço · estorno de estoque atômico · relatório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6344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JWT + Refresh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681728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Access 15 min (HMAC-SHA384) · Refresh 7 dias com rotação e detecção de reutilização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" y="5276088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943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47 testes · JaCoCo 80%+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294376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JUnit 5 puro · Mockito · Testcontainers (PostgreSQL real) · enforce no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" y="5888736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0702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OWASP Dep. Check aprovado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907024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3.3.4 → 3.4.5 · 3 CVEs críticos resolvidos · 3 supressões fundamentadas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6501384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5196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</a:rPr>
              <a:t>CI com SonarCloud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6519672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GitHub Actions: build → testes → JaCoCo → sonar:sonar · Quality Gate bloqueante na branch main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Repositório: [URL]   ·   Documentação DDD: [URL]   ·   Vídeo: [URL]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1390</Words>
  <Application>Microsoft Office PowerPoint</Application>
  <PresentationFormat>Personalizar</PresentationFormat>
  <Paragraphs>282</Paragraphs>
  <Slides>12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Danilo Canato</cp:lastModifiedBy>
  <cp:revision>3</cp:revision>
  <dcterms:created xsi:type="dcterms:W3CDTF">2013-01-27T09:14:16Z</dcterms:created>
  <dcterms:modified xsi:type="dcterms:W3CDTF">2026-05-01T22:38:21Z</dcterms:modified>
  <cp:category/>
</cp:coreProperties>
</file>