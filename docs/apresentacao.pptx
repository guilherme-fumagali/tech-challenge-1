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D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256032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FB92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347472"/>
            <a:ext cx="11430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94A3B8"/>
                </a:solidFill>
              </a:rPr>
              <a:t>PosTech FIAP  ·  Pós-Graduação em Arquitetura de Software  ·  Turma SOAT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1005840"/>
            <a:ext cx="868680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600" b="1" i="0">
                <a:solidFill>
                  <a:srgbClr val="FFFFFF"/>
                </a:solidFill>
              </a:rPr>
              <a:t>Sistema Integrado de
Atendimento e Execução
de Serviços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3566160"/>
            <a:ext cx="4389120" cy="54864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3657600"/>
            <a:ext cx="6400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59E0B"/>
                </a:solidFill>
              </a:rPr>
              <a:t>Tech Challenge — Fase 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4251960"/>
            <a:ext cx="9144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94A3B8"/>
                </a:solidFill>
              </a:rPr>
              <a:t>Domain-Driven Design  ·  Clean Architecture  ·  Spring Boot 3.4.5  ·  PostgreSQL 16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418320" y="1097280"/>
            <a:ext cx="265176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0" b="0" i="0">
                <a:solidFill>
                  <a:srgbClr val="1E3A5F"/>
                </a:solidFill>
              </a:rPr>
              <a:t>⚙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144768"/>
            <a:ext cx="12188952" cy="713232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65760" y="6190488"/>
            <a:ext cx="11430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94A3B8"/>
                </a:solidFill>
              </a:rPr>
              <a:t>Grupo: [NOME DO GRUPO]   ·   [Nome] — RM [XXXXX]   ·   [Nome] — RM [XXXXX]   ·   Maio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D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64008" cy="6858000"/>
          </a:xfrm>
          <a:prstGeom prst="rect">
            <a:avLst/>
          </a:prstGeom>
          <a:solidFill>
            <a:srgbClr val="FB92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28600" y="137160"/>
            <a:ext cx="1280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400" b="1" i="0">
                <a:solidFill>
                  <a:srgbClr val="FB923C"/>
                </a:solidFill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28600" y="868680"/>
            <a:ext cx="9144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</a:rPr>
              <a:t>O Problema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28600" y="1463040"/>
            <a:ext cx="114300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94A3B8"/>
                </a:solidFill>
              </a:rPr>
              <a:t>Uma oficina mecânica de médio porte gerenciava tudo com planilhas e anotações.</a:t>
            </a:r>
          </a:p>
        </p:txBody>
      </p:sp>
      <p:sp>
        <p:nvSpPr>
          <p:cNvPr id="7" name="Rectangle 6"/>
          <p:cNvSpPr/>
          <p:nvPr/>
        </p:nvSpPr>
        <p:spPr>
          <a:xfrm>
            <a:off x="228600" y="2331720"/>
            <a:ext cx="3749039" cy="3749039"/>
          </a:xfrm>
          <a:prstGeom prst="rect">
            <a:avLst/>
          </a:prstGeom>
          <a:solidFill>
            <a:srgbClr val="1629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28600" y="2331720"/>
            <a:ext cx="3749039" cy="64008"/>
          </a:xfrm>
          <a:prstGeom prst="rect">
            <a:avLst/>
          </a:prstGeom>
          <a:solidFill>
            <a:srgbClr val="FB92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11480" y="2450592"/>
            <a:ext cx="7315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0" i="0">
                <a:solidFill>
                  <a:srgbClr val="FFFFFF"/>
                </a:solidFill>
              </a:rPr>
              <a:t>📋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1480" y="3017520"/>
            <a:ext cx="33832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B923C"/>
                </a:solidFill>
              </a:rPr>
              <a:t>Sem rastreabilidade de status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1480" y="3493008"/>
            <a:ext cx="338328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Clientes não sabiam o andamento dos serviços.
Ligações constantes e retrabalho na recepção.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206240" y="2331720"/>
            <a:ext cx="3749039" cy="3749039"/>
          </a:xfrm>
          <a:prstGeom prst="rect">
            <a:avLst/>
          </a:prstGeom>
          <a:solidFill>
            <a:srgbClr val="1629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206240" y="2331720"/>
            <a:ext cx="3749039" cy="64008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389120" y="2450592"/>
            <a:ext cx="7315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0" i="0">
                <a:solidFill>
                  <a:srgbClr val="FFFFFF"/>
                </a:solidFill>
              </a:rPr>
              <a:t>📦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89120" y="3017520"/>
            <a:ext cx="33832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3B82F6"/>
                </a:solidFill>
              </a:rPr>
              <a:t>Estoque descontrolado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89120" y="3493008"/>
            <a:ext cx="338328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Peças retiradas sem registro. Quantidade
negativa e compras emergenciais frequentes.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183879" y="2331720"/>
            <a:ext cx="3749039" cy="3749039"/>
          </a:xfrm>
          <a:prstGeom prst="rect">
            <a:avLst/>
          </a:prstGeom>
          <a:solidFill>
            <a:srgbClr val="1629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183879" y="2331720"/>
            <a:ext cx="3749039" cy="64008"/>
          </a:xfrm>
          <a:prstGeom prst="rect">
            <a:avLst/>
          </a:prstGeom>
          <a:solidFill>
            <a:srgbClr val="14B8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366759" y="2450592"/>
            <a:ext cx="7315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0" i="0">
                <a:solidFill>
                  <a:srgbClr val="FFFFFF"/>
                </a:solidFill>
              </a:rPr>
              <a:t>💸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66759" y="3017520"/>
            <a:ext cx="33832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14B8A6"/>
                </a:solidFill>
              </a:rPr>
              <a:t>Orçamentos inconsistentes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66759" y="3493008"/>
            <a:ext cx="338328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Preços alterados durante a execução.
Sem snapshot de preço, valores divergiam.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D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64008" cy="6858000"/>
          </a:xfrm>
          <a:prstGeom prst="rect">
            <a:avLst/>
          </a:prstGeom>
          <a:solidFill>
            <a:srgbClr val="14B8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28600" y="137160"/>
            <a:ext cx="1280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400" b="1" i="0">
                <a:solidFill>
                  <a:srgbClr val="14B8A6"/>
                </a:solidFill>
              </a:rPr>
              <a:t>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28600" y="868680"/>
            <a:ext cx="9144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</a:rPr>
              <a:t>A Solução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28600" y="1463040"/>
            <a:ext cx="114300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94A3B8"/>
                </a:solidFill>
              </a:rPr>
              <a:t>MVP back-end monolítico · API RESTful · containerizado com Docker Compose</a:t>
            </a:r>
          </a:p>
        </p:txBody>
      </p:sp>
      <p:sp>
        <p:nvSpPr>
          <p:cNvPr id="7" name="Rectangle 6"/>
          <p:cNvSpPr/>
          <p:nvPr/>
        </p:nvSpPr>
        <p:spPr>
          <a:xfrm>
            <a:off x="228600" y="1874519"/>
            <a:ext cx="2788920" cy="1737360"/>
          </a:xfrm>
          <a:prstGeom prst="rect">
            <a:avLst/>
          </a:prstGeom>
          <a:solidFill>
            <a:srgbClr val="1629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28600" y="1874519"/>
            <a:ext cx="2788920" cy="64008"/>
          </a:xfrm>
          <a:prstGeom prst="rect">
            <a:avLst/>
          </a:prstGeom>
          <a:solidFill>
            <a:srgbClr val="22C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28600" y="1965960"/>
            <a:ext cx="27889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600" b="1" i="0">
                <a:solidFill>
                  <a:srgbClr val="22C55E"/>
                </a:solidFill>
              </a:rPr>
              <a:t>47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0040" y="2944368"/>
            <a:ext cx="26060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94A3B8"/>
                </a:solidFill>
              </a:rPr>
              <a:t>testes automatizados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218688" y="1874519"/>
            <a:ext cx="2788920" cy="1737360"/>
          </a:xfrm>
          <a:prstGeom prst="rect">
            <a:avLst/>
          </a:prstGeom>
          <a:solidFill>
            <a:srgbClr val="1629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218688" y="1874519"/>
            <a:ext cx="2788920" cy="64008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218688" y="1965960"/>
            <a:ext cx="27889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600" b="1" i="0">
                <a:solidFill>
                  <a:srgbClr val="F59E0B"/>
                </a:solidFill>
              </a:rPr>
              <a:t>80%+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310128" y="2944368"/>
            <a:ext cx="26060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94A3B8"/>
                </a:solidFill>
              </a:rPr>
              <a:t>cobertura de domínio (JaCoCo)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208776" y="1874519"/>
            <a:ext cx="2788920" cy="1737360"/>
          </a:xfrm>
          <a:prstGeom prst="rect">
            <a:avLst/>
          </a:prstGeom>
          <a:solidFill>
            <a:srgbClr val="1629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208776" y="1874519"/>
            <a:ext cx="2788920" cy="64008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208776" y="1965960"/>
            <a:ext cx="27889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600" b="1" i="0">
                <a:solidFill>
                  <a:srgbClr val="3B82F6"/>
                </a:solidFill>
              </a:rPr>
              <a:t>7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00216" y="2944368"/>
            <a:ext cx="26060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94A3B8"/>
                </a:solidFill>
              </a:rPr>
              <a:t>bounded contexts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198864" y="1874519"/>
            <a:ext cx="2788920" cy="1737360"/>
          </a:xfrm>
          <a:prstGeom prst="rect">
            <a:avLst/>
          </a:prstGeom>
          <a:solidFill>
            <a:srgbClr val="1629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9198864" y="1874519"/>
            <a:ext cx="2788920" cy="64008"/>
          </a:xfrm>
          <a:prstGeom prst="rect">
            <a:avLst/>
          </a:prstGeom>
          <a:solidFill>
            <a:srgbClr val="14B8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198864" y="1965960"/>
            <a:ext cx="27889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600" b="1" i="0">
                <a:solidFill>
                  <a:srgbClr val="14B8A6"/>
                </a:solidFill>
              </a:rPr>
              <a:t>8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290304" y="2944368"/>
            <a:ext cx="26060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94A3B8"/>
                </a:solidFill>
              </a:rPr>
              <a:t>endpoints de ciclo de vida da OS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28600" y="384048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94A3B8"/>
                </a:solidFill>
              </a:rPr>
              <a:t>Stack tecnológica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228600" y="4279392"/>
            <a:ext cx="1184148" cy="402336"/>
          </a:xfrm>
          <a:prstGeom prst="round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01752" y="4315968"/>
            <a:ext cx="1037844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Java 21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549908" y="4279392"/>
            <a:ext cx="2418588" cy="402336"/>
          </a:xfrm>
          <a:prstGeom prst="roundRect">
            <a:avLst/>
          </a:prstGeom>
          <a:solidFill>
            <a:srgbClr val="22C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623060" y="4315968"/>
            <a:ext cx="2272284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Spring Boot 3.4.5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105656" y="4279392"/>
            <a:ext cx="1924812" cy="402336"/>
          </a:xfrm>
          <a:prstGeom prst="roundRect">
            <a:avLst/>
          </a:prstGeom>
          <a:solidFill>
            <a:srgbClr val="14B8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178808" y="4315968"/>
            <a:ext cx="1778508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PostgreSQL 16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167628" y="4279392"/>
            <a:ext cx="1060704" cy="402336"/>
          </a:xfrm>
          <a:prstGeom prst="roundRect">
            <a:avLst/>
          </a:prstGeom>
          <a:solidFill>
            <a:srgbClr val="CC14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240780" y="4315968"/>
            <a:ext cx="9144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Flyway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7365492" y="4279392"/>
            <a:ext cx="2665476" cy="402336"/>
          </a:xfrm>
          <a:prstGeom prst="roundRect">
            <a:avLst/>
          </a:prstGeom>
          <a:solidFill>
            <a:srgbClr val="FB92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438644" y="4315968"/>
            <a:ext cx="2519172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JWT + Refresh Token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228600" y="4791456"/>
            <a:ext cx="2048256" cy="402336"/>
          </a:xfrm>
          <a:prstGeom prst="round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301752" y="4828032"/>
            <a:ext cx="1901952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Docker Compose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2414016" y="4791456"/>
            <a:ext cx="3282696" cy="402336"/>
          </a:xfrm>
          <a:prstGeom prst="round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487168" y="4828032"/>
            <a:ext cx="3136392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JUnit 5 + Testcontainers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5833872" y="4791456"/>
            <a:ext cx="2295144" cy="402336"/>
          </a:xfrm>
          <a:prstGeom prst="roundRect">
            <a:avLst/>
          </a:prstGeom>
          <a:solidFill>
            <a:srgbClr val="F43F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907024" y="4828032"/>
            <a:ext cx="21488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OWASP Dep. Check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8266176" y="4791456"/>
            <a:ext cx="2542032" cy="402336"/>
          </a:xfrm>
          <a:prstGeom prst="round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339328" y="4828032"/>
            <a:ext cx="2395728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MapStruct + Lombok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228600" y="5303520"/>
            <a:ext cx="2418588" cy="402336"/>
          </a:xfrm>
          <a:prstGeom prst="roundRect">
            <a:avLst/>
          </a:prstGeom>
          <a:solidFill>
            <a:srgbClr val="22C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301752" y="5340096"/>
            <a:ext cx="2272284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Springdoc OpenAPI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D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64008" cy="68580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28600" y="137160"/>
            <a:ext cx="1280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400" b="1" i="0">
                <a:solidFill>
                  <a:srgbClr val="F59E0B"/>
                </a:solidFill>
              </a:rPr>
              <a:t>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28600" y="868680"/>
            <a:ext cx="9144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</a:rPr>
              <a:t>Event Storming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28600" y="1463040"/>
            <a:ext cx="114300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94A3B8"/>
                </a:solidFill>
              </a:rPr>
              <a:t>event_storming.drawio.pdf  ·  7 bounded contexts  ·  10 eventos  ·  5 políticas  ·  4 hot spots</a:t>
            </a:r>
          </a:p>
        </p:txBody>
      </p:sp>
      <p:sp>
        <p:nvSpPr>
          <p:cNvPr id="7" name="Rectangle 6"/>
          <p:cNvSpPr/>
          <p:nvPr/>
        </p:nvSpPr>
        <p:spPr>
          <a:xfrm>
            <a:off x="228600" y="3090672"/>
            <a:ext cx="11750040" cy="45720"/>
          </a:xfrm>
          <a:prstGeom prst="rect">
            <a:avLst/>
          </a:prstGeom>
          <a:solidFill>
            <a:srgbClr val="94A3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228600" y="1737360"/>
            <a:ext cx="1572768" cy="1261872"/>
          </a:xfrm>
          <a:prstGeom prst="roundRect">
            <a:avLst/>
          </a:prstGeom>
          <a:solidFill>
            <a:srgbClr val="FB92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74320" y="1783080"/>
            <a:ext cx="1481328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Atendimento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23544" y="2999232"/>
            <a:ext cx="201168" cy="201168"/>
          </a:xfrm>
          <a:prstGeom prst="roundRect">
            <a:avLst/>
          </a:prstGeom>
          <a:solidFill>
            <a:srgbClr val="FB92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28600" y="3218688"/>
            <a:ext cx="1572768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94A3B8"/>
                </a:solidFill>
              </a:rPr>
              <a:t>AG: Cliente
AG: Veículo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938528" y="1737360"/>
            <a:ext cx="1572768" cy="1261872"/>
          </a:xfrm>
          <a:prstGeom prst="round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984248" y="1783080"/>
            <a:ext cx="1481328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Diagnóstico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633472" y="2999232"/>
            <a:ext cx="201168" cy="201168"/>
          </a:xfrm>
          <a:prstGeom prst="round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938528" y="3218688"/>
            <a:ext cx="1572768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94A3B8"/>
                </a:solidFill>
              </a:rPr>
              <a:t>AG: OS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648456" y="1737360"/>
            <a:ext cx="1572768" cy="1261872"/>
          </a:xfrm>
          <a:prstGeom prst="round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694176" y="1783080"/>
            <a:ext cx="1481328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Gestão de
Serviços/Peças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343400" y="2999232"/>
            <a:ext cx="201168" cy="201168"/>
          </a:xfrm>
          <a:prstGeom prst="round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648456" y="3218688"/>
            <a:ext cx="1572768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94A3B8"/>
                </a:solidFill>
              </a:rPr>
              <a:t>AG: OS
AG: Peça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358384" y="1737360"/>
            <a:ext cx="1572768" cy="1261872"/>
          </a:xfrm>
          <a:prstGeom prst="roundRect">
            <a:avLst/>
          </a:prstGeom>
          <a:solidFill>
            <a:srgbClr val="14B8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404104" y="1783080"/>
            <a:ext cx="1481328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Orçamento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053328" y="2999232"/>
            <a:ext cx="201168" cy="201168"/>
          </a:xfrm>
          <a:prstGeom prst="roundRect">
            <a:avLst/>
          </a:prstGeom>
          <a:solidFill>
            <a:srgbClr val="14B8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358384" y="3218688"/>
            <a:ext cx="1572768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94A3B8"/>
                </a:solidFill>
              </a:rPr>
              <a:t>AG: OS
SE: Notificação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068312" y="1737360"/>
            <a:ext cx="1572768" cy="1261872"/>
          </a:xfrm>
          <a:prstGeom prst="roundRect">
            <a:avLst/>
          </a:prstGeom>
          <a:solidFill>
            <a:srgbClr val="F43F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114032" y="1783080"/>
            <a:ext cx="1481328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Aprovação /
Cancelamento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763256" y="2999232"/>
            <a:ext cx="201168" cy="201168"/>
          </a:xfrm>
          <a:prstGeom prst="roundRect">
            <a:avLst/>
          </a:prstGeom>
          <a:solidFill>
            <a:srgbClr val="F43F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068312" y="3218688"/>
            <a:ext cx="1572768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94A3B8"/>
                </a:solidFill>
              </a:rPr>
              <a:t>AG: OS
AG: Peça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778240" y="1737360"/>
            <a:ext cx="1572768" cy="1261872"/>
          </a:xfrm>
          <a:prstGeom prst="roundRect">
            <a:avLst/>
          </a:prstGeom>
          <a:solidFill>
            <a:srgbClr val="22C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823960" y="1783080"/>
            <a:ext cx="1481328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Execução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9473184" y="2999232"/>
            <a:ext cx="201168" cy="201168"/>
          </a:xfrm>
          <a:prstGeom prst="roundRect">
            <a:avLst/>
          </a:prstGeom>
          <a:solidFill>
            <a:srgbClr val="22C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778240" y="3218688"/>
            <a:ext cx="1572768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94A3B8"/>
                </a:solidFill>
              </a:rPr>
              <a:t>AG: OS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0488168" y="1737360"/>
            <a:ext cx="1572768" cy="1261872"/>
          </a:xfrm>
          <a:prstGeom prst="round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0533888" y="1783080"/>
            <a:ext cx="1481328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Entrega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11183112" y="2999232"/>
            <a:ext cx="201168" cy="201168"/>
          </a:xfrm>
          <a:prstGeom prst="round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0488168" y="3218688"/>
            <a:ext cx="1572768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94A3B8"/>
                </a:solidFill>
              </a:rPr>
              <a:t>AG: OS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28600" y="3931920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94A3B8"/>
                </a:solidFill>
              </a:rPr>
              <a:t>← linha do tempo do atendimento →</a:t>
            </a:r>
          </a:p>
        </p:txBody>
      </p:sp>
      <p:sp>
        <p:nvSpPr>
          <p:cNvPr id="37" name="Rectangle 36"/>
          <p:cNvSpPr/>
          <p:nvPr/>
        </p:nvSpPr>
        <p:spPr>
          <a:xfrm>
            <a:off x="228600" y="4297680"/>
            <a:ext cx="11750040" cy="1417320"/>
          </a:xfrm>
          <a:prstGeom prst="rect">
            <a:avLst/>
          </a:prstGeom>
          <a:solidFill>
            <a:srgbClr val="1629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228600" y="4297680"/>
            <a:ext cx="11750040" cy="4572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365760" y="4343400"/>
            <a:ext cx="2743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59E0B"/>
                </a:solidFill>
              </a:rPr>
              <a:t>Fluxo principal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65760" y="4754880"/>
            <a:ext cx="1175004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B923C"/>
                </a:solidFill>
              </a:rPr>
              <a:t>OS Aberta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586484" y="4754880"/>
            <a:ext cx="254203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94A3B8"/>
                </a:solidFill>
              </a:rPr>
              <a:t>→ Diagnóstico Iniciado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174236" y="4754880"/>
            <a:ext cx="2226564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94A3B8"/>
                </a:solidFill>
              </a:rPr>
              <a:t>→ Itens Adicionados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446520" y="4754880"/>
            <a:ext cx="212140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4B8A6"/>
                </a:solidFill>
              </a:rPr>
              <a:t>→ Orçamento Gerado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613648" y="4754880"/>
            <a:ext cx="12801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22C55E"/>
                </a:solidFill>
              </a:rPr>
              <a:t>→ Aprovado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939528" y="4754880"/>
            <a:ext cx="2226564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3B82F6"/>
                </a:solidFill>
              </a:rPr>
              <a:t>→ Execução Iniciada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2211812" y="4754880"/>
            <a:ext cx="18059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22C55E"/>
                </a:solidFill>
              </a:rPr>
              <a:t>→ OS Finalizada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4063472" y="4754880"/>
            <a:ext cx="12801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59E0B"/>
                </a:solidFill>
              </a:rPr>
              <a:t>→ Entregue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65760" y="516636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FBBF24"/>
                </a:solidFill>
              </a:rPr>
              <a:t>⚠  Alt: Orçamento Reprovado → POL: Cancelar OS e Estornar Estoque → OS Cancelada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228600" y="6446520"/>
            <a:ext cx="11750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F43F5E"/>
                </a:solidFill>
              </a:rPr>
              <a:t>Hot Spots: PA1 Mecânico disponível?  ·  PA2 Canal de notificação?  ·  PA3 Prazo aprovação?  ·  PA4 Permissões por papel?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D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64008" cy="685800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28600" y="137160"/>
            <a:ext cx="1280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400" b="1" i="0">
                <a:solidFill>
                  <a:srgbClr val="3B82F6"/>
                </a:solidFill>
              </a:rPr>
              <a:t>04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28600" y="868680"/>
            <a:ext cx="9144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</a:rPr>
              <a:t>Context Map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28600" y="1463040"/>
            <a:ext cx="114300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94A3B8"/>
                </a:solidFill>
              </a:rPr>
              <a:t>ContextMap.drawio.pdf  ·  padrões: Customer-Supplier · Shared Kernel · ACL · OHS</a:t>
            </a:r>
          </a:p>
        </p:txBody>
      </p:sp>
      <p:sp>
        <p:nvSpPr>
          <p:cNvPr id="7" name="Rectangle 6"/>
          <p:cNvSpPr/>
          <p:nvPr/>
        </p:nvSpPr>
        <p:spPr>
          <a:xfrm>
            <a:off x="4709160" y="1828800"/>
            <a:ext cx="2743200" cy="749808"/>
          </a:xfrm>
          <a:prstGeom prst="rect">
            <a:avLst/>
          </a:prstGeom>
          <a:solidFill>
            <a:srgbClr val="1E3A5F"/>
          </a:solidFill>
          <a:ln w="1905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4800600" y="1892807"/>
            <a:ext cx="566928" cy="320040"/>
          </a:xfrm>
          <a:prstGeom prst="round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873752" y="1929383"/>
            <a:ext cx="420624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0D172A"/>
                </a:solidFill>
              </a:rPr>
              <a:t>OHS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40680" y="1938528"/>
            <a:ext cx="1920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Segurança (JWT)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28600" y="2880360"/>
            <a:ext cx="1847088" cy="868680"/>
          </a:xfrm>
          <a:prstGeom prst="rect">
            <a:avLst/>
          </a:prstGeom>
          <a:solidFill>
            <a:srgbClr val="162944"/>
          </a:solidFill>
          <a:ln w="19050">
            <a:solidFill>
              <a:srgbClr val="FB92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01752" y="2926080"/>
            <a:ext cx="1700784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B923C"/>
                </a:solidFill>
              </a:rPr>
              <a:t>Atendimento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084831" y="3127248"/>
            <a:ext cx="25603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0">
                <a:solidFill>
                  <a:srgbClr val="94A3B8"/>
                </a:solidFill>
              </a:rPr>
              <a:t>U→D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240280" y="2880360"/>
            <a:ext cx="1847088" cy="868680"/>
          </a:xfrm>
          <a:prstGeom prst="rect">
            <a:avLst/>
          </a:prstGeom>
          <a:solidFill>
            <a:srgbClr val="162944"/>
          </a:solidFill>
          <a:ln w="19050"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313432" y="2926080"/>
            <a:ext cx="1700784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3B82F6"/>
                </a:solidFill>
              </a:rPr>
              <a:t>Diagnóstico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096511" y="3127248"/>
            <a:ext cx="25603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0">
                <a:solidFill>
                  <a:srgbClr val="94A3B8"/>
                </a:solidFill>
              </a:rPr>
              <a:t>U→D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251960" y="2880360"/>
            <a:ext cx="1847088" cy="868680"/>
          </a:xfrm>
          <a:prstGeom prst="rect">
            <a:avLst/>
          </a:prstGeom>
          <a:solidFill>
            <a:srgbClr val="162944"/>
          </a:solidFill>
          <a:ln w="19050">
            <a:solidFill>
              <a:srgbClr val="14B8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325112" y="2926080"/>
            <a:ext cx="1700784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14B8A6"/>
                </a:solidFill>
              </a:rPr>
              <a:t>Orçamento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108191" y="3127248"/>
            <a:ext cx="25603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0">
                <a:solidFill>
                  <a:srgbClr val="94A3B8"/>
                </a:solidFill>
              </a:rPr>
              <a:t>U→D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263640" y="2880360"/>
            <a:ext cx="1847088" cy="868680"/>
          </a:xfrm>
          <a:prstGeom prst="rect">
            <a:avLst/>
          </a:prstGeom>
          <a:solidFill>
            <a:srgbClr val="162944"/>
          </a:solidFill>
          <a:ln w="19050">
            <a:solidFill>
              <a:srgbClr val="F43F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336792" y="2926080"/>
            <a:ext cx="1700784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43F5E"/>
                </a:solidFill>
              </a:rPr>
              <a:t>Aprovação /
Cancelamento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119871" y="3127248"/>
            <a:ext cx="25603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0">
                <a:solidFill>
                  <a:srgbClr val="94A3B8"/>
                </a:solidFill>
              </a:rPr>
              <a:t>U→D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275320" y="2880360"/>
            <a:ext cx="1847088" cy="868680"/>
          </a:xfrm>
          <a:prstGeom prst="rect">
            <a:avLst/>
          </a:prstGeom>
          <a:solidFill>
            <a:srgbClr val="162944"/>
          </a:solidFill>
          <a:ln w="19050"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348472" y="2926080"/>
            <a:ext cx="1700784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22C55E"/>
                </a:solidFill>
              </a:rPr>
              <a:t>Execução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131551" y="3127248"/>
            <a:ext cx="25603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0">
                <a:solidFill>
                  <a:srgbClr val="94A3B8"/>
                </a:solidFill>
              </a:rPr>
              <a:t>U→D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0287000" y="2880360"/>
            <a:ext cx="1847088" cy="868680"/>
          </a:xfrm>
          <a:prstGeom prst="rect">
            <a:avLst/>
          </a:prstGeom>
          <a:solidFill>
            <a:srgbClr val="162944"/>
          </a:solidFill>
          <a:ln w="1905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360152" y="2926080"/>
            <a:ext cx="1700784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59E0B"/>
                </a:solidFill>
              </a:rPr>
              <a:t>Entrega</a:t>
            </a:r>
          </a:p>
        </p:txBody>
      </p:sp>
      <p:sp>
        <p:nvSpPr>
          <p:cNvPr id="28" name="Rectangle 27"/>
          <p:cNvSpPr/>
          <p:nvPr/>
        </p:nvSpPr>
        <p:spPr>
          <a:xfrm>
            <a:off x="2240280" y="4160520"/>
            <a:ext cx="1847088" cy="868680"/>
          </a:xfrm>
          <a:prstGeom prst="rect">
            <a:avLst/>
          </a:prstGeom>
          <a:solidFill>
            <a:srgbClr val="162944"/>
          </a:solidFill>
          <a:ln w="19050">
            <a:solidFill>
              <a:srgbClr val="14B8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2240280" y="4206240"/>
            <a:ext cx="1847088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14B8A6"/>
                </a:solidFill>
              </a:rPr>
              <a:t>Gestão de
Estoque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2240280" y="5102352"/>
            <a:ext cx="1847088" cy="320040"/>
          </a:xfrm>
          <a:prstGeom prst="roundRect">
            <a:avLst/>
          </a:prstGeom>
          <a:solidFill>
            <a:srgbClr val="0D40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313432" y="5138928"/>
            <a:ext cx="1700784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14B8A6"/>
                </a:solidFill>
              </a:rPr>
              <a:t>Shared Kernel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240280" y="4892040"/>
            <a:ext cx="184708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1">
                <a:solidFill>
                  <a:srgbClr val="94A3B8"/>
                </a:solidFill>
              </a:rPr>
              <a:t>↕ bidirecional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133087" y="4370832"/>
            <a:ext cx="1828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F43F5E"/>
                </a:solidFill>
              </a:rPr>
              <a:t>← ACL estorno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126480" y="4160520"/>
            <a:ext cx="1847088" cy="868680"/>
          </a:xfrm>
          <a:prstGeom prst="rect">
            <a:avLst/>
          </a:prstGeom>
          <a:solidFill>
            <a:srgbClr val="121222"/>
          </a:solidFill>
          <a:ln w="12700">
            <a:solidFill>
              <a:srgbClr val="94A3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126480" y="4206240"/>
            <a:ext cx="1847088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1">
                <a:solidFill>
                  <a:srgbClr val="94A3B8"/>
                </a:solidFill>
              </a:rPr>
              <a:t>Serviço de
Notificação (SE)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126480" y="5102352"/>
            <a:ext cx="1847088" cy="320040"/>
          </a:xfrm>
          <a:prstGeom prst="roundRect">
            <a:avLst/>
          </a:prstGeom>
          <a:solidFill>
            <a:srgbClr val="2222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199632" y="5138928"/>
            <a:ext cx="1700784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94A3B8"/>
                </a:solidFill>
              </a:rPr>
              <a:t>OHS + ACL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126480" y="4892040"/>
            <a:ext cx="184708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1">
                <a:solidFill>
                  <a:srgbClr val="F43F5E"/>
                </a:solidFill>
              </a:rPr>
              <a:t>↕ Hot Spot PA2</a:t>
            </a:r>
          </a:p>
        </p:txBody>
      </p:sp>
      <p:sp>
        <p:nvSpPr>
          <p:cNvPr id="39" name="Rectangle 38"/>
          <p:cNvSpPr/>
          <p:nvPr/>
        </p:nvSpPr>
        <p:spPr>
          <a:xfrm>
            <a:off x="8686800" y="1828800"/>
            <a:ext cx="3291840" cy="3931920"/>
          </a:xfrm>
          <a:prstGeom prst="rect">
            <a:avLst/>
          </a:prstGeom>
          <a:solidFill>
            <a:srgbClr val="1629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823960" y="1892807"/>
            <a:ext cx="30175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59E0B"/>
                </a:solidFill>
              </a:rPr>
              <a:t>Legenda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8823960" y="2359152"/>
            <a:ext cx="658368" cy="347472"/>
          </a:xfrm>
          <a:prstGeom prst="round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897112" y="2395728"/>
            <a:ext cx="51206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3B82F6"/>
                </a:solidFill>
              </a:rPr>
              <a:t>U→D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555480" y="2395728"/>
            <a:ext cx="23317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Customer-Supplier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8823960" y="2980944"/>
            <a:ext cx="658368" cy="347472"/>
          </a:xfrm>
          <a:prstGeom prst="round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8897112" y="3017520"/>
            <a:ext cx="51206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14B8A6"/>
                </a:solidFill>
              </a:rPr>
              <a:t>SK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555480" y="3017520"/>
            <a:ext cx="23317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Shared Kernel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8823960" y="3602736"/>
            <a:ext cx="658368" cy="347472"/>
          </a:xfrm>
          <a:prstGeom prst="round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8897112" y="3639312"/>
            <a:ext cx="51206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43F5E"/>
                </a:solidFill>
              </a:rPr>
              <a:t>ACL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555480" y="3639312"/>
            <a:ext cx="23317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Anti-Corruption Layer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8823960" y="4224528"/>
            <a:ext cx="658368" cy="347472"/>
          </a:xfrm>
          <a:prstGeom prst="round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8897112" y="4261104"/>
            <a:ext cx="51206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59E0B"/>
                </a:solidFill>
              </a:rPr>
              <a:t>OHS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555480" y="4261104"/>
            <a:ext cx="23317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Open Host Service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8823960" y="4846320"/>
            <a:ext cx="658368" cy="347472"/>
          </a:xfrm>
          <a:prstGeom prst="round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8897112" y="4882896"/>
            <a:ext cx="51206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94A3B8"/>
                </a:solidFill>
              </a:rPr>
              <a:t>SE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9555480" y="4882896"/>
            <a:ext cx="23317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Sistema Externo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D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64008" cy="6858000"/>
          </a:xfrm>
          <a:prstGeom prst="rect">
            <a:avLst/>
          </a:prstGeom>
          <a:solidFill>
            <a:srgbClr val="14B8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28600" y="137160"/>
            <a:ext cx="1280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400" b="1" i="0">
                <a:solidFill>
                  <a:srgbClr val="14B8A6"/>
                </a:solidFill>
              </a:rPr>
              <a:t>05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28600" y="868680"/>
            <a:ext cx="9144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</a:rPr>
              <a:t>Design Tático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28600" y="1463040"/>
            <a:ext cx="114300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94A3B8"/>
                </a:solidFill>
              </a:rPr>
              <a:t>Building blocks do DDD implementados no domínio da oficina (Evans, 2003)</a:t>
            </a:r>
          </a:p>
        </p:txBody>
      </p:sp>
      <p:sp>
        <p:nvSpPr>
          <p:cNvPr id="7" name="Rectangle 6"/>
          <p:cNvSpPr/>
          <p:nvPr/>
        </p:nvSpPr>
        <p:spPr>
          <a:xfrm>
            <a:off x="228600" y="1920240"/>
            <a:ext cx="3767328" cy="4617720"/>
          </a:xfrm>
          <a:prstGeom prst="rect">
            <a:avLst/>
          </a:prstGeom>
          <a:solidFill>
            <a:srgbClr val="1629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28600" y="1920240"/>
            <a:ext cx="3767328" cy="64008"/>
          </a:xfrm>
          <a:prstGeom prst="rect">
            <a:avLst/>
          </a:prstGeom>
          <a:solidFill>
            <a:srgbClr val="FB92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93192" y="2011680"/>
            <a:ext cx="3438144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B923C"/>
                </a:solidFill>
              </a:rPr>
              <a:t>Value Objects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93192" y="2514600"/>
            <a:ext cx="343814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</a:rPr>
              <a:t>CpfCnpj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93192" y="2816352"/>
            <a:ext cx="343814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</a:rPr>
              <a:t>Dígitos verificadores, sem UUID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93192" y="3118104"/>
            <a:ext cx="343814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94A3B8"/>
                </a:solidFill>
              </a:rPr>
              <a:t/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93192" y="3419856"/>
            <a:ext cx="343814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</a:rPr>
              <a:t>Placa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93192" y="3721608"/>
            <a:ext cx="343814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</a:rPr>
              <a:t>Antigo ABC-1234 e Mercosul ABC1D23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93192" y="4023360"/>
            <a:ext cx="343814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94A3B8"/>
                </a:solidFill>
              </a:rPr>
              <a:t/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93192" y="4325112"/>
            <a:ext cx="343814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</a:rPr>
              <a:t>StatusOS (enum)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93192" y="4626864"/>
            <a:ext cx="343814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</a:rPr>
              <a:t>validarTransicaoPara() fecha transições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93192" y="4928616"/>
            <a:ext cx="343814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94A3B8"/>
                </a:solidFill>
              </a:rPr>
              <a:t/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93192" y="5230368"/>
            <a:ext cx="343814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FB923C"/>
                </a:solidFill>
              </a:rPr>
              <a:t>Imutáveis · identificados pelo valor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224528" y="1920240"/>
            <a:ext cx="3767328" cy="4617720"/>
          </a:xfrm>
          <a:prstGeom prst="rect">
            <a:avLst/>
          </a:prstGeom>
          <a:solidFill>
            <a:srgbClr val="1629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224528" y="1920240"/>
            <a:ext cx="3767328" cy="64008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389120" y="2011680"/>
            <a:ext cx="3438144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3B82F6"/>
                </a:solidFill>
              </a:rPr>
              <a:t>Entities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389120" y="2514600"/>
            <a:ext cx="343814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</a:rPr>
              <a:t>Cliente  — UUID id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389120" y="2816352"/>
            <a:ext cx="343814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</a:rPr>
              <a:t>CPF/CNPJ é atributo, não identidade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389120" y="3118104"/>
            <a:ext cx="343814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94A3B8"/>
                </a:solidFill>
              </a:rPr>
              <a:t/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389120" y="3419856"/>
            <a:ext cx="343814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</a:rPr>
              <a:t>Veículo  — UUID id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389120" y="3721608"/>
            <a:ext cx="343814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</a:rPr>
              <a:t>Placa é atributo de domínio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89120" y="4023360"/>
            <a:ext cx="343814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94A3B8"/>
                </a:solidFill>
              </a:rPr>
              <a:t/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89120" y="4325112"/>
            <a:ext cx="343814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</a:rPr>
              <a:t>Serviço  — UUID id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389120" y="4626864"/>
            <a:ext cx="343814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</a:rPr>
              <a:t>Peça  — UUID id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389120" y="4928616"/>
            <a:ext cx="343814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94A3B8"/>
                </a:solidFill>
              </a:rPr>
              <a:t/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389120" y="5230368"/>
            <a:ext cx="343814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3B82F6"/>
                </a:solidFill>
              </a:rPr>
              <a:t>Estado mutável · UUID persistente</a:t>
            </a:r>
          </a:p>
        </p:txBody>
      </p:sp>
      <p:sp>
        <p:nvSpPr>
          <p:cNvPr id="33" name="Rectangle 32"/>
          <p:cNvSpPr/>
          <p:nvPr/>
        </p:nvSpPr>
        <p:spPr>
          <a:xfrm>
            <a:off x="8220456" y="1920240"/>
            <a:ext cx="3767328" cy="4617720"/>
          </a:xfrm>
          <a:prstGeom prst="rect">
            <a:avLst/>
          </a:prstGeom>
          <a:solidFill>
            <a:srgbClr val="1629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8220456" y="1920240"/>
            <a:ext cx="3767328" cy="64008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385048" y="2011680"/>
            <a:ext cx="3438144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59E0B"/>
                </a:solidFill>
              </a:rPr>
              <a:t>Aggregate Root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385048" y="2514600"/>
            <a:ext cx="343814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</a:rPr>
              <a:t>OrdemServico  (único AG)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385048" y="2816352"/>
            <a:ext cx="343814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94A3B8"/>
                </a:solidFill>
              </a:rPr>
              <a:t/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385048" y="3118104"/>
            <a:ext cx="343814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94A3B8"/>
                </a:solidFill>
              </a:rPr>
              <a:t>├─ ItemServico  (interno)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385048" y="3419856"/>
            <a:ext cx="343814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94A3B8"/>
                </a:solidFill>
              </a:rPr>
              <a:t>   snapshot de preço do Serviço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385048" y="3721608"/>
            <a:ext cx="343814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94A3B8"/>
                </a:solidFill>
              </a:rPr>
              <a:t/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385048" y="4023360"/>
            <a:ext cx="343814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94A3B8"/>
                </a:solidFill>
              </a:rPr>
              <a:t>├─ ItemPeca  (interno)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385048" y="4325112"/>
            <a:ext cx="343814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94A3B8"/>
                </a:solidFill>
              </a:rPr>
              <a:t>   snapshot de preço da Peça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385048" y="4626864"/>
            <a:ext cx="343814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94A3B8"/>
                </a:solidFill>
              </a:rPr>
              <a:t/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385048" y="4928616"/>
            <a:ext cx="343814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94A3B8"/>
                </a:solidFill>
              </a:rPr>
              <a:t>└─ StatusOS  (VO interno)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385048" y="5230368"/>
            <a:ext cx="343814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F59E0B"/>
                </a:solidFill>
              </a:rPr>
              <a:t>Acesso somente via OrdemServicoRepository</a:t>
            </a:r>
          </a:p>
        </p:txBody>
      </p:sp>
      <p:sp>
        <p:nvSpPr>
          <p:cNvPr id="46" name="Rectangle 45"/>
          <p:cNvSpPr/>
          <p:nvPr/>
        </p:nvSpPr>
        <p:spPr>
          <a:xfrm>
            <a:off x="0" y="6473952"/>
            <a:ext cx="12188952" cy="384048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365760" y="6492240"/>
            <a:ext cx="11795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59E0B"/>
                </a:solidFill>
              </a:rPr>
              <a:t>⚡  Use Cases:  AdicionarPecaAOSUseCase  ·  ReprovarOrcamentoUseCase  ·  GerarOrcamentoUseCase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D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64008" cy="6858000"/>
          </a:xfrm>
          <a:prstGeom prst="rect">
            <a:avLst/>
          </a:prstGeom>
          <a:solidFill>
            <a:srgbClr val="22C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28600" y="137160"/>
            <a:ext cx="1280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400" b="1" i="0">
                <a:solidFill>
                  <a:srgbClr val="22C55E"/>
                </a:solidFill>
              </a:rPr>
              <a:t>06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28600" y="868680"/>
            <a:ext cx="9144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</a:rPr>
              <a:t>Arquitetura em Camadas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28600" y="1463040"/>
            <a:ext cx="114300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94A3B8"/>
                </a:solidFill>
              </a:rPr>
              <a:t>Clean Architecture · dependências apontam para o domínio · testável por camada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965960"/>
            <a:ext cx="12188952" cy="1207008"/>
          </a:xfrm>
          <a:prstGeom prst="rect">
            <a:avLst/>
          </a:prstGeom>
          <a:solidFill>
            <a:srgbClr val="162944"/>
          </a:solidFill>
          <a:ln w="19050"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0" y="1965960"/>
            <a:ext cx="64008" cy="1207008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01168" y="2057400"/>
            <a:ext cx="2926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7C3AED"/>
                </a:solidFill>
              </a:rPr>
              <a:t>Infrastructure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01168" y="2532888"/>
            <a:ext cx="29260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94A3B8"/>
                </a:solidFill>
              </a:rPr>
              <a:t>infrastructure/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474720" y="2075688"/>
            <a:ext cx="8394192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Spring Boot · JPA · Flyway · Security
REST Controllers · LogNotificacaoService (ACL stub)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68680" y="3291839"/>
            <a:ext cx="10451592" cy="1207008"/>
          </a:xfrm>
          <a:prstGeom prst="rect">
            <a:avLst/>
          </a:prstGeom>
          <a:solidFill>
            <a:srgbClr val="162944"/>
          </a:solidFill>
          <a:ln w="19050"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68680" y="3291839"/>
            <a:ext cx="64008" cy="1207008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69848" y="3383279"/>
            <a:ext cx="2926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3B82F6"/>
                </a:solidFill>
              </a:rPr>
              <a:t>Application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69848" y="3858767"/>
            <a:ext cx="29260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94A3B8"/>
                </a:solidFill>
              </a:rPr>
              <a:t>application/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43400" y="3401567"/>
            <a:ext cx="6656832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Use Cases · Ports de entrada e saída
Orquestra o domínio sem conhecer HTTP ou JPA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737360" y="4617720"/>
            <a:ext cx="8714232" cy="1207008"/>
          </a:xfrm>
          <a:prstGeom prst="rect">
            <a:avLst/>
          </a:prstGeom>
          <a:solidFill>
            <a:srgbClr val="162944"/>
          </a:solidFill>
          <a:ln w="1905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1737360" y="4617720"/>
            <a:ext cx="64008" cy="1207008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938528" y="4709160"/>
            <a:ext cx="2926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F59E0B"/>
                </a:solidFill>
              </a:rPr>
              <a:t>Domain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938528" y="5184648"/>
            <a:ext cx="29260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94A3B8"/>
                </a:solidFill>
              </a:rPr>
              <a:t>domain/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212080" y="4727448"/>
            <a:ext cx="4919472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Entidades · Value Objects · Aggregates
Exceções · Interfaces de Repositório
Puro Java — zero dependência de framework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28600" y="521208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94A3B8"/>
                </a:solidFill>
              </a:rPr>
              <a:t>⬆  regra de dependência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28600" y="5623560"/>
            <a:ext cx="11430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94A3B8"/>
                </a:solidFill>
              </a:rPr>
              <a:t>Verificável empiricamente: testes de domínio executam sem Spring Context (ms). JaCoCo enforce 80%+ em domain.* a cada build.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D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64008" cy="68580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28600" y="137160"/>
            <a:ext cx="1280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400" b="1" i="0">
                <a:solidFill>
                  <a:srgbClr val="F59E0B"/>
                </a:solidFill>
              </a:rPr>
              <a:t>07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28600" y="868680"/>
            <a:ext cx="9144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</a:rPr>
              <a:t>Ciclo de Vida da Ordem de Serviço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28600" y="1463040"/>
            <a:ext cx="114300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94A3B8"/>
                </a:solidFill>
              </a:rPr>
              <a:t>Invariante central: OS só avança — nunca retrocede. Validado em StatusOS.validarTransicaoPara()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74320" y="1691640"/>
            <a:ext cx="1810512" cy="1051560"/>
          </a:xfrm>
          <a:prstGeom prst="roundRect">
            <a:avLst/>
          </a:prstGeom>
          <a:solidFill>
            <a:srgbClr val="162944"/>
          </a:solidFill>
          <a:ln w="19050">
            <a:solidFill>
              <a:srgbClr val="FB92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74320" y="1737360"/>
            <a:ext cx="1810512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B923C"/>
                </a:solidFill>
              </a:rPr>
              <a:t>Recebida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084832" y="2011680"/>
            <a:ext cx="21031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94A3B8"/>
                </a:solidFill>
              </a:rPr>
              <a:t>→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267712" y="1691640"/>
            <a:ext cx="1810512" cy="1051560"/>
          </a:xfrm>
          <a:prstGeom prst="roundRect">
            <a:avLst/>
          </a:prstGeom>
          <a:solidFill>
            <a:srgbClr val="162944"/>
          </a:solidFill>
          <a:ln w="19050"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267712" y="1737360"/>
            <a:ext cx="1810512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3B82F6"/>
                </a:solidFill>
              </a:rPr>
              <a:t>Em
Diagnóstico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078224" y="2011680"/>
            <a:ext cx="21031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94A3B8"/>
                </a:solidFill>
              </a:rPr>
              <a:t>→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261104" y="1691640"/>
            <a:ext cx="1810512" cy="1051560"/>
          </a:xfrm>
          <a:prstGeom prst="roundRect">
            <a:avLst/>
          </a:prstGeom>
          <a:solidFill>
            <a:srgbClr val="162944"/>
          </a:solidFill>
          <a:ln w="1905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261104" y="1737360"/>
            <a:ext cx="1810512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59E0B"/>
                </a:solidFill>
              </a:rPr>
              <a:t>Aguardando
Aprovação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071616" y="2011680"/>
            <a:ext cx="21031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94A3B8"/>
                </a:solidFill>
              </a:rPr>
              <a:t>→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54496" y="1691640"/>
            <a:ext cx="1810512" cy="1051560"/>
          </a:xfrm>
          <a:prstGeom prst="roundRect">
            <a:avLst/>
          </a:prstGeom>
          <a:solidFill>
            <a:srgbClr val="162944"/>
          </a:solidFill>
          <a:ln w="19050"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254496" y="1737360"/>
            <a:ext cx="1810512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22C55E"/>
                </a:solidFill>
              </a:rPr>
              <a:t>Em
Execução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65008" y="2011680"/>
            <a:ext cx="21031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94A3B8"/>
                </a:solidFill>
              </a:rPr>
              <a:t>→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247888" y="1691640"/>
            <a:ext cx="1810512" cy="1051560"/>
          </a:xfrm>
          <a:prstGeom prst="roundRect">
            <a:avLst/>
          </a:prstGeom>
          <a:solidFill>
            <a:srgbClr val="162944"/>
          </a:solidFill>
          <a:ln w="19050">
            <a:solidFill>
              <a:srgbClr val="14B8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247888" y="1737360"/>
            <a:ext cx="1810512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14B8A6"/>
                </a:solidFill>
              </a:rPr>
              <a:t>Finalizada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058400" y="2011680"/>
            <a:ext cx="21031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94A3B8"/>
                </a:solidFill>
              </a:rPr>
              <a:t>→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0241280" y="1691640"/>
            <a:ext cx="1810512" cy="1051560"/>
          </a:xfrm>
          <a:prstGeom prst="roundRect">
            <a:avLst/>
          </a:prstGeom>
          <a:solidFill>
            <a:srgbClr val="162944"/>
          </a:solidFill>
          <a:ln w="19050"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241280" y="1737360"/>
            <a:ext cx="1810512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22C55E"/>
                </a:solidFill>
              </a:rPr>
              <a:t>Entregue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212080" y="3154680"/>
            <a:ext cx="1920240" cy="960120"/>
          </a:xfrm>
          <a:prstGeom prst="roundRect">
            <a:avLst/>
          </a:prstGeom>
          <a:solidFill>
            <a:srgbClr val="162944"/>
          </a:solidFill>
          <a:ln w="19050">
            <a:solidFill>
              <a:srgbClr val="F43F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212080" y="3218688"/>
            <a:ext cx="1920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43F5E"/>
                </a:solidFill>
              </a:rPr>
              <a:t>Cancelada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846320" y="2788920"/>
            <a:ext cx="26517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1">
                <a:solidFill>
                  <a:srgbClr val="F43F5E"/>
                </a:solidFill>
              </a:rPr>
              <a:t>↓ reprovação + estorno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28600" y="4343400"/>
            <a:ext cx="45720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94A3B8"/>
                </a:solidFill>
              </a:rPr>
              <a:t>Endpoints do ciclo de vida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28600" y="4828032"/>
            <a:ext cx="30175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4B8A6"/>
                </a:solidFill>
              </a:rPr>
              <a:t>POST /api/ordens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291840" y="4828032"/>
            <a:ext cx="26517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</a:rPr>
              <a:t>— Abre OS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28600" y="5266944"/>
            <a:ext cx="30175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4B8A6"/>
                </a:solidFill>
              </a:rPr>
              <a:t>POST …/iniciar-diagnostico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291840" y="5266944"/>
            <a:ext cx="26517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</a:rPr>
              <a:t>— Inicia diagnóstico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28600" y="5705856"/>
            <a:ext cx="30175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4B8A6"/>
                </a:solidFill>
              </a:rPr>
              <a:t>POST …/servicos + /pecas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291840" y="5705856"/>
            <a:ext cx="26517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</a:rPr>
              <a:t>— Adiciona itens (snapshot de preço; peça: decrementa estoque)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28600" y="6144768"/>
            <a:ext cx="30175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4B8A6"/>
                </a:solidFill>
              </a:rPr>
              <a:t>POST …/gerar-orcamento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291840" y="6144768"/>
            <a:ext cx="26517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</a:rPr>
              <a:t>— Gera orçamento e notifica cliente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263640" y="4828032"/>
            <a:ext cx="30175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4B8A6"/>
                </a:solidFill>
              </a:rPr>
              <a:t>POST …/aprovar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326880" y="4828032"/>
            <a:ext cx="26517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</a:rPr>
              <a:t>— Aprova → Em Execução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263640" y="5266944"/>
            <a:ext cx="30175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4B8A6"/>
                </a:solidFill>
              </a:rPr>
              <a:t>POST …/concluir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326880" y="5266944"/>
            <a:ext cx="26517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</a:rPr>
              <a:t>— Conclui serviços → Finalizada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263640" y="5705856"/>
            <a:ext cx="30175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4B8A6"/>
                </a:solidFill>
              </a:rPr>
              <a:t>POST …/entregar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326880" y="5705856"/>
            <a:ext cx="26517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</a:rPr>
              <a:t>— Entrega → Entregue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263640" y="6144768"/>
            <a:ext cx="30175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4B8A6"/>
                </a:solidFill>
              </a:rPr>
              <a:t>POST …/reprovar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326880" y="6144768"/>
            <a:ext cx="26517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</a:rPr>
              <a:t>— Cancela + estorna estoque → Cancelada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D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64008" cy="6858000"/>
          </a:xfrm>
          <a:prstGeom prst="rect">
            <a:avLst/>
          </a:prstGeom>
          <a:solidFill>
            <a:srgbClr val="FB92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28600" y="137160"/>
            <a:ext cx="1280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400" b="1" i="0">
                <a:solidFill>
                  <a:srgbClr val="FB923C"/>
                </a:solidFill>
              </a:rPr>
              <a:t>08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28600" y="868680"/>
            <a:ext cx="9144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</a:rPr>
              <a:t>Segurança — JWT com Refresh Token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28600" y="1463040"/>
            <a:ext cx="114300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94A3B8"/>
                </a:solidFill>
              </a:rPr>
              <a:t>Autenticação stateless (access) + stateful (refresh) com rotação e detecção de token roubado</a:t>
            </a:r>
          </a:p>
        </p:txBody>
      </p:sp>
      <p:sp>
        <p:nvSpPr>
          <p:cNvPr id="7" name="Rectangle 6"/>
          <p:cNvSpPr/>
          <p:nvPr/>
        </p:nvSpPr>
        <p:spPr>
          <a:xfrm>
            <a:off x="228600" y="1783080"/>
            <a:ext cx="5760720" cy="2606040"/>
          </a:xfrm>
          <a:prstGeom prst="rect">
            <a:avLst/>
          </a:prstGeom>
          <a:solidFill>
            <a:srgbClr val="1629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28600" y="1783080"/>
            <a:ext cx="5760720" cy="64008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11480" y="1892807"/>
            <a:ext cx="539496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F59E0B"/>
                </a:solidFill>
              </a:rPr>
              <a:t>🔑  Access Token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1480" y="2450592"/>
            <a:ext cx="10058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94A3B8"/>
                </a:solidFill>
              </a:rPr>
              <a:t>Tipo: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2450592"/>
            <a:ext cx="44805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JWT · HMAC-SHA384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1480" y="2953512"/>
            <a:ext cx="10058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94A3B8"/>
                </a:solidFill>
              </a:rPr>
              <a:t>Validade: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08760" y="2953512"/>
            <a:ext cx="44805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15 minutos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11480" y="3456432"/>
            <a:ext cx="10058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94A3B8"/>
                </a:solidFill>
              </a:rPr>
              <a:t>Storage: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08760" y="3456432"/>
            <a:ext cx="44805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Stateless — validado pela assinatura, sem banco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263640" y="1783080"/>
            <a:ext cx="5760720" cy="2606040"/>
          </a:xfrm>
          <a:prstGeom prst="rect">
            <a:avLst/>
          </a:prstGeom>
          <a:solidFill>
            <a:srgbClr val="1629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263640" y="1783080"/>
            <a:ext cx="5760720" cy="64008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46520" y="1892807"/>
            <a:ext cx="539496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3B82F6"/>
                </a:solidFill>
              </a:rPr>
              <a:t>🔄  Refresh Token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46520" y="2450592"/>
            <a:ext cx="10058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94A3B8"/>
                </a:solidFill>
              </a:rPr>
              <a:t>Tipo: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543800" y="2450592"/>
            <a:ext cx="44805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UUID opaco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46520" y="2953512"/>
            <a:ext cx="10058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94A3B8"/>
                </a:solidFill>
              </a:rPr>
              <a:t>Validade: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543800" y="2953512"/>
            <a:ext cx="44805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7 dias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46520" y="3456432"/>
            <a:ext cx="10058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94A3B8"/>
                </a:solidFill>
              </a:rPr>
              <a:t>Storage: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543800" y="3456432"/>
            <a:ext cx="44805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Stateful — persiste na tabela refresh_tokens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28600" y="4617720"/>
            <a:ext cx="11750040" cy="1719072"/>
          </a:xfrm>
          <a:prstGeom prst="rect">
            <a:avLst/>
          </a:prstGeom>
          <a:solidFill>
            <a:srgbClr val="1629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228600" y="4617720"/>
            <a:ext cx="11750040" cy="45720"/>
          </a:xfrm>
          <a:prstGeom prst="rect">
            <a:avLst/>
          </a:prstGeom>
          <a:solidFill>
            <a:srgbClr val="FB92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4663440"/>
            <a:ext cx="45720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B923C"/>
                </a:solidFill>
              </a:rPr>
              <a:t>🔁  Rotação de Refresh Tokens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365760" y="5120640"/>
            <a:ext cx="1783080" cy="896112"/>
          </a:xfrm>
          <a:prstGeom prst="roundRect">
            <a:avLst/>
          </a:prstGeom>
          <a:solidFill>
            <a:srgbClr val="1E3A5F"/>
          </a:solidFill>
          <a:ln w="19050">
            <a:solidFill>
              <a:srgbClr val="14B8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11480" y="5148072"/>
            <a:ext cx="16916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14B8A6"/>
                </a:solidFill>
              </a:rPr>
              <a:t>Envia
refresh token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148840" y="5303520"/>
            <a:ext cx="182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94A3B8"/>
                </a:solidFill>
              </a:rPr>
              <a:t>→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2304288" y="5120640"/>
            <a:ext cx="1783080" cy="896112"/>
          </a:xfrm>
          <a:prstGeom prst="roundRect">
            <a:avLst/>
          </a:prstGeom>
          <a:solidFill>
            <a:srgbClr val="1E3A5F"/>
          </a:solidFill>
          <a:ln w="19050">
            <a:solidFill>
              <a:srgbClr val="14B8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2350008" y="5148072"/>
            <a:ext cx="16916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14B8A6"/>
                </a:solidFill>
              </a:rPr>
              <a:t>Verifica
no banco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087368" y="5303520"/>
            <a:ext cx="182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94A3B8"/>
                </a:solidFill>
              </a:rPr>
              <a:t>→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242816" y="5120640"/>
            <a:ext cx="1783080" cy="896112"/>
          </a:xfrm>
          <a:prstGeom prst="roundRect">
            <a:avLst/>
          </a:prstGeom>
          <a:solidFill>
            <a:srgbClr val="1E3A5F"/>
          </a:solidFill>
          <a:ln w="19050">
            <a:solidFill>
              <a:srgbClr val="14B8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288536" y="5148072"/>
            <a:ext cx="16916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14B8A6"/>
                </a:solidFill>
              </a:rPr>
              <a:t>Invalida
token antigo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025896" y="5303520"/>
            <a:ext cx="182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94A3B8"/>
                </a:solidFill>
              </a:rPr>
              <a:t>→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6181344" y="5120640"/>
            <a:ext cx="1783080" cy="896112"/>
          </a:xfrm>
          <a:prstGeom prst="roundRect">
            <a:avLst/>
          </a:prstGeom>
          <a:solidFill>
            <a:srgbClr val="1E3A5F"/>
          </a:solidFill>
          <a:ln w="19050">
            <a:solidFill>
              <a:srgbClr val="14B8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227064" y="5148072"/>
            <a:ext cx="16916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14B8A6"/>
                </a:solidFill>
              </a:rPr>
              <a:t>Emite novo
par access+refresh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964424" y="5303520"/>
            <a:ext cx="182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F43F5E"/>
                </a:solidFill>
              </a:rPr>
              <a:t>⚠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8119872" y="5120640"/>
            <a:ext cx="1783080" cy="896112"/>
          </a:xfrm>
          <a:prstGeom prst="roundRect">
            <a:avLst/>
          </a:prstGeom>
          <a:solidFill>
            <a:srgbClr val="1E3A5F"/>
          </a:solidFill>
          <a:ln w="19050">
            <a:solidFill>
              <a:srgbClr val="F43F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165592" y="5148072"/>
            <a:ext cx="16916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43F5E"/>
                </a:solidFill>
              </a:rPr>
              <a:t>Token já
revogado?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902952" y="5303520"/>
            <a:ext cx="182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94A3B8"/>
                </a:solidFill>
              </a:rPr>
              <a:t>→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10058400" y="5120640"/>
            <a:ext cx="1783080" cy="896112"/>
          </a:xfrm>
          <a:prstGeom prst="roundRect">
            <a:avLst/>
          </a:prstGeom>
          <a:solidFill>
            <a:srgbClr val="1E3A5F"/>
          </a:solidFill>
          <a:ln w="19050">
            <a:solidFill>
              <a:srgbClr val="F43F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10104120" y="5148072"/>
            <a:ext cx="16916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43F5E"/>
                </a:solidFill>
              </a:rPr>
              <a:t>Revoga TODOS
do usuário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65760" y="6126480"/>
            <a:ext cx="11430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94A3B8"/>
                </a:solidFill>
              </a:rPr>
              <a:t>RefreshTokenService.rotacionar()  ·  detecção de reutilização revoga família inteira do usuário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D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64008" cy="6858000"/>
          </a:xfrm>
          <a:prstGeom prst="rect">
            <a:avLst/>
          </a:prstGeom>
          <a:solidFill>
            <a:srgbClr val="22C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28600" y="137160"/>
            <a:ext cx="1280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400" b="1" i="0">
                <a:solidFill>
                  <a:srgbClr val="22C55E"/>
                </a:solidFill>
              </a:rPr>
              <a:t>09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28600" y="868680"/>
            <a:ext cx="9144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</a:rPr>
              <a:t>Qualidade de Software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28600" y="1463040"/>
            <a:ext cx="114300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94A3B8"/>
                </a:solidFill>
              </a:rPr>
              <a:t>Pirâmide de testes · JaCoCo enforce 80% · OWASP Dependency Check</a:t>
            </a:r>
          </a:p>
        </p:txBody>
      </p:sp>
      <p:sp>
        <p:nvSpPr>
          <p:cNvPr id="7" name="Rectangle 6"/>
          <p:cNvSpPr/>
          <p:nvPr/>
        </p:nvSpPr>
        <p:spPr>
          <a:xfrm>
            <a:off x="228600" y="1691640"/>
            <a:ext cx="3767328" cy="4663440"/>
          </a:xfrm>
          <a:prstGeom prst="rect">
            <a:avLst/>
          </a:prstGeom>
          <a:solidFill>
            <a:srgbClr val="1629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28600" y="1691640"/>
            <a:ext cx="3767328" cy="64008"/>
          </a:xfrm>
          <a:prstGeom prst="rect">
            <a:avLst/>
          </a:prstGeom>
          <a:solidFill>
            <a:srgbClr val="22C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11480" y="1783080"/>
            <a:ext cx="6400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0" i="0">
                <a:solidFill>
                  <a:srgbClr val="FFFFFF"/>
                </a:solidFill>
              </a:rPr>
              <a:t>✅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28600" y="2377440"/>
            <a:ext cx="3767328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5600" b="1" i="0">
                <a:solidFill>
                  <a:srgbClr val="22C55E"/>
                </a:solidFill>
              </a:rPr>
              <a:t>47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1480" y="3520440"/>
            <a:ext cx="34015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</a:rPr>
              <a:t>Testes automatizados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1480" y="4069080"/>
            <a:ext cx="3401568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94A3B8"/>
                </a:solidFill>
              </a:rPr>
              <a:t>Domain: JUnit 5 puro (sem Spring)
Application: JUnit 5 + Mockito
Integração: Testcontainers
(PostgreSQL real)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224528" y="1691640"/>
            <a:ext cx="3767328" cy="4663440"/>
          </a:xfrm>
          <a:prstGeom prst="rect">
            <a:avLst/>
          </a:prstGeom>
          <a:solidFill>
            <a:srgbClr val="1629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224528" y="1691640"/>
            <a:ext cx="3767328" cy="64008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07408" y="1783080"/>
            <a:ext cx="6400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0" i="0">
                <a:solidFill>
                  <a:srgbClr val="FFFFFF"/>
                </a:solidFill>
              </a:rPr>
              <a:t>📊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224528" y="2377440"/>
            <a:ext cx="3767328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5600" b="1" i="0">
                <a:solidFill>
                  <a:srgbClr val="F59E0B"/>
                </a:solidFill>
              </a:rPr>
              <a:t>80%+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07408" y="3520440"/>
            <a:ext cx="34015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</a:rPr>
              <a:t>Cobertura de domínio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07408" y="4069080"/>
            <a:ext cx="3401568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94A3B8"/>
                </a:solidFill>
              </a:rPr>
              <a:t>JaCoCo fase verify
Falha o build se &lt; 80%
Pacote: com.oficina.mecanica.domain.*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220456" y="1691640"/>
            <a:ext cx="3767328" cy="4663440"/>
          </a:xfrm>
          <a:prstGeom prst="rect">
            <a:avLst/>
          </a:prstGeom>
          <a:solidFill>
            <a:srgbClr val="1629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220456" y="1691640"/>
            <a:ext cx="3767328" cy="64008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403336" y="1783080"/>
            <a:ext cx="6400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0" i="0">
                <a:solidFill>
                  <a:srgbClr val="FFFFFF"/>
                </a:solidFill>
              </a:rPr>
              <a:t>🛡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20456" y="2377440"/>
            <a:ext cx="3767328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5600" b="1" i="0">
                <a:solidFill>
                  <a:srgbClr val="3B82F6"/>
                </a:solidFill>
              </a:rPr>
              <a:t>PASS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403336" y="3520440"/>
            <a:ext cx="34015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</a:rPr>
              <a:t>OWASP Dep. Check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403336" y="4069080"/>
            <a:ext cx="3401568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94A3B8"/>
                </a:solidFill>
              </a:rPr>
              <a:t>Spring Boot 3.3.4 → 3.4.5
3 CVEs críticos resolvidos
3 false-positives suprimidos
(Tomcat DefaultServlet desabilitado)</a:t>
            </a:r>
          </a:p>
        </p:txBody>
      </p:sp>
      <p:sp>
        <p:nvSpPr>
          <p:cNvPr id="25" name="Rectangle 24"/>
          <p:cNvSpPr/>
          <p:nvPr/>
        </p:nvSpPr>
        <p:spPr>
          <a:xfrm>
            <a:off x="0" y="6473952"/>
            <a:ext cx="12188952" cy="384048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65760" y="6492240"/>
            <a:ext cx="11795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4B8A6"/>
                </a:solidFill>
              </a:rPr>
              <a:t>mvn test   ·   mvn verify -Ddependency-check.skip=true   ·   mvn dependency-check:check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D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64008" cy="6858000"/>
          </a:xfrm>
          <a:prstGeom prst="rect">
            <a:avLst/>
          </a:prstGeom>
          <a:solidFill>
            <a:srgbClr val="14B8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28600" y="137160"/>
            <a:ext cx="1280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400" b="1" i="0">
                <a:solidFill>
                  <a:srgbClr val="14B8A6"/>
                </a:solidFill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28600" y="868680"/>
            <a:ext cx="9144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</a:rPr>
              <a:t>Demonstração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28600" y="1463040"/>
            <a:ext cx="114300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94A3B8"/>
                </a:solidFill>
              </a:rPr>
              <a:t>docker-compose up --build  →  http://localhost:8080/swagger-ui.html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28600" y="1874519"/>
            <a:ext cx="530352" cy="868680"/>
          </a:xfrm>
          <a:prstGeom prst="roundRect">
            <a:avLst/>
          </a:prstGeom>
          <a:solidFill>
            <a:srgbClr val="FB92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28600" y="1874519"/>
            <a:ext cx="530352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0D172A"/>
                </a:solidFill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0392" y="1920239"/>
            <a:ext cx="5212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B923C"/>
                </a:solidFill>
              </a:rPr>
              <a:t>Login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0392" y="2331719"/>
            <a:ext cx="52120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94A3B8"/>
                </a:solidFill>
              </a:rPr>
              <a:t>POST /api/auth/login — obtém access token + refresh token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28600" y="2971800"/>
            <a:ext cx="530352" cy="868680"/>
          </a:xfrm>
          <a:prstGeom prst="round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28600" y="2971800"/>
            <a:ext cx="530352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0D172A"/>
                </a:solidFill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0392" y="3017520"/>
            <a:ext cx="5212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3B82F6"/>
                </a:solidFill>
              </a:rPr>
              <a:t>Cadastrar Cliente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50392" y="3429000"/>
            <a:ext cx="52120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94A3B8"/>
                </a:solidFill>
              </a:rPr>
              <a:t>POST /api/clientes — CPF validado por dígito verificador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28600" y="4069079"/>
            <a:ext cx="530352" cy="868680"/>
          </a:xfrm>
          <a:prstGeom prst="roundRect">
            <a:avLst/>
          </a:prstGeom>
          <a:solidFill>
            <a:srgbClr val="14B8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28600" y="4069079"/>
            <a:ext cx="530352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0D172A"/>
                </a:solidFill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50392" y="4114799"/>
            <a:ext cx="5212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14B8A6"/>
                </a:solidFill>
              </a:rPr>
              <a:t>Cadastrar Veículo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0392" y="4526279"/>
            <a:ext cx="52120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94A3B8"/>
                </a:solidFill>
              </a:rPr>
              <a:t>POST /api/veiculos — placa formato antigo ou Mercosul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228600" y="5166359"/>
            <a:ext cx="530352" cy="868680"/>
          </a:xfrm>
          <a:prstGeom prst="round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28600" y="5166359"/>
            <a:ext cx="530352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0D172A"/>
                </a:solidFill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50392" y="5212079"/>
            <a:ext cx="5212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59E0B"/>
                </a:solidFill>
              </a:rPr>
              <a:t>Abrir OS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50392" y="5623559"/>
            <a:ext cx="52120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94A3B8"/>
                </a:solidFill>
              </a:rPr>
              <a:t>POST /api/ordens — status: Recebida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263640" y="1874519"/>
            <a:ext cx="530352" cy="868680"/>
          </a:xfrm>
          <a:prstGeom prst="roundRect">
            <a:avLst/>
          </a:prstGeom>
          <a:solidFill>
            <a:srgbClr val="22C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263640" y="1874519"/>
            <a:ext cx="530352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0D172A"/>
                </a:solidFill>
              </a:rPr>
              <a:t>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885432" y="1920239"/>
            <a:ext cx="5212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22C55E"/>
                </a:solidFill>
              </a:rPr>
              <a:t>Fluxo completo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885432" y="2331719"/>
            <a:ext cx="52120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94A3B8"/>
                </a:solidFill>
              </a:rPr>
              <a:t>iniciar-diagnostico → adicionar itens → gerar-orcamento → aprovar → concluir → entregar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263640" y="2971800"/>
            <a:ext cx="530352" cy="868680"/>
          </a:xfrm>
          <a:prstGeom prst="roundRect">
            <a:avLst/>
          </a:prstGeom>
          <a:solidFill>
            <a:srgbClr val="F43F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263640" y="2971800"/>
            <a:ext cx="530352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0D172A"/>
                </a:solidFill>
              </a:rPr>
              <a:t>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885432" y="3017520"/>
            <a:ext cx="5212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43F5E"/>
                </a:solidFill>
              </a:rPr>
              <a:t>Estorno de estoque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885432" y="3429000"/>
            <a:ext cx="52120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94A3B8"/>
                </a:solidFill>
              </a:rPr>
              <a:t>POST …/reprovar — itens devolvidos ao estoque atomicamente, status: Cancelada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263640" y="4069079"/>
            <a:ext cx="530352" cy="868680"/>
          </a:xfrm>
          <a:prstGeom prst="roundRect">
            <a:avLst/>
          </a:prstGeom>
          <a:solidFill>
            <a:srgbClr val="94A3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263640" y="4069079"/>
            <a:ext cx="530352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0D172A"/>
                </a:solidFill>
              </a:rPr>
              <a:t>7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885432" y="4114799"/>
            <a:ext cx="5212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94A3B8"/>
                </a:solidFill>
              </a:rPr>
              <a:t>Consulta pública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885432" y="4526279"/>
            <a:ext cx="52120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94A3B8"/>
                </a:solidFill>
              </a:rPr>
              <a:t>GET /api/ordens/{id}/status — sem JWT (endpoint público)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6263640" y="5166359"/>
            <a:ext cx="530352" cy="868680"/>
          </a:xfrm>
          <a:prstGeom prst="roundRect">
            <a:avLst/>
          </a:prstGeom>
          <a:solidFill>
            <a:srgbClr val="14B8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263640" y="5166359"/>
            <a:ext cx="530352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0D172A"/>
                </a:solidFill>
              </a:rPr>
              <a:t>8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885432" y="5212079"/>
            <a:ext cx="5212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14B8A6"/>
                </a:solidFill>
              </a:rPr>
              <a:t>Relatório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885432" y="5623559"/>
            <a:ext cx="52120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94A3B8"/>
                </a:solidFill>
              </a:rPr>
              <a:t>GET /api/ordens/relatorio/tempo-medio — AVG(DataConclusao - DataInicio) SQL nativo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D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64008" cy="68580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28600" y="137160"/>
            <a:ext cx="1280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400" b="1" i="0">
                <a:solidFill>
                  <a:srgbClr val="F59E0B"/>
                </a:solidFill>
              </a:rPr>
              <a:t>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28600" y="868680"/>
            <a:ext cx="9144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</a:rPr>
              <a:t>O Que Foi Entregue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28600" y="1600200"/>
            <a:ext cx="45720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FFFFFF"/>
                </a:solidFill>
              </a:rPr>
              <a:t>✅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618488"/>
            <a:ext cx="4114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22C55E"/>
                </a:solidFill>
              </a:rPr>
              <a:t>Back-end monolítico containerizado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937760" y="1618488"/>
            <a:ext cx="69951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94A3B8"/>
                </a:solidFill>
              </a:rPr>
              <a:t>Spring Boot 3.4.5 + Docker Compose · API RESTful documentada no Swagger UI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28600" y="2212848"/>
            <a:ext cx="45720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FFFFFF"/>
                </a:solidFill>
              </a:rPr>
              <a:t>✅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2231136"/>
            <a:ext cx="4114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59E0B"/>
                </a:solidFill>
              </a:rPr>
              <a:t>DDD — Design Estratégico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937760" y="2231136"/>
            <a:ext cx="69951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94A3B8"/>
                </a:solidFill>
              </a:rPr>
              <a:t>Event Storming · Context Map · Linguagem Ubíqua · 7 bounded contexts modelados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28600" y="2825496"/>
            <a:ext cx="45720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FFFFFF"/>
                </a:solidFill>
              </a:rPr>
              <a:t>✅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2843784"/>
            <a:ext cx="4114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4B8A6"/>
                </a:solidFill>
              </a:rPr>
              <a:t>DDD — Design Tático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937760" y="2843784"/>
            <a:ext cx="69951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94A3B8"/>
                </a:solidFill>
              </a:rPr>
              <a:t>Value Objects · Entities · Aggregate Root (OrdemServico) · Use Cases · Repositórios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28600" y="3438144"/>
            <a:ext cx="45720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FFFFFF"/>
                </a:solidFill>
              </a:rPr>
              <a:t>✅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3456432"/>
            <a:ext cx="4114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3B82F6"/>
                </a:solidFill>
              </a:rPr>
              <a:t>Clean Architecture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937760" y="3456432"/>
            <a:ext cx="69951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94A3B8"/>
                </a:solidFill>
              </a:rPr>
              <a:t>Domain / Application / Infrastructure · dependência invertida verificável pelos testes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28600" y="4050791"/>
            <a:ext cx="45720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FFFFFF"/>
                </a:solidFill>
              </a:rPr>
              <a:t>✅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1520" y="4069079"/>
            <a:ext cx="4114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B923C"/>
                </a:solidFill>
              </a:rPr>
              <a:t>Ciclo completo da OS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937760" y="4069079"/>
            <a:ext cx="69951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94A3B8"/>
                </a:solidFill>
              </a:rPr>
              <a:t>8 endpoints de ciclo de vida · snapshot de preço · estorno de estoque atômico · relatório SQL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28600" y="4663440"/>
            <a:ext cx="45720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FFFFFF"/>
                </a:solidFill>
              </a:rPr>
              <a:t>✅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31520" y="4681728"/>
            <a:ext cx="4114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BBF24"/>
                </a:solidFill>
              </a:rPr>
              <a:t>JWT + Refresh Token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937760" y="4681728"/>
            <a:ext cx="69951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94A3B8"/>
                </a:solidFill>
              </a:rPr>
              <a:t>Access 15 min (HMAC-SHA384) · Refresh 7 dias com rotação e detecção de reutilização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28600" y="5276088"/>
            <a:ext cx="45720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FFFFFF"/>
                </a:solidFill>
              </a:rPr>
              <a:t>✅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31520" y="5294376"/>
            <a:ext cx="4114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22C55E"/>
                </a:solidFill>
              </a:rPr>
              <a:t>47 testes · JaCoCo 80%+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937760" y="5294376"/>
            <a:ext cx="69951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94A3B8"/>
                </a:solidFill>
              </a:rPr>
              <a:t>JUnit 5 puro · Mockito · Testcontainers (PostgreSQL real) · enforce no build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28600" y="5888736"/>
            <a:ext cx="45720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FFFFFF"/>
                </a:solidFill>
              </a:rPr>
              <a:t>✅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31520" y="5907024"/>
            <a:ext cx="4114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3B82F6"/>
                </a:solidFill>
              </a:rPr>
              <a:t>OWASP Dep. Check aprovado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937760" y="5907024"/>
            <a:ext cx="69951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94A3B8"/>
                </a:solidFill>
              </a:rPr>
              <a:t>Spring Boot 3.3.4 → 3.4.5 · 3 CVEs críticos resolvidos · 3 supressões fundamentadas</a:t>
            </a:r>
          </a:p>
        </p:txBody>
      </p:sp>
      <p:sp>
        <p:nvSpPr>
          <p:cNvPr id="30" name="Rectangle 29"/>
          <p:cNvSpPr/>
          <p:nvPr/>
        </p:nvSpPr>
        <p:spPr>
          <a:xfrm>
            <a:off x="0" y="6473952"/>
            <a:ext cx="12188952" cy="384048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65760" y="6492240"/>
            <a:ext cx="11795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94A3B8"/>
                </a:solidFill>
              </a:rPr>
              <a:t>Repositório: [URL]   ·   Documentação DDD: [URL]   ·   Vídeo: [URL]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