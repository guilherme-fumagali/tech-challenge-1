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2" r:id="rId4"/>
    <p:sldMasterId id="2147483653" r:id="rId5"/>
    <p:sldMasterId id="2147483654" r:id="rId6"/>
    <p:sldMasterId id="2147483655" r:id="rId7"/>
    <p:sldMasterId id="2147483656" r:id="rId8"/>
    <p:sldMasterId id="2147483657" r:id="rId9"/>
    <p:sldMasterId id="2147483658" r:id="rId10"/>
    <p:sldMasterId id="2147483659" r:id="rId11"/>
    <p:sldMasterId id="2147483660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8D0C50C-8EA5-406E-A9FB-3E96938F8A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9261C02-A326-4E4E-8189-4954DD5A61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FD782F4-2A84-4D35-A715-60B13069AC2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E6DFB9E-2124-4DC1-A0CF-DFFAF4B3090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E29580C-CCB4-41C8-B9A3-1527500A56F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9465E06-C465-41F4-9164-F02928FF11E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43A8D8C-8BB9-4248-B3AF-C0E776B46D7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anchorCtr="1" vert="eaVert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EB40136-5B1A-4168-908E-74E1E473291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B6DD850-3FB9-4245-87FA-711BB11C92F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C586D07-519D-455E-9C23-BD2F4FB6651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8A572D8-9144-489B-B5E1-0251A9FA26B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2FD34E5-35C8-44C5-A34A-1F735793FE3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94983F4-16AA-4219-A62C-DAA6A27D97E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0"/>
            <a:ext cx="12188160" cy="25524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0" y="0"/>
            <a:ext cx="12188160" cy="63360"/>
          </a:xfrm>
          <a:prstGeom prst="rect">
            <a:avLst/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365760" y="347400"/>
            <a:ext cx="114292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i="1" lang="en-US" sz="13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PosTech FIAP  ·  Pós-Graduação em Arquitetura de Software  ·  Turma 15SOAT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365760" y="1005840"/>
            <a:ext cx="86860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Integrado de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4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Atendimento e Execução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de Serviços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6"/>
          <p:cNvSpPr/>
          <p:nvPr/>
        </p:nvSpPr>
        <p:spPr>
          <a:xfrm>
            <a:off x="365760" y="3566160"/>
            <a:ext cx="4388400" cy="5400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365760" y="3657600"/>
            <a:ext cx="640008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Tech Challenge — Fase 1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365760" y="4251960"/>
            <a:ext cx="9143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Domain-Driven Design  ·  Clean Architecture  ·  Spring Boot 3.4.5  ·  PostgreSQL 16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9418320" y="1097280"/>
            <a:ext cx="2651040" cy="22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0" strike="noStrike" u="none">
                <a:solidFill>
                  <a:srgbClr val="1e3a5f"/>
                </a:solidFill>
                <a:effectLst/>
                <a:uFillTx/>
                <a:latin typeface="Calibri"/>
              </a:rPr>
              <a:t>⚙</a:t>
            </a:r>
            <a:endParaRPr b="0" lang="en-US" sz="1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10"/>
          <p:cNvSpPr/>
          <p:nvPr/>
        </p:nvSpPr>
        <p:spPr>
          <a:xfrm>
            <a:off x="0" y="6144840"/>
            <a:ext cx="12188160" cy="712440"/>
          </a:xfrm>
          <a:prstGeom prst="rect">
            <a:avLst/>
          </a:prstGeom>
          <a:solidFill>
            <a:srgbClr val="1e3a5f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365760" y="6190560"/>
            <a:ext cx="114292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3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Danilo Canato — RM372411  ·   Guilherme Fumagali Marques — RM372421   ·   Maio 2026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01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 Problema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Uma oficina mecânica de médio porte gerenciava tudo com planilhas e anotações.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6"/>
          <p:cNvSpPr/>
          <p:nvPr/>
        </p:nvSpPr>
        <p:spPr>
          <a:xfrm>
            <a:off x="228600" y="2331720"/>
            <a:ext cx="3748320" cy="37483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Rectangle 7"/>
          <p:cNvSpPr/>
          <p:nvPr/>
        </p:nvSpPr>
        <p:spPr>
          <a:xfrm>
            <a:off x="228600" y="2331720"/>
            <a:ext cx="3748320" cy="63360"/>
          </a:xfrm>
          <a:prstGeom prst="rect">
            <a:avLst/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8"/>
          <p:cNvSpPr/>
          <p:nvPr/>
        </p:nvSpPr>
        <p:spPr>
          <a:xfrm>
            <a:off x="411480" y="2450520"/>
            <a:ext cx="7308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📋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9"/>
          <p:cNvSpPr/>
          <p:nvPr/>
        </p:nvSpPr>
        <p:spPr>
          <a:xfrm>
            <a:off x="411480" y="3017520"/>
            <a:ext cx="33825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Sem rastreabilidade de status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411480" y="3493080"/>
            <a:ext cx="3382560" cy="8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Clientes não sabiam o andamento dos serviços.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Ligações constantes e retrabalho na recepção.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11"/>
          <p:cNvSpPr/>
          <p:nvPr/>
        </p:nvSpPr>
        <p:spPr>
          <a:xfrm>
            <a:off x="4206240" y="2331720"/>
            <a:ext cx="3748320" cy="37483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ectangle 12"/>
          <p:cNvSpPr/>
          <p:nvPr/>
        </p:nvSpPr>
        <p:spPr>
          <a:xfrm>
            <a:off x="4206240" y="2331720"/>
            <a:ext cx="3748320" cy="63360"/>
          </a:xfrm>
          <a:prstGeom prst="rect">
            <a:avLst/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13"/>
          <p:cNvSpPr/>
          <p:nvPr/>
        </p:nvSpPr>
        <p:spPr>
          <a:xfrm>
            <a:off x="4389120" y="2450520"/>
            <a:ext cx="7308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📦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4"/>
          <p:cNvSpPr/>
          <p:nvPr/>
        </p:nvSpPr>
        <p:spPr>
          <a:xfrm>
            <a:off x="4389120" y="3017520"/>
            <a:ext cx="33825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Estoque descontrolado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4389120" y="3493080"/>
            <a:ext cx="3382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Peças retiradas sem registro. Quantidade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negativa e compras emergenciais frequentes.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16"/>
          <p:cNvSpPr/>
          <p:nvPr/>
        </p:nvSpPr>
        <p:spPr>
          <a:xfrm>
            <a:off x="8183880" y="2331720"/>
            <a:ext cx="3748320" cy="37483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Rectangle 17"/>
          <p:cNvSpPr/>
          <p:nvPr/>
        </p:nvSpPr>
        <p:spPr>
          <a:xfrm>
            <a:off x="8183880" y="2331720"/>
            <a:ext cx="3748320" cy="63360"/>
          </a:xfrm>
          <a:prstGeom prst="rect">
            <a:avLst/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18"/>
          <p:cNvSpPr/>
          <p:nvPr/>
        </p:nvSpPr>
        <p:spPr>
          <a:xfrm>
            <a:off x="8366760" y="2450520"/>
            <a:ext cx="7308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💸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9"/>
          <p:cNvSpPr/>
          <p:nvPr/>
        </p:nvSpPr>
        <p:spPr>
          <a:xfrm>
            <a:off x="8366760" y="3017520"/>
            <a:ext cx="33825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Orçamentos inconsistentes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0"/>
          <p:cNvSpPr/>
          <p:nvPr/>
        </p:nvSpPr>
        <p:spPr>
          <a:xfrm>
            <a:off x="8366760" y="3493080"/>
            <a:ext cx="3382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Preços alterados durante a execução.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Sem snapshot de preço, valores divergiam.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02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 Solução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MVP back-end monolítico · API RESTful · containerizado com Docker Compose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6"/>
          <p:cNvSpPr/>
          <p:nvPr/>
        </p:nvSpPr>
        <p:spPr>
          <a:xfrm>
            <a:off x="228600" y="1874520"/>
            <a:ext cx="2788200" cy="173664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Rectangle 7"/>
          <p:cNvSpPr/>
          <p:nvPr/>
        </p:nvSpPr>
        <p:spPr>
          <a:xfrm>
            <a:off x="228600" y="1874520"/>
            <a:ext cx="2788200" cy="63360"/>
          </a:xfrm>
          <a:prstGeom prst="rect">
            <a:avLst/>
          </a:prstGeom>
          <a:solidFill>
            <a:srgbClr val="22c5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8"/>
          <p:cNvSpPr/>
          <p:nvPr/>
        </p:nvSpPr>
        <p:spPr>
          <a:xfrm>
            <a:off x="228600" y="1965960"/>
            <a:ext cx="278820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104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9"/>
          <p:cNvSpPr/>
          <p:nvPr/>
        </p:nvSpPr>
        <p:spPr>
          <a:xfrm>
            <a:off x="320040" y="2944440"/>
            <a:ext cx="260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testes automatizados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10"/>
          <p:cNvSpPr/>
          <p:nvPr/>
        </p:nvSpPr>
        <p:spPr>
          <a:xfrm>
            <a:off x="3218760" y="1874520"/>
            <a:ext cx="2788200" cy="173664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Rectangle 11"/>
          <p:cNvSpPr/>
          <p:nvPr/>
        </p:nvSpPr>
        <p:spPr>
          <a:xfrm>
            <a:off x="3218760" y="1874520"/>
            <a:ext cx="2788200" cy="6336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12"/>
          <p:cNvSpPr/>
          <p:nvPr/>
        </p:nvSpPr>
        <p:spPr>
          <a:xfrm>
            <a:off x="3218760" y="1965960"/>
            <a:ext cx="278820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80%+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3"/>
          <p:cNvSpPr/>
          <p:nvPr/>
        </p:nvSpPr>
        <p:spPr>
          <a:xfrm>
            <a:off x="3310200" y="2944440"/>
            <a:ext cx="2605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cobertura de domínio (JaCoCo)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Validação Sonar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14"/>
          <p:cNvSpPr/>
          <p:nvPr/>
        </p:nvSpPr>
        <p:spPr>
          <a:xfrm>
            <a:off x="6208920" y="1874520"/>
            <a:ext cx="2788200" cy="173664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ectangle 15"/>
          <p:cNvSpPr/>
          <p:nvPr/>
        </p:nvSpPr>
        <p:spPr>
          <a:xfrm>
            <a:off x="6208920" y="1874520"/>
            <a:ext cx="2788200" cy="63360"/>
          </a:xfrm>
          <a:prstGeom prst="rect">
            <a:avLst/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16"/>
          <p:cNvSpPr/>
          <p:nvPr/>
        </p:nvSpPr>
        <p:spPr>
          <a:xfrm>
            <a:off x="6208920" y="1965960"/>
            <a:ext cx="278820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7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7"/>
          <p:cNvSpPr/>
          <p:nvPr/>
        </p:nvSpPr>
        <p:spPr>
          <a:xfrm>
            <a:off x="6300360" y="2944440"/>
            <a:ext cx="260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bounded contexts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18"/>
          <p:cNvSpPr/>
          <p:nvPr/>
        </p:nvSpPr>
        <p:spPr>
          <a:xfrm>
            <a:off x="9198720" y="1874520"/>
            <a:ext cx="2788200" cy="173664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19"/>
          <p:cNvSpPr/>
          <p:nvPr/>
        </p:nvSpPr>
        <p:spPr>
          <a:xfrm>
            <a:off x="9198720" y="1874520"/>
            <a:ext cx="2788200" cy="63360"/>
          </a:xfrm>
          <a:prstGeom prst="rect">
            <a:avLst/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20"/>
          <p:cNvSpPr/>
          <p:nvPr/>
        </p:nvSpPr>
        <p:spPr>
          <a:xfrm>
            <a:off x="9198720" y="1965960"/>
            <a:ext cx="278820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8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21"/>
          <p:cNvSpPr/>
          <p:nvPr/>
        </p:nvSpPr>
        <p:spPr>
          <a:xfrm>
            <a:off x="9290160" y="2944440"/>
            <a:ext cx="260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endpoints de ciclo de vida da 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22"/>
          <p:cNvSpPr/>
          <p:nvPr/>
        </p:nvSpPr>
        <p:spPr>
          <a:xfrm>
            <a:off x="228600" y="3840480"/>
            <a:ext cx="27424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Stack tecnológica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23"/>
          <p:cNvSpPr/>
          <p:nvPr/>
        </p:nvSpPr>
        <p:spPr>
          <a:xfrm>
            <a:off x="228600" y="4279320"/>
            <a:ext cx="1183320" cy="40176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4"/>
          <p:cNvSpPr/>
          <p:nvPr/>
        </p:nvSpPr>
        <p:spPr>
          <a:xfrm>
            <a:off x="301680" y="4316040"/>
            <a:ext cx="1037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Java 21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ounded Rectangle 25"/>
          <p:cNvSpPr/>
          <p:nvPr/>
        </p:nvSpPr>
        <p:spPr>
          <a:xfrm>
            <a:off x="1549800" y="4279320"/>
            <a:ext cx="2417760" cy="40176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26"/>
          <p:cNvSpPr/>
          <p:nvPr/>
        </p:nvSpPr>
        <p:spPr>
          <a:xfrm>
            <a:off x="1623240" y="4316040"/>
            <a:ext cx="2271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Spring Boot 3.4.5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27"/>
          <p:cNvSpPr/>
          <p:nvPr/>
        </p:nvSpPr>
        <p:spPr>
          <a:xfrm>
            <a:off x="4105800" y="4279320"/>
            <a:ext cx="1924200" cy="401760"/>
          </a:xfrm>
          <a:prstGeom prst="roundRect">
            <a:avLst>
              <a:gd name="adj" fmla="val 16667"/>
            </a:avLst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28"/>
          <p:cNvSpPr/>
          <p:nvPr/>
        </p:nvSpPr>
        <p:spPr>
          <a:xfrm>
            <a:off x="4178880" y="4316040"/>
            <a:ext cx="1777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PostgreSQL 16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29"/>
          <p:cNvSpPr/>
          <p:nvPr/>
        </p:nvSpPr>
        <p:spPr>
          <a:xfrm>
            <a:off x="6167520" y="4279320"/>
            <a:ext cx="1059840" cy="401760"/>
          </a:xfrm>
          <a:prstGeom prst="roundRect">
            <a:avLst>
              <a:gd name="adj" fmla="val 16667"/>
            </a:avLst>
          </a:prstGeom>
          <a:solidFill>
            <a:srgbClr val="cc141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30"/>
          <p:cNvSpPr/>
          <p:nvPr/>
        </p:nvSpPr>
        <p:spPr>
          <a:xfrm>
            <a:off x="6240960" y="4316040"/>
            <a:ext cx="913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Flyway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ounded Rectangle 31"/>
          <p:cNvSpPr/>
          <p:nvPr/>
        </p:nvSpPr>
        <p:spPr>
          <a:xfrm>
            <a:off x="7365600" y="4279320"/>
            <a:ext cx="2664720" cy="401760"/>
          </a:xfrm>
          <a:prstGeom prst="roundRect">
            <a:avLst>
              <a:gd name="adj" fmla="val 16667"/>
            </a:avLst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32"/>
          <p:cNvSpPr/>
          <p:nvPr/>
        </p:nvSpPr>
        <p:spPr>
          <a:xfrm>
            <a:off x="7438680" y="4316040"/>
            <a:ext cx="251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JWT + Refresh Token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ounded Rectangle 33"/>
          <p:cNvSpPr/>
          <p:nvPr/>
        </p:nvSpPr>
        <p:spPr>
          <a:xfrm>
            <a:off x="228600" y="4791600"/>
            <a:ext cx="2047680" cy="40176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34"/>
          <p:cNvSpPr/>
          <p:nvPr/>
        </p:nvSpPr>
        <p:spPr>
          <a:xfrm>
            <a:off x="301680" y="4827960"/>
            <a:ext cx="1901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Docker Compose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ounded Rectangle 35"/>
          <p:cNvSpPr/>
          <p:nvPr/>
        </p:nvSpPr>
        <p:spPr>
          <a:xfrm>
            <a:off x="2414160" y="4791600"/>
            <a:ext cx="3282120" cy="40176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36"/>
          <p:cNvSpPr/>
          <p:nvPr/>
        </p:nvSpPr>
        <p:spPr>
          <a:xfrm>
            <a:off x="2487240" y="4827960"/>
            <a:ext cx="3135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JUnit 5 + Testcontainers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37"/>
          <p:cNvSpPr/>
          <p:nvPr/>
        </p:nvSpPr>
        <p:spPr>
          <a:xfrm>
            <a:off x="5833800" y="4791600"/>
            <a:ext cx="2294280" cy="40176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38"/>
          <p:cNvSpPr/>
          <p:nvPr/>
        </p:nvSpPr>
        <p:spPr>
          <a:xfrm>
            <a:off x="5906880" y="4827960"/>
            <a:ext cx="214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OWASP Dep. Check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ounded Rectangle 39"/>
          <p:cNvSpPr/>
          <p:nvPr/>
        </p:nvSpPr>
        <p:spPr>
          <a:xfrm>
            <a:off x="8266320" y="4791600"/>
            <a:ext cx="2541240" cy="40176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40"/>
          <p:cNvSpPr/>
          <p:nvPr/>
        </p:nvSpPr>
        <p:spPr>
          <a:xfrm>
            <a:off x="8339400" y="4827960"/>
            <a:ext cx="23950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MapStruct + Lombok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ounded Rectangle 41"/>
          <p:cNvSpPr/>
          <p:nvPr/>
        </p:nvSpPr>
        <p:spPr>
          <a:xfrm>
            <a:off x="228600" y="5303520"/>
            <a:ext cx="2417760" cy="40176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42"/>
          <p:cNvSpPr/>
          <p:nvPr/>
        </p:nvSpPr>
        <p:spPr>
          <a:xfrm>
            <a:off x="301680" y="5340240"/>
            <a:ext cx="2271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Springdoc OpenAPI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1"/>
          <p:cNvSpPr/>
          <p:nvPr/>
        </p:nvSpPr>
        <p:spPr>
          <a:xfrm>
            <a:off x="2743200" y="5313240"/>
            <a:ext cx="2541240" cy="40176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1"/>
          <p:cNvSpPr/>
          <p:nvPr/>
        </p:nvSpPr>
        <p:spPr>
          <a:xfrm>
            <a:off x="2816280" y="5349600"/>
            <a:ext cx="23950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Sonar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03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Event Storming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event_storming.drawio  ·  Domain Storytelling: domain_storytelling.drawio  ·  7 bounded contexts  ·  10 eventos  ·  5 políticas  ·  4 hot spots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6"/>
          <p:cNvSpPr/>
          <p:nvPr/>
        </p:nvSpPr>
        <p:spPr>
          <a:xfrm>
            <a:off x="228600" y="1691640"/>
            <a:ext cx="5714280" cy="278820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ectangle 7"/>
          <p:cNvSpPr/>
          <p:nvPr/>
        </p:nvSpPr>
        <p:spPr>
          <a:xfrm>
            <a:off x="228600" y="1691640"/>
            <a:ext cx="5714280" cy="5400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8"/>
          <p:cNvSpPr/>
          <p:nvPr/>
        </p:nvSpPr>
        <p:spPr>
          <a:xfrm>
            <a:off x="411480" y="1764720"/>
            <a:ext cx="54856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7 Bounded Contexts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ounded Rectangle 9"/>
          <p:cNvSpPr/>
          <p:nvPr/>
        </p:nvSpPr>
        <p:spPr>
          <a:xfrm>
            <a:off x="411480" y="2331720"/>
            <a:ext cx="127440" cy="127440"/>
          </a:xfrm>
          <a:prstGeom prst="roundRect">
            <a:avLst>
              <a:gd name="adj" fmla="val 16667"/>
            </a:avLst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0"/>
          <p:cNvSpPr/>
          <p:nvPr/>
        </p:nvSpPr>
        <p:spPr>
          <a:xfrm>
            <a:off x="621720" y="2267640"/>
            <a:ext cx="2376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Atendimento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1"/>
          <p:cNvSpPr/>
          <p:nvPr/>
        </p:nvSpPr>
        <p:spPr>
          <a:xfrm>
            <a:off x="3090600" y="2267640"/>
            <a:ext cx="27424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Cliente, Veículo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12"/>
          <p:cNvSpPr/>
          <p:nvPr/>
        </p:nvSpPr>
        <p:spPr>
          <a:xfrm>
            <a:off x="411480" y="2642760"/>
            <a:ext cx="127440" cy="1274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3"/>
          <p:cNvSpPr/>
          <p:nvPr/>
        </p:nvSpPr>
        <p:spPr>
          <a:xfrm>
            <a:off x="621720" y="2578680"/>
            <a:ext cx="2376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Diagnóstico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14"/>
          <p:cNvSpPr/>
          <p:nvPr/>
        </p:nvSpPr>
        <p:spPr>
          <a:xfrm>
            <a:off x="3090600" y="2578680"/>
            <a:ext cx="27424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411480" y="2953440"/>
            <a:ext cx="127440" cy="12744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21720" y="2889360"/>
            <a:ext cx="2376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7c3aed"/>
                </a:solidFill>
                <a:effectLst/>
                <a:uFillTx/>
                <a:latin typeface="Calibri"/>
              </a:rPr>
              <a:t>Gestão de Serviços/Peças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3090600" y="2889360"/>
            <a:ext cx="27424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OS, Peça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18"/>
          <p:cNvSpPr/>
          <p:nvPr/>
        </p:nvSpPr>
        <p:spPr>
          <a:xfrm>
            <a:off x="411480" y="3264480"/>
            <a:ext cx="127440" cy="127440"/>
          </a:xfrm>
          <a:prstGeom prst="roundRect">
            <a:avLst>
              <a:gd name="adj" fmla="val 16667"/>
            </a:avLst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19"/>
          <p:cNvSpPr/>
          <p:nvPr/>
        </p:nvSpPr>
        <p:spPr>
          <a:xfrm>
            <a:off x="621720" y="3200400"/>
            <a:ext cx="2376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Orçamento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0"/>
          <p:cNvSpPr/>
          <p:nvPr/>
        </p:nvSpPr>
        <p:spPr>
          <a:xfrm>
            <a:off x="3090600" y="3200400"/>
            <a:ext cx="27424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  ·  SE: Notificação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21"/>
          <p:cNvSpPr/>
          <p:nvPr/>
        </p:nvSpPr>
        <p:spPr>
          <a:xfrm>
            <a:off x="411480" y="3575160"/>
            <a:ext cx="127440" cy="12744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22"/>
          <p:cNvSpPr/>
          <p:nvPr/>
        </p:nvSpPr>
        <p:spPr>
          <a:xfrm>
            <a:off x="621720" y="3511440"/>
            <a:ext cx="2376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Aprovação / Cancelamento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23"/>
          <p:cNvSpPr/>
          <p:nvPr/>
        </p:nvSpPr>
        <p:spPr>
          <a:xfrm>
            <a:off x="3090600" y="3511440"/>
            <a:ext cx="27424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OS, Peça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ounded Rectangle 24"/>
          <p:cNvSpPr/>
          <p:nvPr/>
        </p:nvSpPr>
        <p:spPr>
          <a:xfrm>
            <a:off x="411480" y="3886200"/>
            <a:ext cx="127440" cy="12744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25"/>
          <p:cNvSpPr/>
          <p:nvPr/>
        </p:nvSpPr>
        <p:spPr>
          <a:xfrm>
            <a:off x="621720" y="3822120"/>
            <a:ext cx="2376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Execução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26"/>
          <p:cNvSpPr/>
          <p:nvPr/>
        </p:nvSpPr>
        <p:spPr>
          <a:xfrm>
            <a:off x="3090600" y="3822120"/>
            <a:ext cx="27424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7"/>
          <p:cNvSpPr/>
          <p:nvPr/>
        </p:nvSpPr>
        <p:spPr>
          <a:xfrm>
            <a:off x="411480" y="4197240"/>
            <a:ext cx="127440" cy="12744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28"/>
          <p:cNvSpPr/>
          <p:nvPr/>
        </p:nvSpPr>
        <p:spPr>
          <a:xfrm>
            <a:off x="621720" y="4133160"/>
            <a:ext cx="2376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Entrega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9"/>
          <p:cNvSpPr/>
          <p:nvPr/>
        </p:nvSpPr>
        <p:spPr>
          <a:xfrm>
            <a:off x="3090600" y="4133160"/>
            <a:ext cx="27424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AG: OS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30"/>
          <p:cNvSpPr/>
          <p:nvPr/>
        </p:nvSpPr>
        <p:spPr>
          <a:xfrm>
            <a:off x="228600" y="4645080"/>
            <a:ext cx="5714280" cy="193788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31"/>
          <p:cNvSpPr/>
          <p:nvPr/>
        </p:nvSpPr>
        <p:spPr>
          <a:xfrm>
            <a:off x="228600" y="4645080"/>
            <a:ext cx="5714280" cy="54000"/>
          </a:xfrm>
          <a:prstGeom prst="rect">
            <a:avLst/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Box 32"/>
          <p:cNvSpPr/>
          <p:nvPr/>
        </p:nvSpPr>
        <p:spPr>
          <a:xfrm>
            <a:off x="411480" y="4718160"/>
            <a:ext cx="54856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5 Políticas (automáticas)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33"/>
          <p:cNvSpPr/>
          <p:nvPr/>
        </p:nvSpPr>
        <p:spPr>
          <a:xfrm>
            <a:off x="411480" y="5193720"/>
            <a:ext cx="54856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OS Aberta  →  Iniciar Diagnóstico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34"/>
          <p:cNvSpPr/>
          <p:nvPr/>
        </p:nvSpPr>
        <p:spPr>
          <a:xfrm>
            <a:off x="411480" y="5459040"/>
            <a:ext cx="54856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Peça adicionada à OS  →  Decrementar Estoque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5"/>
          <p:cNvSpPr/>
          <p:nvPr/>
        </p:nvSpPr>
        <p:spPr>
          <a:xfrm>
            <a:off x="411480" y="5724000"/>
            <a:ext cx="54856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Estoque &lt; mínimo  →  Alertar Admin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36"/>
          <p:cNvSpPr/>
          <p:nvPr/>
        </p:nvSpPr>
        <p:spPr>
          <a:xfrm>
            <a:off x="411480" y="5989320"/>
            <a:ext cx="54856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Aprovado  →  Iniciar Execução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37"/>
          <p:cNvSpPr/>
          <p:nvPr/>
        </p:nvSpPr>
        <p:spPr>
          <a:xfrm>
            <a:off x="411480" y="6254640"/>
            <a:ext cx="54856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 Reprovado  →  Cancelar OS + Estornar Estoque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ectangle 38"/>
          <p:cNvSpPr/>
          <p:nvPr/>
        </p:nvSpPr>
        <p:spPr>
          <a:xfrm>
            <a:off x="6245280" y="1691640"/>
            <a:ext cx="5714280" cy="278820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39"/>
          <p:cNvSpPr/>
          <p:nvPr/>
        </p:nvSpPr>
        <p:spPr>
          <a:xfrm>
            <a:off x="6245280" y="1691640"/>
            <a:ext cx="5714280" cy="54000"/>
          </a:xfrm>
          <a:prstGeom prst="rect">
            <a:avLst/>
          </a:prstGeom>
          <a:solidFill>
            <a:srgbClr val="f43f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40"/>
          <p:cNvSpPr/>
          <p:nvPr/>
        </p:nvSpPr>
        <p:spPr>
          <a:xfrm>
            <a:off x="6428160" y="1764720"/>
            <a:ext cx="54856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4 Hot Spots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41"/>
          <p:cNvSpPr/>
          <p:nvPr/>
        </p:nvSpPr>
        <p:spPr>
          <a:xfrm>
            <a:off x="6428160" y="2267640"/>
            <a:ext cx="529560" cy="27360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42"/>
          <p:cNvSpPr/>
          <p:nvPr/>
        </p:nvSpPr>
        <p:spPr>
          <a:xfrm>
            <a:off x="6501240" y="2304360"/>
            <a:ext cx="3834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PA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43"/>
          <p:cNvSpPr/>
          <p:nvPr/>
        </p:nvSpPr>
        <p:spPr>
          <a:xfrm>
            <a:off x="7040880" y="2267640"/>
            <a:ext cx="4799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Mecânico disponível para diagnóstico?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44"/>
          <p:cNvSpPr/>
          <p:nvPr/>
        </p:nvSpPr>
        <p:spPr>
          <a:xfrm>
            <a:off x="7040880" y="2541960"/>
            <a:ext cx="47998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Alocação de recursos fora do escopo do MVP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45"/>
          <p:cNvSpPr/>
          <p:nvPr/>
        </p:nvSpPr>
        <p:spPr>
          <a:xfrm>
            <a:off x="6428160" y="2853000"/>
            <a:ext cx="529560" cy="27360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46"/>
          <p:cNvSpPr/>
          <p:nvPr/>
        </p:nvSpPr>
        <p:spPr>
          <a:xfrm>
            <a:off x="6501240" y="2889360"/>
            <a:ext cx="3834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PA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47"/>
          <p:cNvSpPr/>
          <p:nvPr/>
        </p:nvSpPr>
        <p:spPr>
          <a:xfrm>
            <a:off x="7040880" y="2853000"/>
            <a:ext cx="4799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Canal de notificação? (email / SMS / push)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48"/>
          <p:cNvSpPr/>
          <p:nvPr/>
        </p:nvSpPr>
        <p:spPr>
          <a:xfrm>
            <a:off x="7040880" y="3127320"/>
            <a:ext cx="47998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ACL implementado — canal concreto em aberto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49"/>
          <p:cNvSpPr/>
          <p:nvPr/>
        </p:nvSpPr>
        <p:spPr>
          <a:xfrm>
            <a:off x="6428160" y="3438000"/>
            <a:ext cx="529560" cy="27360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0"/>
          <p:cNvSpPr/>
          <p:nvPr/>
        </p:nvSpPr>
        <p:spPr>
          <a:xfrm>
            <a:off x="6501240" y="3474720"/>
            <a:ext cx="3834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PA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51"/>
          <p:cNvSpPr/>
          <p:nvPr/>
        </p:nvSpPr>
        <p:spPr>
          <a:xfrm>
            <a:off x="7040880" y="3438000"/>
            <a:ext cx="4799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Prazo máximo para aprovação do orçamento?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52"/>
          <p:cNvSpPr/>
          <p:nvPr/>
        </p:nvSpPr>
        <p:spPr>
          <a:xfrm>
            <a:off x="7040880" y="3712320"/>
            <a:ext cx="47998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Política de expiração fora do escopo do MVP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ounded Rectangle 53"/>
          <p:cNvSpPr/>
          <p:nvPr/>
        </p:nvSpPr>
        <p:spPr>
          <a:xfrm>
            <a:off x="6428160" y="4023360"/>
            <a:ext cx="529560" cy="27360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54"/>
          <p:cNvSpPr/>
          <p:nvPr/>
        </p:nvSpPr>
        <p:spPr>
          <a:xfrm>
            <a:off x="6501240" y="4060080"/>
            <a:ext cx="3834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PA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55"/>
          <p:cNvSpPr/>
          <p:nvPr/>
        </p:nvSpPr>
        <p:spPr>
          <a:xfrm>
            <a:off x="7040880" y="4023360"/>
            <a:ext cx="4799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Permissões por papel (Atendente/Mecânico)?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56"/>
          <p:cNvSpPr/>
          <p:nvPr/>
        </p:nvSpPr>
        <p:spPr>
          <a:xfrm>
            <a:off x="7040880" y="4297680"/>
            <a:ext cx="47998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Perfil único Admin no MVP — RBAC não implementado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57"/>
          <p:cNvSpPr/>
          <p:nvPr/>
        </p:nvSpPr>
        <p:spPr>
          <a:xfrm>
            <a:off x="6245280" y="4645080"/>
            <a:ext cx="5714280" cy="193788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ectangle 58"/>
          <p:cNvSpPr/>
          <p:nvPr/>
        </p:nvSpPr>
        <p:spPr>
          <a:xfrm>
            <a:off x="6245280" y="4645080"/>
            <a:ext cx="5714280" cy="54000"/>
          </a:xfrm>
          <a:prstGeom prst="rect">
            <a:avLst/>
          </a:prstGeom>
          <a:solidFill>
            <a:srgbClr val="22c5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59"/>
          <p:cNvSpPr/>
          <p:nvPr/>
        </p:nvSpPr>
        <p:spPr>
          <a:xfrm>
            <a:off x="6428160" y="4718160"/>
            <a:ext cx="54856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Fluxos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60"/>
          <p:cNvSpPr/>
          <p:nvPr/>
        </p:nvSpPr>
        <p:spPr>
          <a:xfrm>
            <a:off x="6428160" y="5175360"/>
            <a:ext cx="10051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Principal: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1"/>
          <p:cNvSpPr/>
          <p:nvPr/>
        </p:nvSpPr>
        <p:spPr>
          <a:xfrm>
            <a:off x="6428160" y="5431680"/>
            <a:ext cx="548568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OS Aberta → Em Diagnóstico → Aguardando Aprovação → Em Execução → Finalizada → Entregue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62"/>
          <p:cNvSpPr/>
          <p:nvPr/>
        </p:nvSpPr>
        <p:spPr>
          <a:xfrm>
            <a:off x="6428160" y="5833800"/>
            <a:ext cx="11880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Alternativo: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63"/>
          <p:cNvSpPr/>
          <p:nvPr/>
        </p:nvSpPr>
        <p:spPr>
          <a:xfrm>
            <a:off x="6428160" y="6089760"/>
            <a:ext cx="548568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Orçamento Reprovado → OS Cancelada  +  Estorno de Estoque (atômico, mesma transação)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04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Context Map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ContextMap.drawio.pdf  ·  padrões: Customer-Supplier · Shared Kernel · ACL · OHS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6"/>
          <p:cNvSpPr/>
          <p:nvPr/>
        </p:nvSpPr>
        <p:spPr>
          <a:xfrm>
            <a:off x="228600" y="1691640"/>
            <a:ext cx="5714280" cy="223956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ectangle 7"/>
          <p:cNvSpPr/>
          <p:nvPr/>
        </p:nvSpPr>
        <p:spPr>
          <a:xfrm>
            <a:off x="228600" y="1691640"/>
            <a:ext cx="5714280" cy="5400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10"/>
          <p:cNvSpPr/>
          <p:nvPr/>
        </p:nvSpPr>
        <p:spPr>
          <a:xfrm>
            <a:off x="457200" y="1846800"/>
            <a:ext cx="47541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Open Host Service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11"/>
          <p:cNvSpPr/>
          <p:nvPr/>
        </p:nvSpPr>
        <p:spPr>
          <a:xfrm>
            <a:off x="411480" y="224928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·  Segurança JWT é um OHS que serve todos os contextos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12"/>
          <p:cNvSpPr/>
          <p:nvPr/>
        </p:nvSpPr>
        <p:spPr>
          <a:xfrm>
            <a:off x="411480" y="259704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Spring Security filter chain — validação HMAC-SHA384 stateless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13"/>
          <p:cNvSpPr/>
          <p:nvPr/>
        </p:nvSpPr>
        <p:spPr>
          <a:xfrm>
            <a:off x="411480" y="294444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Todos os endpoints administrativos consomem este serviço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14"/>
          <p:cNvSpPr/>
          <p:nvPr/>
        </p:nvSpPr>
        <p:spPr>
          <a:xfrm>
            <a:off x="411480" y="329184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Único ponto de entrada de autenticação: POST /api/auth/login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ectangle 15"/>
          <p:cNvSpPr/>
          <p:nvPr/>
        </p:nvSpPr>
        <p:spPr>
          <a:xfrm>
            <a:off x="6245280" y="1691640"/>
            <a:ext cx="5714280" cy="223956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Rectangle 16"/>
          <p:cNvSpPr/>
          <p:nvPr/>
        </p:nvSpPr>
        <p:spPr>
          <a:xfrm>
            <a:off x="6245280" y="1691640"/>
            <a:ext cx="5714280" cy="54000"/>
          </a:xfrm>
          <a:prstGeom prst="rect">
            <a:avLst/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TextBox 19"/>
          <p:cNvSpPr/>
          <p:nvPr/>
        </p:nvSpPr>
        <p:spPr>
          <a:xfrm>
            <a:off x="6400800" y="1846800"/>
            <a:ext cx="47541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Customer-Supplier — cadeia principal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20"/>
          <p:cNvSpPr/>
          <p:nvPr/>
        </p:nvSpPr>
        <p:spPr>
          <a:xfrm>
            <a:off x="6428160" y="2159640"/>
            <a:ext cx="534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Atendimento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6428160" y="2452320"/>
            <a:ext cx="534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Diagnóstico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24"/>
          <p:cNvSpPr/>
          <p:nvPr/>
        </p:nvSpPr>
        <p:spPr>
          <a:xfrm>
            <a:off x="6428160" y="2745000"/>
            <a:ext cx="534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Orçamento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25"/>
          <p:cNvSpPr/>
          <p:nvPr/>
        </p:nvSpPr>
        <p:spPr>
          <a:xfrm>
            <a:off x="6428160" y="3127320"/>
            <a:ext cx="273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26"/>
          <p:cNvSpPr/>
          <p:nvPr/>
        </p:nvSpPr>
        <p:spPr>
          <a:xfrm>
            <a:off x="6428160" y="3037680"/>
            <a:ext cx="534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Aprovação / Cancelamento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28"/>
          <p:cNvSpPr/>
          <p:nvPr/>
        </p:nvSpPr>
        <p:spPr>
          <a:xfrm>
            <a:off x="6428160" y="3330000"/>
            <a:ext cx="534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Execução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30"/>
          <p:cNvSpPr/>
          <p:nvPr/>
        </p:nvSpPr>
        <p:spPr>
          <a:xfrm>
            <a:off x="6428160" y="3622680"/>
            <a:ext cx="534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Entrega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Rectangle 31"/>
          <p:cNvSpPr/>
          <p:nvPr/>
        </p:nvSpPr>
        <p:spPr>
          <a:xfrm>
            <a:off x="228600" y="4096440"/>
            <a:ext cx="5714280" cy="24865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Rectangle 32"/>
          <p:cNvSpPr/>
          <p:nvPr/>
        </p:nvSpPr>
        <p:spPr>
          <a:xfrm>
            <a:off x="228600" y="4096440"/>
            <a:ext cx="5714280" cy="54000"/>
          </a:xfrm>
          <a:prstGeom prst="rect">
            <a:avLst/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35"/>
          <p:cNvSpPr/>
          <p:nvPr/>
        </p:nvSpPr>
        <p:spPr>
          <a:xfrm>
            <a:off x="411840" y="4224960"/>
            <a:ext cx="48456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Shared Kernel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36"/>
          <p:cNvSpPr/>
          <p:nvPr/>
        </p:nvSpPr>
        <p:spPr>
          <a:xfrm>
            <a:off x="411480" y="464508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·  Diagnóstico  ↔  Gestão de Estoque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37"/>
          <p:cNvSpPr/>
          <p:nvPr/>
        </p:nvSpPr>
        <p:spPr>
          <a:xfrm>
            <a:off x="411480" y="499248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Modelo Peça / EstoqueAtual compartilhado entre os dois contextos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38"/>
          <p:cNvSpPr/>
          <p:nvPr/>
        </p:nvSpPr>
        <p:spPr>
          <a:xfrm>
            <a:off x="411480" y="534024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Mudanças no modelo exigem coordenação bilateral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39"/>
          <p:cNvSpPr/>
          <p:nvPr/>
        </p:nvSpPr>
        <p:spPr>
          <a:xfrm>
            <a:off x="411480" y="568764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Implementado via Shared Kernel no Context Map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40"/>
          <p:cNvSpPr/>
          <p:nvPr/>
        </p:nvSpPr>
        <p:spPr>
          <a:xfrm>
            <a:off x="411480" y="603504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·  Risco: acoplamento forte — mitigado por domínio estável de Peça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Rectangle 41"/>
          <p:cNvSpPr/>
          <p:nvPr/>
        </p:nvSpPr>
        <p:spPr>
          <a:xfrm>
            <a:off x="6245280" y="4096440"/>
            <a:ext cx="5714280" cy="24865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Rectangle 42"/>
          <p:cNvSpPr/>
          <p:nvPr/>
        </p:nvSpPr>
        <p:spPr>
          <a:xfrm>
            <a:off x="6245280" y="4096440"/>
            <a:ext cx="5714280" cy="54000"/>
          </a:xfrm>
          <a:prstGeom prst="rect">
            <a:avLst/>
          </a:prstGeom>
          <a:solidFill>
            <a:srgbClr val="f43f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45"/>
          <p:cNvSpPr/>
          <p:nvPr/>
        </p:nvSpPr>
        <p:spPr>
          <a:xfrm>
            <a:off x="6400800" y="4169520"/>
            <a:ext cx="48456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Anti-Corruption Layer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46"/>
          <p:cNvSpPr/>
          <p:nvPr/>
        </p:nvSpPr>
        <p:spPr>
          <a:xfrm>
            <a:off x="6428160" y="462672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·  Aprovação/Cancelamento  →  Gestão de Estoque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47"/>
          <p:cNvSpPr/>
          <p:nvPr/>
        </p:nvSpPr>
        <p:spPr>
          <a:xfrm>
            <a:off x="6428160" y="4919400"/>
            <a:ext cx="54399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   Estorno isolado da lógica de cancelamento do domínio de estoque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48"/>
          <p:cNvSpPr/>
          <p:nvPr/>
        </p:nvSpPr>
        <p:spPr>
          <a:xfrm>
            <a:off x="6428160" y="5431680"/>
            <a:ext cx="5439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·  Orçamento  →  Serviço de Notificação (SE, Hot Spot PA2)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49"/>
          <p:cNvSpPr/>
          <p:nvPr/>
        </p:nvSpPr>
        <p:spPr>
          <a:xfrm>
            <a:off x="6428160" y="5724000"/>
            <a:ext cx="54399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   Porta: NotificacaoService (application/port)  ·  Stub: LogNotificacaoService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05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Design Tático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Building blocks do DDD implementados no domínio da oficina (Evans, 2003)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6"/>
          <p:cNvSpPr/>
          <p:nvPr/>
        </p:nvSpPr>
        <p:spPr>
          <a:xfrm>
            <a:off x="228600" y="1920240"/>
            <a:ext cx="3766680" cy="461700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7"/>
          <p:cNvSpPr/>
          <p:nvPr/>
        </p:nvSpPr>
        <p:spPr>
          <a:xfrm>
            <a:off x="228600" y="1920240"/>
            <a:ext cx="3766680" cy="63360"/>
          </a:xfrm>
          <a:prstGeom prst="rect">
            <a:avLst/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8"/>
          <p:cNvSpPr/>
          <p:nvPr/>
        </p:nvSpPr>
        <p:spPr>
          <a:xfrm>
            <a:off x="393120" y="2011680"/>
            <a:ext cx="343728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Value Objects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9"/>
          <p:cNvSpPr/>
          <p:nvPr/>
        </p:nvSpPr>
        <p:spPr>
          <a:xfrm>
            <a:off x="393120" y="251460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CpfCnpj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10"/>
          <p:cNvSpPr/>
          <p:nvPr/>
        </p:nvSpPr>
        <p:spPr>
          <a:xfrm>
            <a:off x="393120" y="281628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Dígitos verificadores, sem UUID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11"/>
          <p:cNvSpPr/>
          <p:nvPr/>
        </p:nvSpPr>
        <p:spPr>
          <a:xfrm>
            <a:off x="393120" y="3117960"/>
            <a:ext cx="343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12"/>
          <p:cNvSpPr/>
          <p:nvPr/>
        </p:nvSpPr>
        <p:spPr>
          <a:xfrm>
            <a:off x="393120" y="342000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Placa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13"/>
          <p:cNvSpPr/>
          <p:nvPr/>
        </p:nvSpPr>
        <p:spPr>
          <a:xfrm>
            <a:off x="393120" y="372168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Antigo ABC-1234 e Mercosul ABC1D23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14"/>
          <p:cNvSpPr/>
          <p:nvPr/>
        </p:nvSpPr>
        <p:spPr>
          <a:xfrm>
            <a:off x="393120" y="4023360"/>
            <a:ext cx="343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5"/>
          <p:cNvSpPr/>
          <p:nvPr/>
        </p:nvSpPr>
        <p:spPr>
          <a:xfrm>
            <a:off x="393120" y="432504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StatusOS (enum)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6"/>
          <p:cNvSpPr/>
          <p:nvPr/>
        </p:nvSpPr>
        <p:spPr>
          <a:xfrm>
            <a:off x="393120" y="462672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validarTransicaoPara() fecha transições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17"/>
          <p:cNvSpPr/>
          <p:nvPr/>
        </p:nvSpPr>
        <p:spPr>
          <a:xfrm>
            <a:off x="393120" y="4928760"/>
            <a:ext cx="343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18"/>
          <p:cNvSpPr/>
          <p:nvPr/>
        </p:nvSpPr>
        <p:spPr>
          <a:xfrm>
            <a:off x="393120" y="523044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Imutáveis · identificados pelo valor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19"/>
          <p:cNvSpPr/>
          <p:nvPr/>
        </p:nvSpPr>
        <p:spPr>
          <a:xfrm>
            <a:off x="4224600" y="1920240"/>
            <a:ext cx="3766680" cy="461700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Rectangle 20"/>
          <p:cNvSpPr/>
          <p:nvPr/>
        </p:nvSpPr>
        <p:spPr>
          <a:xfrm>
            <a:off x="4224600" y="1920240"/>
            <a:ext cx="3766680" cy="63360"/>
          </a:xfrm>
          <a:prstGeom prst="rect">
            <a:avLst/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21"/>
          <p:cNvSpPr/>
          <p:nvPr/>
        </p:nvSpPr>
        <p:spPr>
          <a:xfrm>
            <a:off x="4389120" y="2011680"/>
            <a:ext cx="343728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Entities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2"/>
          <p:cNvSpPr/>
          <p:nvPr/>
        </p:nvSpPr>
        <p:spPr>
          <a:xfrm>
            <a:off x="4389120" y="251460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Cliente  — UUID 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23"/>
          <p:cNvSpPr/>
          <p:nvPr/>
        </p:nvSpPr>
        <p:spPr>
          <a:xfrm>
            <a:off x="4389120" y="281628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CPF/CNPJ é atributo, não identidade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24"/>
          <p:cNvSpPr/>
          <p:nvPr/>
        </p:nvSpPr>
        <p:spPr>
          <a:xfrm>
            <a:off x="4389120" y="3117960"/>
            <a:ext cx="343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25"/>
          <p:cNvSpPr/>
          <p:nvPr/>
        </p:nvSpPr>
        <p:spPr>
          <a:xfrm>
            <a:off x="4389120" y="342000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Veículo  — UUID 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26"/>
          <p:cNvSpPr/>
          <p:nvPr/>
        </p:nvSpPr>
        <p:spPr>
          <a:xfrm>
            <a:off x="4389120" y="372168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Placa é atributo de domínio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27"/>
          <p:cNvSpPr/>
          <p:nvPr/>
        </p:nvSpPr>
        <p:spPr>
          <a:xfrm>
            <a:off x="4389120" y="4023360"/>
            <a:ext cx="343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28"/>
          <p:cNvSpPr/>
          <p:nvPr/>
        </p:nvSpPr>
        <p:spPr>
          <a:xfrm>
            <a:off x="4389120" y="432504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Serviço  — UUID 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29"/>
          <p:cNvSpPr/>
          <p:nvPr/>
        </p:nvSpPr>
        <p:spPr>
          <a:xfrm>
            <a:off x="4389120" y="462672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Peça  — UUID id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30"/>
          <p:cNvSpPr/>
          <p:nvPr/>
        </p:nvSpPr>
        <p:spPr>
          <a:xfrm>
            <a:off x="4389120" y="4928760"/>
            <a:ext cx="343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31"/>
          <p:cNvSpPr/>
          <p:nvPr/>
        </p:nvSpPr>
        <p:spPr>
          <a:xfrm>
            <a:off x="4389120" y="523044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Estado mutável · UUID persistente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32"/>
          <p:cNvSpPr/>
          <p:nvPr/>
        </p:nvSpPr>
        <p:spPr>
          <a:xfrm>
            <a:off x="8220600" y="1920240"/>
            <a:ext cx="3766680" cy="461700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Rectangle 33"/>
          <p:cNvSpPr/>
          <p:nvPr/>
        </p:nvSpPr>
        <p:spPr>
          <a:xfrm>
            <a:off x="8220600" y="1920240"/>
            <a:ext cx="3766680" cy="6336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TextBox 34"/>
          <p:cNvSpPr/>
          <p:nvPr/>
        </p:nvSpPr>
        <p:spPr>
          <a:xfrm>
            <a:off x="8385120" y="2011680"/>
            <a:ext cx="343728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Aggregate Root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Box 35"/>
          <p:cNvSpPr/>
          <p:nvPr/>
        </p:nvSpPr>
        <p:spPr>
          <a:xfrm>
            <a:off x="8385120" y="251460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OrdemServico  (único AG)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36"/>
          <p:cNvSpPr/>
          <p:nvPr/>
        </p:nvSpPr>
        <p:spPr>
          <a:xfrm>
            <a:off x="8385120" y="2816280"/>
            <a:ext cx="343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37"/>
          <p:cNvSpPr/>
          <p:nvPr/>
        </p:nvSpPr>
        <p:spPr>
          <a:xfrm>
            <a:off x="8385120" y="311796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├─ ItemServico  (interno)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38"/>
          <p:cNvSpPr/>
          <p:nvPr/>
        </p:nvSpPr>
        <p:spPr>
          <a:xfrm>
            <a:off x="8385120" y="342000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   snapshot de preço do Serviço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39"/>
          <p:cNvSpPr/>
          <p:nvPr/>
        </p:nvSpPr>
        <p:spPr>
          <a:xfrm>
            <a:off x="8385120" y="3721680"/>
            <a:ext cx="343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40"/>
          <p:cNvSpPr/>
          <p:nvPr/>
        </p:nvSpPr>
        <p:spPr>
          <a:xfrm>
            <a:off x="8385120" y="402336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├─ ItemPeca  (interno)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41"/>
          <p:cNvSpPr/>
          <p:nvPr/>
        </p:nvSpPr>
        <p:spPr>
          <a:xfrm>
            <a:off x="8385120" y="432504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   snapshot de preço da Peça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42"/>
          <p:cNvSpPr/>
          <p:nvPr/>
        </p:nvSpPr>
        <p:spPr>
          <a:xfrm>
            <a:off x="8385120" y="4626720"/>
            <a:ext cx="343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43"/>
          <p:cNvSpPr/>
          <p:nvPr/>
        </p:nvSpPr>
        <p:spPr>
          <a:xfrm>
            <a:off x="8385120" y="492876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└─ StatusOS  (VO interno)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44"/>
          <p:cNvSpPr/>
          <p:nvPr/>
        </p:nvSpPr>
        <p:spPr>
          <a:xfrm>
            <a:off x="8385120" y="5230440"/>
            <a:ext cx="3437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Acesso somente via OrdemServicoRepository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ectangle 45"/>
          <p:cNvSpPr/>
          <p:nvPr/>
        </p:nvSpPr>
        <p:spPr>
          <a:xfrm>
            <a:off x="0" y="6473880"/>
            <a:ext cx="12188160" cy="383400"/>
          </a:xfrm>
          <a:prstGeom prst="rect">
            <a:avLst/>
          </a:prstGeom>
          <a:solidFill>
            <a:srgbClr val="1e3a5f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TextBox 46"/>
          <p:cNvSpPr/>
          <p:nvPr/>
        </p:nvSpPr>
        <p:spPr>
          <a:xfrm>
            <a:off x="365760" y="6492240"/>
            <a:ext cx="117950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⚡  Use Cases:  AdicionarPecaAOSUseCase  ·  ReprovarOrcamentoUseCase  ·  GerarOrcamentoUseCase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22c5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06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Arquitetura em Camadas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Clean Architecture · dependências apontam para o domínio · testável por camada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ectangle 6"/>
          <p:cNvSpPr/>
          <p:nvPr/>
        </p:nvSpPr>
        <p:spPr>
          <a:xfrm>
            <a:off x="155880" y="1965960"/>
            <a:ext cx="11959560" cy="1206360"/>
          </a:xfrm>
          <a:prstGeom prst="rect">
            <a:avLst/>
          </a:prstGeom>
          <a:solidFill>
            <a:srgbClr val="162944"/>
          </a:solidFill>
          <a:ln w="19080">
            <a:solidFill>
              <a:srgbClr val="7c3aed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Rectangle 7"/>
          <p:cNvSpPr/>
          <p:nvPr/>
        </p:nvSpPr>
        <p:spPr>
          <a:xfrm>
            <a:off x="92160" y="1965960"/>
            <a:ext cx="63360" cy="1206360"/>
          </a:xfrm>
          <a:prstGeom prst="rect">
            <a:avLst/>
          </a:prstGeom>
          <a:solidFill>
            <a:srgbClr val="7c3aed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TextBox 8"/>
          <p:cNvSpPr/>
          <p:nvPr/>
        </p:nvSpPr>
        <p:spPr>
          <a:xfrm>
            <a:off x="201240" y="2057400"/>
            <a:ext cx="29253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7c3aed"/>
                </a:solidFill>
                <a:effectLst/>
                <a:uFillTx/>
                <a:latin typeface="Calibri"/>
              </a:rPr>
              <a:t>Infrastructure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Box 9"/>
          <p:cNvSpPr/>
          <p:nvPr/>
        </p:nvSpPr>
        <p:spPr>
          <a:xfrm>
            <a:off x="201240" y="2532960"/>
            <a:ext cx="2925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infrastructure/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10"/>
          <p:cNvSpPr/>
          <p:nvPr/>
        </p:nvSpPr>
        <p:spPr>
          <a:xfrm>
            <a:off x="3474720" y="2075760"/>
            <a:ext cx="83934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Spring Boot · JPA · Flyway · Security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REST Controllers · LogNotificacaoService (ACL stub)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Rectangle 11"/>
          <p:cNvSpPr/>
          <p:nvPr/>
        </p:nvSpPr>
        <p:spPr>
          <a:xfrm>
            <a:off x="868680" y="3291840"/>
            <a:ext cx="10450800" cy="1206360"/>
          </a:xfrm>
          <a:prstGeom prst="rect">
            <a:avLst/>
          </a:prstGeom>
          <a:solidFill>
            <a:srgbClr val="162944"/>
          </a:solidFill>
          <a:ln w="19080">
            <a:solidFill>
              <a:srgbClr val="3b82f6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Rectangle 12"/>
          <p:cNvSpPr/>
          <p:nvPr/>
        </p:nvSpPr>
        <p:spPr>
          <a:xfrm>
            <a:off x="868680" y="3291840"/>
            <a:ext cx="63360" cy="1206360"/>
          </a:xfrm>
          <a:prstGeom prst="rect">
            <a:avLst/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13"/>
          <p:cNvSpPr/>
          <p:nvPr/>
        </p:nvSpPr>
        <p:spPr>
          <a:xfrm>
            <a:off x="1069920" y="3383280"/>
            <a:ext cx="29253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Application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4"/>
          <p:cNvSpPr/>
          <p:nvPr/>
        </p:nvSpPr>
        <p:spPr>
          <a:xfrm>
            <a:off x="1069920" y="3858840"/>
            <a:ext cx="2925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application/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15"/>
          <p:cNvSpPr/>
          <p:nvPr/>
        </p:nvSpPr>
        <p:spPr>
          <a:xfrm>
            <a:off x="4343400" y="3401640"/>
            <a:ext cx="66560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Use Cases · Ports de entrada e saída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Orquestra o domínio sem conhecer HTTP ou JPA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Rectangle 16"/>
          <p:cNvSpPr/>
          <p:nvPr/>
        </p:nvSpPr>
        <p:spPr>
          <a:xfrm>
            <a:off x="1737360" y="4617720"/>
            <a:ext cx="8713440" cy="1206360"/>
          </a:xfrm>
          <a:prstGeom prst="rect">
            <a:avLst/>
          </a:prstGeom>
          <a:solidFill>
            <a:srgbClr val="162944"/>
          </a:solidFill>
          <a:ln w="19080">
            <a:solidFill>
              <a:srgbClr val="f59e0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Rectangle 17"/>
          <p:cNvSpPr/>
          <p:nvPr/>
        </p:nvSpPr>
        <p:spPr>
          <a:xfrm>
            <a:off x="1737360" y="4617720"/>
            <a:ext cx="63360" cy="120636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TextBox 18"/>
          <p:cNvSpPr/>
          <p:nvPr/>
        </p:nvSpPr>
        <p:spPr>
          <a:xfrm>
            <a:off x="1938600" y="4709160"/>
            <a:ext cx="29253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Domain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19"/>
          <p:cNvSpPr/>
          <p:nvPr/>
        </p:nvSpPr>
        <p:spPr>
          <a:xfrm>
            <a:off x="1938600" y="5184720"/>
            <a:ext cx="2925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domain/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20"/>
          <p:cNvSpPr/>
          <p:nvPr/>
        </p:nvSpPr>
        <p:spPr>
          <a:xfrm>
            <a:off x="5212080" y="4727520"/>
            <a:ext cx="4918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Entidades · Value Objects · Aggregates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Exceções · Interfaces de Repositório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Puro Java — zero dependência de framework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21"/>
          <p:cNvSpPr/>
          <p:nvPr/>
        </p:nvSpPr>
        <p:spPr>
          <a:xfrm>
            <a:off x="228600" y="5943600"/>
            <a:ext cx="36568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⬆  regra de dependência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22"/>
          <p:cNvSpPr/>
          <p:nvPr/>
        </p:nvSpPr>
        <p:spPr>
          <a:xfrm>
            <a:off x="228600" y="6355080"/>
            <a:ext cx="114292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Verificável empiricamente: testes de domínio executam sem Spring Context (ms). JaCoCo enforce 80%+ em domain.* a cada build.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Rectangle 1"/>
          <p:cNvSpPr/>
          <p:nvPr/>
        </p:nvSpPr>
        <p:spPr>
          <a:xfrm>
            <a:off x="360" y="36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07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Ciclo de Vida da Ordem de Serviço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5"/>
          <p:cNvSpPr/>
          <p:nvPr/>
        </p:nvSpPr>
        <p:spPr>
          <a:xfrm>
            <a:off x="274320" y="159840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Invariante central: OS só avança — nunca retrocede. Validado em StatusOS.validarTransicaoPara()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ounded Rectangle 6"/>
          <p:cNvSpPr/>
          <p:nvPr/>
        </p:nvSpPr>
        <p:spPr>
          <a:xfrm>
            <a:off x="274320" y="1871640"/>
            <a:ext cx="1809720" cy="105084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80">
            <a:solidFill>
              <a:srgbClr val="fb923c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0" name="TextBox 7"/>
          <p:cNvSpPr/>
          <p:nvPr/>
        </p:nvSpPr>
        <p:spPr>
          <a:xfrm>
            <a:off x="274320" y="2252520"/>
            <a:ext cx="180972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Recebida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8"/>
          <p:cNvSpPr/>
          <p:nvPr/>
        </p:nvSpPr>
        <p:spPr>
          <a:xfrm>
            <a:off x="2084760" y="2169000"/>
            <a:ext cx="2095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ounded Rectangle 9"/>
          <p:cNvSpPr/>
          <p:nvPr/>
        </p:nvSpPr>
        <p:spPr>
          <a:xfrm>
            <a:off x="2267640" y="1871640"/>
            <a:ext cx="1809720" cy="105084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80">
            <a:solidFill>
              <a:srgbClr val="3b82f6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Box 10"/>
          <p:cNvSpPr/>
          <p:nvPr/>
        </p:nvSpPr>
        <p:spPr>
          <a:xfrm>
            <a:off x="2267640" y="2252880"/>
            <a:ext cx="1809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3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Em Diagnóstico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11"/>
          <p:cNvSpPr/>
          <p:nvPr/>
        </p:nvSpPr>
        <p:spPr>
          <a:xfrm>
            <a:off x="4078080" y="2169000"/>
            <a:ext cx="2095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ounded Rectangle 12"/>
          <p:cNvSpPr/>
          <p:nvPr/>
        </p:nvSpPr>
        <p:spPr>
          <a:xfrm>
            <a:off x="4260960" y="1871640"/>
            <a:ext cx="1809720" cy="105084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80">
            <a:solidFill>
              <a:srgbClr val="f59e0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Box 13"/>
          <p:cNvSpPr/>
          <p:nvPr/>
        </p:nvSpPr>
        <p:spPr>
          <a:xfrm>
            <a:off x="4260960" y="2153520"/>
            <a:ext cx="180972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3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Aguardando Aprovação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14"/>
          <p:cNvSpPr/>
          <p:nvPr/>
        </p:nvSpPr>
        <p:spPr>
          <a:xfrm>
            <a:off x="6071760" y="2169000"/>
            <a:ext cx="2095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Rounded Rectangle 15"/>
          <p:cNvSpPr/>
          <p:nvPr/>
        </p:nvSpPr>
        <p:spPr>
          <a:xfrm>
            <a:off x="6254640" y="1871640"/>
            <a:ext cx="1809720" cy="105084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80">
            <a:solidFill>
              <a:srgbClr val="22c55e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TextBox 16"/>
          <p:cNvSpPr/>
          <p:nvPr/>
        </p:nvSpPr>
        <p:spPr>
          <a:xfrm>
            <a:off x="6254640" y="2252880"/>
            <a:ext cx="1809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3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Em Execução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17"/>
          <p:cNvSpPr/>
          <p:nvPr/>
        </p:nvSpPr>
        <p:spPr>
          <a:xfrm>
            <a:off x="8065080" y="2169000"/>
            <a:ext cx="2095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Rounded Rectangle 18"/>
          <p:cNvSpPr/>
          <p:nvPr/>
        </p:nvSpPr>
        <p:spPr>
          <a:xfrm>
            <a:off x="8247960" y="1871640"/>
            <a:ext cx="1809720" cy="105084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80">
            <a:solidFill>
              <a:srgbClr val="14b8a6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Box 19"/>
          <p:cNvSpPr/>
          <p:nvPr/>
        </p:nvSpPr>
        <p:spPr>
          <a:xfrm>
            <a:off x="8229600" y="2237040"/>
            <a:ext cx="180972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Finalizada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20"/>
          <p:cNvSpPr/>
          <p:nvPr/>
        </p:nvSpPr>
        <p:spPr>
          <a:xfrm>
            <a:off x="10058400" y="2169000"/>
            <a:ext cx="2095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Rounded Rectangle 21"/>
          <p:cNvSpPr/>
          <p:nvPr/>
        </p:nvSpPr>
        <p:spPr>
          <a:xfrm>
            <a:off x="10241280" y="1871640"/>
            <a:ext cx="1809720" cy="105084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80">
            <a:solidFill>
              <a:srgbClr val="22c55e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22"/>
          <p:cNvSpPr/>
          <p:nvPr/>
        </p:nvSpPr>
        <p:spPr>
          <a:xfrm>
            <a:off x="10241280" y="2252880"/>
            <a:ext cx="1809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Entregue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Rounded Rectangle 23"/>
          <p:cNvSpPr/>
          <p:nvPr/>
        </p:nvSpPr>
        <p:spPr>
          <a:xfrm>
            <a:off x="5212080" y="3334680"/>
            <a:ext cx="1919520" cy="959400"/>
          </a:xfrm>
          <a:prstGeom prst="roundRect">
            <a:avLst>
              <a:gd name="adj" fmla="val 16667"/>
            </a:avLst>
          </a:prstGeom>
          <a:solidFill>
            <a:srgbClr val="162944"/>
          </a:solidFill>
          <a:ln w="19080">
            <a:solidFill>
              <a:srgbClr val="f43f5e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TextBox 24"/>
          <p:cNvSpPr/>
          <p:nvPr/>
        </p:nvSpPr>
        <p:spPr>
          <a:xfrm>
            <a:off x="5212080" y="3657960"/>
            <a:ext cx="191952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Cancelada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25"/>
          <p:cNvSpPr/>
          <p:nvPr/>
        </p:nvSpPr>
        <p:spPr>
          <a:xfrm>
            <a:off x="4846320" y="2968920"/>
            <a:ext cx="26510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↓ reprovação + estorno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26"/>
          <p:cNvSpPr/>
          <p:nvPr/>
        </p:nvSpPr>
        <p:spPr>
          <a:xfrm>
            <a:off x="228600" y="4343400"/>
            <a:ext cx="45712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Endpoints do ciclo de vida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27"/>
          <p:cNvSpPr/>
          <p:nvPr/>
        </p:nvSpPr>
        <p:spPr>
          <a:xfrm>
            <a:off x="228600" y="4827960"/>
            <a:ext cx="30168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/api/ordens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28"/>
          <p:cNvSpPr/>
          <p:nvPr/>
        </p:nvSpPr>
        <p:spPr>
          <a:xfrm>
            <a:off x="3291840" y="4827960"/>
            <a:ext cx="2651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Abre OS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29"/>
          <p:cNvSpPr/>
          <p:nvPr/>
        </p:nvSpPr>
        <p:spPr>
          <a:xfrm>
            <a:off x="228600" y="5266800"/>
            <a:ext cx="30168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…/iniciar-diagnostico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30"/>
          <p:cNvSpPr/>
          <p:nvPr/>
        </p:nvSpPr>
        <p:spPr>
          <a:xfrm>
            <a:off x="3291840" y="5266800"/>
            <a:ext cx="2651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Inicia diagnóstico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31"/>
          <p:cNvSpPr/>
          <p:nvPr/>
        </p:nvSpPr>
        <p:spPr>
          <a:xfrm>
            <a:off x="228600" y="5706000"/>
            <a:ext cx="30168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…/servicos + /pecas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32"/>
          <p:cNvSpPr/>
          <p:nvPr/>
        </p:nvSpPr>
        <p:spPr>
          <a:xfrm>
            <a:off x="3291840" y="5706000"/>
            <a:ext cx="265104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Adiciona itens (snapshot de preço; peça: decrementa estoque)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33"/>
          <p:cNvSpPr/>
          <p:nvPr/>
        </p:nvSpPr>
        <p:spPr>
          <a:xfrm>
            <a:off x="228600" y="6144840"/>
            <a:ext cx="30168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…/gerar-orcamento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34"/>
          <p:cNvSpPr/>
          <p:nvPr/>
        </p:nvSpPr>
        <p:spPr>
          <a:xfrm>
            <a:off x="3291840" y="6144840"/>
            <a:ext cx="2651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Gera orçamento e notifica cliente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35"/>
          <p:cNvSpPr/>
          <p:nvPr/>
        </p:nvSpPr>
        <p:spPr>
          <a:xfrm>
            <a:off x="6263640" y="4827960"/>
            <a:ext cx="30168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…/aprovar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36"/>
          <p:cNvSpPr/>
          <p:nvPr/>
        </p:nvSpPr>
        <p:spPr>
          <a:xfrm>
            <a:off x="9326880" y="4827960"/>
            <a:ext cx="2651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Aprova → Em Execução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37"/>
          <p:cNvSpPr/>
          <p:nvPr/>
        </p:nvSpPr>
        <p:spPr>
          <a:xfrm>
            <a:off x="6263640" y="5266800"/>
            <a:ext cx="30168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…/concluir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38"/>
          <p:cNvSpPr/>
          <p:nvPr/>
        </p:nvSpPr>
        <p:spPr>
          <a:xfrm>
            <a:off x="9326880" y="5266800"/>
            <a:ext cx="2651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Conclui serviços → Finalizada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39"/>
          <p:cNvSpPr/>
          <p:nvPr/>
        </p:nvSpPr>
        <p:spPr>
          <a:xfrm>
            <a:off x="6263640" y="5706000"/>
            <a:ext cx="30168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…/entregar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40"/>
          <p:cNvSpPr/>
          <p:nvPr/>
        </p:nvSpPr>
        <p:spPr>
          <a:xfrm>
            <a:off x="9326880" y="5706000"/>
            <a:ext cx="2651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Entrega → Entregue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41"/>
          <p:cNvSpPr/>
          <p:nvPr/>
        </p:nvSpPr>
        <p:spPr>
          <a:xfrm>
            <a:off x="6263640" y="6144840"/>
            <a:ext cx="30168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POST …/reprovar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42"/>
          <p:cNvSpPr/>
          <p:nvPr/>
        </p:nvSpPr>
        <p:spPr>
          <a:xfrm>
            <a:off x="9326880" y="6144840"/>
            <a:ext cx="265104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— Cancela + estorna estoque → Cancelada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Rectangle 1"/>
          <p:cNvSpPr/>
          <p:nvPr/>
        </p:nvSpPr>
        <p:spPr>
          <a:xfrm>
            <a:off x="6372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08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Segurança — JWT com Refresh Token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Autenticação stateless (access) + stateful (refresh) com rotação e detecção de token roubado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Rectangle 6"/>
          <p:cNvSpPr/>
          <p:nvPr/>
        </p:nvSpPr>
        <p:spPr>
          <a:xfrm>
            <a:off x="228600" y="1783080"/>
            <a:ext cx="5760000" cy="26053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2" name="Rectangle 7"/>
          <p:cNvSpPr/>
          <p:nvPr/>
        </p:nvSpPr>
        <p:spPr>
          <a:xfrm>
            <a:off x="228600" y="1783080"/>
            <a:ext cx="5760000" cy="6336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Box 8"/>
          <p:cNvSpPr/>
          <p:nvPr/>
        </p:nvSpPr>
        <p:spPr>
          <a:xfrm>
            <a:off x="411480" y="1892880"/>
            <a:ext cx="53942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🔑  Access Token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9"/>
          <p:cNvSpPr/>
          <p:nvPr/>
        </p:nvSpPr>
        <p:spPr>
          <a:xfrm>
            <a:off x="411480" y="2450520"/>
            <a:ext cx="1005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Tipo: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Box 10"/>
          <p:cNvSpPr/>
          <p:nvPr/>
        </p:nvSpPr>
        <p:spPr>
          <a:xfrm>
            <a:off x="1508760" y="2450520"/>
            <a:ext cx="4479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JWT · HMAC-SHA384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11"/>
          <p:cNvSpPr/>
          <p:nvPr/>
        </p:nvSpPr>
        <p:spPr>
          <a:xfrm>
            <a:off x="411480" y="2953440"/>
            <a:ext cx="1005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Validade: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12"/>
          <p:cNvSpPr/>
          <p:nvPr/>
        </p:nvSpPr>
        <p:spPr>
          <a:xfrm>
            <a:off x="1508760" y="2953440"/>
            <a:ext cx="4479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15 minutos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13"/>
          <p:cNvSpPr/>
          <p:nvPr/>
        </p:nvSpPr>
        <p:spPr>
          <a:xfrm>
            <a:off x="411480" y="3456360"/>
            <a:ext cx="1005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Storage: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14"/>
          <p:cNvSpPr/>
          <p:nvPr/>
        </p:nvSpPr>
        <p:spPr>
          <a:xfrm>
            <a:off x="1508760" y="3456360"/>
            <a:ext cx="4479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Stateless — validado pela assinatura, sem banco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ectangle 15"/>
          <p:cNvSpPr/>
          <p:nvPr/>
        </p:nvSpPr>
        <p:spPr>
          <a:xfrm>
            <a:off x="6263640" y="1783080"/>
            <a:ext cx="5760000" cy="26053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Rectangle 16"/>
          <p:cNvSpPr/>
          <p:nvPr/>
        </p:nvSpPr>
        <p:spPr>
          <a:xfrm>
            <a:off x="6263640" y="1783080"/>
            <a:ext cx="5760000" cy="63360"/>
          </a:xfrm>
          <a:prstGeom prst="rect">
            <a:avLst/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Box 17"/>
          <p:cNvSpPr/>
          <p:nvPr/>
        </p:nvSpPr>
        <p:spPr>
          <a:xfrm>
            <a:off x="6446520" y="1892880"/>
            <a:ext cx="53942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🔄  Refresh Token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18"/>
          <p:cNvSpPr/>
          <p:nvPr/>
        </p:nvSpPr>
        <p:spPr>
          <a:xfrm>
            <a:off x="6446520" y="2450520"/>
            <a:ext cx="1005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Tipo: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19"/>
          <p:cNvSpPr/>
          <p:nvPr/>
        </p:nvSpPr>
        <p:spPr>
          <a:xfrm>
            <a:off x="7543800" y="2450520"/>
            <a:ext cx="4479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UUID opaco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20"/>
          <p:cNvSpPr/>
          <p:nvPr/>
        </p:nvSpPr>
        <p:spPr>
          <a:xfrm>
            <a:off x="6446520" y="2953440"/>
            <a:ext cx="1005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Validade: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21"/>
          <p:cNvSpPr/>
          <p:nvPr/>
        </p:nvSpPr>
        <p:spPr>
          <a:xfrm>
            <a:off x="7543800" y="2953440"/>
            <a:ext cx="4479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7 dias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22"/>
          <p:cNvSpPr/>
          <p:nvPr/>
        </p:nvSpPr>
        <p:spPr>
          <a:xfrm>
            <a:off x="6446520" y="3456360"/>
            <a:ext cx="1005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Storage: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23"/>
          <p:cNvSpPr/>
          <p:nvPr/>
        </p:nvSpPr>
        <p:spPr>
          <a:xfrm>
            <a:off x="7543800" y="3456360"/>
            <a:ext cx="4479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Stateful — persiste na tabela refresh_tokens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Rectangle 24"/>
          <p:cNvSpPr/>
          <p:nvPr/>
        </p:nvSpPr>
        <p:spPr>
          <a:xfrm>
            <a:off x="228600" y="4617720"/>
            <a:ext cx="11749320" cy="171828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Rectangle 25"/>
          <p:cNvSpPr/>
          <p:nvPr/>
        </p:nvSpPr>
        <p:spPr>
          <a:xfrm>
            <a:off x="228600" y="4617720"/>
            <a:ext cx="11749320" cy="45000"/>
          </a:xfrm>
          <a:prstGeom prst="rect">
            <a:avLst/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TextBox 26"/>
          <p:cNvSpPr/>
          <p:nvPr/>
        </p:nvSpPr>
        <p:spPr>
          <a:xfrm>
            <a:off x="365760" y="4663440"/>
            <a:ext cx="45712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🔁  Rotação de Refresh Tokens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Rounded Rectangle 27"/>
          <p:cNvSpPr/>
          <p:nvPr/>
        </p:nvSpPr>
        <p:spPr>
          <a:xfrm>
            <a:off x="365760" y="5120640"/>
            <a:ext cx="1782360" cy="89532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80">
            <a:solidFill>
              <a:srgbClr val="14b8a6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28"/>
          <p:cNvSpPr/>
          <p:nvPr/>
        </p:nvSpPr>
        <p:spPr>
          <a:xfrm>
            <a:off x="411480" y="5447160"/>
            <a:ext cx="16909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0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Envia refresh token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Rounded Rectangle 30"/>
          <p:cNvSpPr/>
          <p:nvPr/>
        </p:nvSpPr>
        <p:spPr>
          <a:xfrm>
            <a:off x="2304360" y="5120640"/>
            <a:ext cx="1782360" cy="89532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80">
            <a:solidFill>
              <a:srgbClr val="14b8a6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TextBox 31"/>
          <p:cNvSpPr/>
          <p:nvPr/>
        </p:nvSpPr>
        <p:spPr>
          <a:xfrm>
            <a:off x="2350080" y="5447160"/>
            <a:ext cx="16909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0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Verifica no banco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Rounded Rectangle 33"/>
          <p:cNvSpPr/>
          <p:nvPr/>
        </p:nvSpPr>
        <p:spPr>
          <a:xfrm>
            <a:off x="4242960" y="5120640"/>
            <a:ext cx="1782360" cy="89532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80">
            <a:solidFill>
              <a:srgbClr val="14b8a6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Box 34"/>
          <p:cNvSpPr/>
          <p:nvPr/>
        </p:nvSpPr>
        <p:spPr>
          <a:xfrm>
            <a:off x="4288680" y="5447160"/>
            <a:ext cx="16909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0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Invalida token antigo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Rounded Rectangle 36"/>
          <p:cNvSpPr/>
          <p:nvPr/>
        </p:nvSpPr>
        <p:spPr>
          <a:xfrm>
            <a:off x="6181200" y="5120640"/>
            <a:ext cx="1782360" cy="89532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80">
            <a:solidFill>
              <a:srgbClr val="14b8a6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TextBox 37"/>
          <p:cNvSpPr/>
          <p:nvPr/>
        </p:nvSpPr>
        <p:spPr>
          <a:xfrm>
            <a:off x="6226920" y="5370840"/>
            <a:ext cx="1690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0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Emite novo par access+refresh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Rounded Rectangle 39"/>
          <p:cNvSpPr/>
          <p:nvPr/>
        </p:nvSpPr>
        <p:spPr>
          <a:xfrm>
            <a:off x="8119800" y="5120640"/>
            <a:ext cx="1782360" cy="89532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80">
            <a:solidFill>
              <a:srgbClr val="f43f5e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TextBox 40"/>
          <p:cNvSpPr/>
          <p:nvPr/>
        </p:nvSpPr>
        <p:spPr>
          <a:xfrm>
            <a:off x="8165520" y="5447160"/>
            <a:ext cx="16909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Token já revogado?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Rounded Rectangle 42"/>
          <p:cNvSpPr/>
          <p:nvPr/>
        </p:nvSpPr>
        <p:spPr>
          <a:xfrm>
            <a:off x="10058400" y="5120640"/>
            <a:ext cx="1782360" cy="89532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9080">
            <a:solidFill>
              <a:srgbClr val="f43f5e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TextBox 43"/>
          <p:cNvSpPr/>
          <p:nvPr/>
        </p:nvSpPr>
        <p:spPr>
          <a:xfrm>
            <a:off x="10104120" y="5370840"/>
            <a:ext cx="1690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0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Revoga TODOS do usuário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Box 44"/>
          <p:cNvSpPr/>
          <p:nvPr/>
        </p:nvSpPr>
        <p:spPr>
          <a:xfrm>
            <a:off x="365760" y="6126480"/>
            <a:ext cx="11429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RefreshTokenService.rotacionar()  ·  detecção de reutilização revoga família inteira do usuário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22c5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09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Qualidade de Software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Pirâmide de testes · JaCoCo enforce 80% · OWASP Dependency Check · SonarCloud Quality Gate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Rectangle 6"/>
          <p:cNvSpPr/>
          <p:nvPr/>
        </p:nvSpPr>
        <p:spPr>
          <a:xfrm>
            <a:off x="228600" y="1691640"/>
            <a:ext cx="3766680" cy="46627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Rectangle 7"/>
          <p:cNvSpPr/>
          <p:nvPr/>
        </p:nvSpPr>
        <p:spPr>
          <a:xfrm>
            <a:off x="228600" y="1691640"/>
            <a:ext cx="3766680" cy="63360"/>
          </a:xfrm>
          <a:prstGeom prst="rect">
            <a:avLst/>
          </a:prstGeom>
          <a:solidFill>
            <a:srgbClr val="22c5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2" name="TextBox 8"/>
          <p:cNvSpPr/>
          <p:nvPr/>
        </p:nvSpPr>
        <p:spPr>
          <a:xfrm>
            <a:off x="411480" y="1783080"/>
            <a:ext cx="6393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9"/>
          <p:cNvSpPr/>
          <p:nvPr/>
        </p:nvSpPr>
        <p:spPr>
          <a:xfrm>
            <a:off x="228600" y="2377440"/>
            <a:ext cx="3766680" cy="94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104</a:t>
            </a:r>
            <a:endParaRPr b="0" lang="en-US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Box 10"/>
          <p:cNvSpPr/>
          <p:nvPr/>
        </p:nvSpPr>
        <p:spPr>
          <a:xfrm>
            <a:off x="411480" y="3520440"/>
            <a:ext cx="340092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Testes automatizados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11"/>
          <p:cNvSpPr/>
          <p:nvPr/>
        </p:nvSpPr>
        <p:spPr>
          <a:xfrm>
            <a:off x="411480" y="4069080"/>
            <a:ext cx="34009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Domain: JUnit 5 puro (sem Spring)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Application: JUnit 5 + Mockito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Integração: Testcontainers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(PostgreSQL real)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Rectangle 12"/>
          <p:cNvSpPr/>
          <p:nvPr/>
        </p:nvSpPr>
        <p:spPr>
          <a:xfrm>
            <a:off x="4224600" y="1691640"/>
            <a:ext cx="3766680" cy="46627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Rectangle 13"/>
          <p:cNvSpPr/>
          <p:nvPr/>
        </p:nvSpPr>
        <p:spPr>
          <a:xfrm>
            <a:off x="4224600" y="1691640"/>
            <a:ext cx="3766680" cy="6336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Box 14"/>
          <p:cNvSpPr/>
          <p:nvPr/>
        </p:nvSpPr>
        <p:spPr>
          <a:xfrm>
            <a:off x="4407480" y="1783080"/>
            <a:ext cx="6393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📊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15"/>
          <p:cNvSpPr/>
          <p:nvPr/>
        </p:nvSpPr>
        <p:spPr>
          <a:xfrm>
            <a:off x="4224600" y="2377440"/>
            <a:ext cx="3766680" cy="94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80%+</a:t>
            </a:r>
            <a:endParaRPr b="0" lang="en-US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16"/>
          <p:cNvSpPr/>
          <p:nvPr/>
        </p:nvSpPr>
        <p:spPr>
          <a:xfrm>
            <a:off x="4407480" y="3520440"/>
            <a:ext cx="340092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Cobertura de domínio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Box 17"/>
          <p:cNvSpPr/>
          <p:nvPr/>
        </p:nvSpPr>
        <p:spPr>
          <a:xfrm>
            <a:off x="4407480" y="4069080"/>
            <a:ext cx="34009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JaCoCo fase verify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Falha o build se &lt; 80%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Pacote: com.oficina.mecanica.domain.*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Automatizado com Sonar na pipeline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Rectangle 18"/>
          <p:cNvSpPr/>
          <p:nvPr/>
        </p:nvSpPr>
        <p:spPr>
          <a:xfrm>
            <a:off x="8220600" y="1691640"/>
            <a:ext cx="3766680" cy="466272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3" name="Rectangle 19"/>
          <p:cNvSpPr/>
          <p:nvPr/>
        </p:nvSpPr>
        <p:spPr>
          <a:xfrm>
            <a:off x="8220600" y="1691640"/>
            <a:ext cx="3766680" cy="63360"/>
          </a:xfrm>
          <a:prstGeom prst="rect">
            <a:avLst/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4" name="TextBox 20"/>
          <p:cNvSpPr/>
          <p:nvPr/>
        </p:nvSpPr>
        <p:spPr>
          <a:xfrm>
            <a:off x="8403480" y="1783080"/>
            <a:ext cx="6393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🛡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Box 21"/>
          <p:cNvSpPr/>
          <p:nvPr/>
        </p:nvSpPr>
        <p:spPr>
          <a:xfrm>
            <a:off x="8220600" y="2377440"/>
            <a:ext cx="3766680" cy="94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PASS</a:t>
            </a:r>
            <a:endParaRPr b="0" lang="en-US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22"/>
          <p:cNvSpPr/>
          <p:nvPr/>
        </p:nvSpPr>
        <p:spPr>
          <a:xfrm>
            <a:off x="8403480" y="3520440"/>
            <a:ext cx="340092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OWASP Dep. Check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23"/>
          <p:cNvSpPr/>
          <p:nvPr/>
        </p:nvSpPr>
        <p:spPr>
          <a:xfrm>
            <a:off x="8403480" y="4069080"/>
            <a:ext cx="34009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7 supressões documentadas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3 falsos positivos (DefaultServlet)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4 sem patch — risco aceito 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documentado (Spring Sec + Tomcat)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Rectangle 24"/>
          <p:cNvSpPr/>
          <p:nvPr/>
        </p:nvSpPr>
        <p:spPr>
          <a:xfrm>
            <a:off x="0" y="6473880"/>
            <a:ext cx="12188160" cy="383400"/>
          </a:xfrm>
          <a:prstGeom prst="rect">
            <a:avLst/>
          </a:prstGeom>
          <a:solidFill>
            <a:srgbClr val="1e3a5f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9" name="TextBox 25"/>
          <p:cNvSpPr/>
          <p:nvPr/>
        </p:nvSpPr>
        <p:spPr>
          <a:xfrm>
            <a:off x="365760" y="6492240"/>
            <a:ext cx="11795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mvn test   ·   mvn verify   ·   mvn dependency-check:check   ·   GitHub Actions: mvn verify sonar:sonar  →  Quality Gate bloqueante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1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10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Débitos Técnicos Conhecidos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Decisões conscientes de MVP — identificadas, documentadas, priorizadas para a próxima fase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Rectangle 6"/>
          <p:cNvSpPr/>
          <p:nvPr/>
        </p:nvSpPr>
        <p:spPr>
          <a:xfrm>
            <a:off x="228600" y="1828800"/>
            <a:ext cx="11730960" cy="137088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6" name="Rectangle 7"/>
          <p:cNvSpPr/>
          <p:nvPr/>
        </p:nvSpPr>
        <p:spPr>
          <a:xfrm>
            <a:off x="228600" y="1828800"/>
            <a:ext cx="63360" cy="1370880"/>
          </a:xfrm>
          <a:prstGeom prst="rect">
            <a:avLst/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Box 8"/>
          <p:cNvSpPr/>
          <p:nvPr/>
        </p:nvSpPr>
        <p:spPr>
          <a:xfrm>
            <a:off x="502920" y="1938600"/>
            <a:ext cx="1124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Mappers manuais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9"/>
          <p:cNvSpPr/>
          <p:nvPr/>
        </p:nvSpPr>
        <p:spPr>
          <a:xfrm>
            <a:off x="502920" y="2304360"/>
            <a:ext cx="530280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⚠ Conversão JPA Entity ↔ Domain Object feita à mão nos adapters de persistência.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10"/>
          <p:cNvSpPr/>
          <p:nvPr/>
        </p:nvSpPr>
        <p:spPr>
          <a:xfrm>
            <a:off x="5989320" y="2304360"/>
            <a:ext cx="576000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MapStruct — geração em compile-time, campo faltante vira erro de compilação, zero overhead em runtime.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Rectangle 11"/>
          <p:cNvSpPr/>
          <p:nvPr/>
        </p:nvSpPr>
        <p:spPr>
          <a:xfrm>
            <a:off x="228600" y="3337560"/>
            <a:ext cx="11730960" cy="137088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1" name="Rectangle 12"/>
          <p:cNvSpPr/>
          <p:nvPr/>
        </p:nvSpPr>
        <p:spPr>
          <a:xfrm>
            <a:off x="228600" y="3337560"/>
            <a:ext cx="63360" cy="1370880"/>
          </a:xfrm>
          <a:prstGeom prst="rect">
            <a:avLst/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2" name="TextBox 13"/>
          <p:cNvSpPr/>
          <p:nvPr/>
        </p:nvSpPr>
        <p:spPr>
          <a:xfrm>
            <a:off x="502920" y="3447360"/>
            <a:ext cx="1124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Notificação stub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14"/>
          <p:cNvSpPr/>
          <p:nvPr/>
        </p:nvSpPr>
        <p:spPr>
          <a:xfrm>
            <a:off x="502920" y="3813120"/>
            <a:ext cx="530280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⚠ NotificacaoService é um port sem implementação concreta. E-mail e SMS não são enviados.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5"/>
          <p:cNvSpPr/>
          <p:nvPr/>
        </p:nvSpPr>
        <p:spPr>
          <a:xfrm>
            <a:off x="5989320" y="3813120"/>
            <a:ext cx="576000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Adapter com JavaMail / SendGrid / AWS SES. Canal ainda indefinido — Hot Spot PA2 do Event Storming.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Rectangle 16"/>
          <p:cNvSpPr/>
          <p:nvPr/>
        </p:nvSpPr>
        <p:spPr>
          <a:xfrm>
            <a:off x="228600" y="4846320"/>
            <a:ext cx="11730960" cy="1370880"/>
          </a:xfrm>
          <a:prstGeom prst="rect">
            <a:avLst/>
          </a:prstGeom>
          <a:solidFill>
            <a:srgbClr val="16294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Rectangle 17"/>
          <p:cNvSpPr/>
          <p:nvPr/>
        </p:nvSpPr>
        <p:spPr>
          <a:xfrm>
            <a:off x="228600" y="4846320"/>
            <a:ext cx="63360" cy="1370880"/>
          </a:xfrm>
          <a:prstGeom prst="rect">
            <a:avLst/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7" name="TextBox 18"/>
          <p:cNvSpPr/>
          <p:nvPr/>
        </p:nvSpPr>
        <p:spPr>
          <a:xfrm>
            <a:off x="502920" y="4956120"/>
            <a:ext cx="1124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Reconstituidor com 9 parâmetros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Box 19"/>
          <p:cNvSpPr/>
          <p:nvPr/>
        </p:nvSpPr>
        <p:spPr>
          <a:xfrm>
            <a:off x="502920" y="5321880"/>
            <a:ext cx="530280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⚠ Método fromPersistencia em OrdemServico tem 9 parâmetros (Sonar S107).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20"/>
          <p:cNvSpPr/>
          <p:nvPr/>
        </p:nvSpPr>
        <p:spPr>
          <a:xfrm>
            <a:off x="5989320" y="5321880"/>
            <a:ext cx="576000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→ Encapsular em record DadosOrdemServico — 1 parâmetro, invariantes claras, sem Sonar smell.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ectangle 21"/>
          <p:cNvSpPr/>
          <p:nvPr/>
        </p:nvSpPr>
        <p:spPr>
          <a:xfrm>
            <a:off x="0" y="6473880"/>
            <a:ext cx="12188160" cy="383400"/>
          </a:xfrm>
          <a:prstGeom prst="rect">
            <a:avLst/>
          </a:prstGeom>
          <a:solidFill>
            <a:srgbClr val="1e3a5f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1" name="TextBox 22"/>
          <p:cNvSpPr/>
          <p:nvPr/>
        </p:nvSpPr>
        <p:spPr>
          <a:xfrm>
            <a:off x="365760" y="6492240"/>
            <a:ext cx="11795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Documentado em README.md e documento de entrega — seção 8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3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4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11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Demonstração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5"/>
          <p:cNvSpPr/>
          <p:nvPr/>
        </p:nvSpPr>
        <p:spPr>
          <a:xfrm>
            <a:off x="228600" y="1463040"/>
            <a:ext cx="1142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docker-compose up --build  →  http://localhost:8080/swagger-ui.html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ounded Rectangle 6"/>
          <p:cNvSpPr/>
          <p:nvPr/>
        </p:nvSpPr>
        <p:spPr>
          <a:xfrm>
            <a:off x="228600" y="1874520"/>
            <a:ext cx="529560" cy="867960"/>
          </a:xfrm>
          <a:prstGeom prst="roundRect">
            <a:avLst>
              <a:gd name="adj" fmla="val 16667"/>
            </a:avLst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Box 7"/>
          <p:cNvSpPr/>
          <p:nvPr/>
        </p:nvSpPr>
        <p:spPr>
          <a:xfrm>
            <a:off x="228600" y="1874520"/>
            <a:ext cx="5295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1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8"/>
          <p:cNvSpPr/>
          <p:nvPr/>
        </p:nvSpPr>
        <p:spPr>
          <a:xfrm>
            <a:off x="850320" y="1920240"/>
            <a:ext cx="5211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Login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9"/>
          <p:cNvSpPr/>
          <p:nvPr/>
        </p:nvSpPr>
        <p:spPr>
          <a:xfrm>
            <a:off x="850320" y="2331720"/>
            <a:ext cx="52113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/api/auth/login — obtém access token + refresh token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Rounded Rectangle 10"/>
          <p:cNvSpPr/>
          <p:nvPr/>
        </p:nvSpPr>
        <p:spPr>
          <a:xfrm>
            <a:off x="228600" y="2971800"/>
            <a:ext cx="529560" cy="86796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2" name="TextBox 11"/>
          <p:cNvSpPr/>
          <p:nvPr/>
        </p:nvSpPr>
        <p:spPr>
          <a:xfrm>
            <a:off x="228600" y="2971800"/>
            <a:ext cx="5295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12"/>
          <p:cNvSpPr/>
          <p:nvPr/>
        </p:nvSpPr>
        <p:spPr>
          <a:xfrm>
            <a:off x="850320" y="3017520"/>
            <a:ext cx="5211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Cadastrar Cliente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13"/>
          <p:cNvSpPr/>
          <p:nvPr/>
        </p:nvSpPr>
        <p:spPr>
          <a:xfrm>
            <a:off x="850320" y="3429000"/>
            <a:ext cx="52113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/api/clientes — CPF validado por dígito verificador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Rounded Rectangle 14"/>
          <p:cNvSpPr/>
          <p:nvPr/>
        </p:nvSpPr>
        <p:spPr>
          <a:xfrm>
            <a:off x="228600" y="4069080"/>
            <a:ext cx="529560" cy="867960"/>
          </a:xfrm>
          <a:prstGeom prst="roundRect">
            <a:avLst>
              <a:gd name="adj" fmla="val 16667"/>
            </a:avLst>
          </a:prstGeom>
          <a:solidFill>
            <a:srgbClr val="14b8a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6" name="TextBox 15"/>
          <p:cNvSpPr/>
          <p:nvPr/>
        </p:nvSpPr>
        <p:spPr>
          <a:xfrm>
            <a:off x="228600" y="4069080"/>
            <a:ext cx="5295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3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16"/>
          <p:cNvSpPr/>
          <p:nvPr/>
        </p:nvSpPr>
        <p:spPr>
          <a:xfrm>
            <a:off x="850320" y="4114800"/>
            <a:ext cx="5211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Cadastrar Veículo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17"/>
          <p:cNvSpPr/>
          <p:nvPr/>
        </p:nvSpPr>
        <p:spPr>
          <a:xfrm>
            <a:off x="850320" y="4526280"/>
            <a:ext cx="52113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/api/veiculos — placa formato antigo ou Mercosul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Rounded Rectangle 18"/>
          <p:cNvSpPr/>
          <p:nvPr/>
        </p:nvSpPr>
        <p:spPr>
          <a:xfrm>
            <a:off x="228600" y="5166360"/>
            <a:ext cx="529560" cy="86796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0" name="TextBox 19"/>
          <p:cNvSpPr/>
          <p:nvPr/>
        </p:nvSpPr>
        <p:spPr>
          <a:xfrm>
            <a:off x="228600" y="5166360"/>
            <a:ext cx="5295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4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20"/>
          <p:cNvSpPr/>
          <p:nvPr/>
        </p:nvSpPr>
        <p:spPr>
          <a:xfrm>
            <a:off x="850320" y="5212080"/>
            <a:ext cx="5211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Abrir OS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21"/>
          <p:cNvSpPr/>
          <p:nvPr/>
        </p:nvSpPr>
        <p:spPr>
          <a:xfrm>
            <a:off x="850320" y="5623560"/>
            <a:ext cx="52113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/api/ordens — status: Recebida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Rounded Rectangle 22"/>
          <p:cNvSpPr/>
          <p:nvPr/>
        </p:nvSpPr>
        <p:spPr>
          <a:xfrm>
            <a:off x="6263640" y="1874520"/>
            <a:ext cx="529560" cy="86796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4" name="TextBox 23"/>
          <p:cNvSpPr/>
          <p:nvPr/>
        </p:nvSpPr>
        <p:spPr>
          <a:xfrm>
            <a:off x="6263640" y="1874520"/>
            <a:ext cx="5295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5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24"/>
          <p:cNvSpPr/>
          <p:nvPr/>
        </p:nvSpPr>
        <p:spPr>
          <a:xfrm>
            <a:off x="6885360" y="1920240"/>
            <a:ext cx="5211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Fluxo completo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25"/>
          <p:cNvSpPr/>
          <p:nvPr/>
        </p:nvSpPr>
        <p:spPr>
          <a:xfrm>
            <a:off x="6885360" y="2331720"/>
            <a:ext cx="521136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iniciar-diagnostico → adicionar itens → gerar-orcamento → aprovar → concluir → entregar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Rounded Rectangle 26"/>
          <p:cNvSpPr/>
          <p:nvPr/>
        </p:nvSpPr>
        <p:spPr>
          <a:xfrm>
            <a:off x="6263640" y="2971800"/>
            <a:ext cx="529560" cy="86796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8" name="TextBox 27"/>
          <p:cNvSpPr/>
          <p:nvPr/>
        </p:nvSpPr>
        <p:spPr>
          <a:xfrm>
            <a:off x="6263640" y="2971800"/>
            <a:ext cx="5295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6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28"/>
          <p:cNvSpPr/>
          <p:nvPr/>
        </p:nvSpPr>
        <p:spPr>
          <a:xfrm>
            <a:off x="6885360" y="3017520"/>
            <a:ext cx="5211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43f5e"/>
                </a:solidFill>
                <a:effectLst/>
                <a:uFillTx/>
                <a:latin typeface="Calibri"/>
              </a:rPr>
              <a:t>Estorno de estoque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Box 29"/>
          <p:cNvSpPr/>
          <p:nvPr/>
        </p:nvSpPr>
        <p:spPr>
          <a:xfrm>
            <a:off x="6885360" y="3429000"/>
            <a:ext cx="521136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…/reprovar — itens devolvidos ao estoque atomicamente, status: Cancelada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Rounded Rectangle 30"/>
          <p:cNvSpPr/>
          <p:nvPr/>
        </p:nvSpPr>
        <p:spPr>
          <a:xfrm>
            <a:off x="6263640" y="4069080"/>
            <a:ext cx="529560" cy="867960"/>
          </a:xfrm>
          <a:prstGeom prst="roundRect">
            <a:avLst>
              <a:gd name="adj" fmla="val 16667"/>
            </a:avLst>
          </a:prstGeom>
          <a:solidFill>
            <a:srgbClr val="94a3b8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2" name="TextBox 31"/>
          <p:cNvSpPr/>
          <p:nvPr/>
        </p:nvSpPr>
        <p:spPr>
          <a:xfrm>
            <a:off x="6263640" y="4069080"/>
            <a:ext cx="5295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7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32"/>
          <p:cNvSpPr/>
          <p:nvPr/>
        </p:nvSpPr>
        <p:spPr>
          <a:xfrm>
            <a:off x="6885360" y="4114800"/>
            <a:ext cx="5211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Consulta pública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Box 33"/>
          <p:cNvSpPr/>
          <p:nvPr/>
        </p:nvSpPr>
        <p:spPr>
          <a:xfrm>
            <a:off x="6885360" y="4526280"/>
            <a:ext cx="52113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GET /api/ordens/{id}/status — sem JWT (endpoint público)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Rounded Rectangle 34"/>
          <p:cNvSpPr/>
          <p:nvPr/>
        </p:nvSpPr>
        <p:spPr>
          <a:xfrm>
            <a:off x="6263640" y="5166360"/>
            <a:ext cx="529560" cy="867960"/>
          </a:xfrm>
          <a:prstGeom prst="roundRect">
            <a:avLst>
              <a:gd name="adj" fmla="val 16667"/>
            </a:avLst>
          </a:prstGeom>
          <a:solidFill>
            <a:srgbClr val="fb923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6" name="TextBox 35"/>
          <p:cNvSpPr/>
          <p:nvPr/>
        </p:nvSpPr>
        <p:spPr>
          <a:xfrm>
            <a:off x="6263640" y="5166360"/>
            <a:ext cx="5295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0d172a"/>
                </a:solidFill>
                <a:effectLst/>
                <a:uFillTx/>
                <a:latin typeface="Calibri"/>
              </a:rPr>
              <a:t>8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36"/>
          <p:cNvSpPr/>
          <p:nvPr/>
        </p:nvSpPr>
        <p:spPr>
          <a:xfrm>
            <a:off x="6885360" y="5212080"/>
            <a:ext cx="5211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Renovar Token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37"/>
          <p:cNvSpPr/>
          <p:nvPr/>
        </p:nvSpPr>
        <p:spPr>
          <a:xfrm>
            <a:off x="6885360" y="5623560"/>
            <a:ext cx="52113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POST /api/auth/refresh — rotação: novo par emitido, token antigo revogado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solidFill>
            <a:srgbClr val="0d172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Rectangle 2"/>
          <p:cNvSpPr/>
          <p:nvPr/>
        </p:nvSpPr>
        <p:spPr>
          <a:xfrm>
            <a:off x="0" y="0"/>
            <a:ext cx="63360" cy="6857280"/>
          </a:xfrm>
          <a:prstGeom prst="rect">
            <a:avLst/>
          </a:prstGeom>
          <a:solidFill>
            <a:srgbClr val="f59e0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Box 3"/>
          <p:cNvSpPr/>
          <p:nvPr/>
        </p:nvSpPr>
        <p:spPr>
          <a:xfrm>
            <a:off x="228600" y="137160"/>
            <a:ext cx="1279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12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4"/>
          <p:cNvSpPr/>
          <p:nvPr/>
        </p:nvSpPr>
        <p:spPr>
          <a:xfrm>
            <a:off x="228600" y="868680"/>
            <a:ext cx="9143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 Que Foi Entregue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Box 5"/>
          <p:cNvSpPr/>
          <p:nvPr/>
        </p:nvSpPr>
        <p:spPr>
          <a:xfrm>
            <a:off x="228600" y="1600200"/>
            <a:ext cx="456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6"/>
          <p:cNvSpPr/>
          <p:nvPr/>
        </p:nvSpPr>
        <p:spPr>
          <a:xfrm>
            <a:off x="731520" y="1618560"/>
            <a:ext cx="4114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Back-end monolítico containerizado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7"/>
          <p:cNvSpPr/>
          <p:nvPr/>
        </p:nvSpPr>
        <p:spPr>
          <a:xfrm>
            <a:off x="4937760" y="1618560"/>
            <a:ext cx="699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Spring Boot 3.4.5 + Docker Compose · API RESTful documentada no Swagger UI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Box 8"/>
          <p:cNvSpPr/>
          <p:nvPr/>
        </p:nvSpPr>
        <p:spPr>
          <a:xfrm>
            <a:off x="228600" y="2212920"/>
            <a:ext cx="456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9"/>
          <p:cNvSpPr/>
          <p:nvPr/>
        </p:nvSpPr>
        <p:spPr>
          <a:xfrm>
            <a:off x="731520" y="2231280"/>
            <a:ext cx="4114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DDD — Design Estratégico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10"/>
          <p:cNvSpPr/>
          <p:nvPr/>
        </p:nvSpPr>
        <p:spPr>
          <a:xfrm>
            <a:off x="4937760" y="2231280"/>
            <a:ext cx="699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Event Storming · Context Map · Linguagem Ubíqua · 7 bounded contexts modelados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Box 11"/>
          <p:cNvSpPr/>
          <p:nvPr/>
        </p:nvSpPr>
        <p:spPr>
          <a:xfrm>
            <a:off x="228600" y="2825640"/>
            <a:ext cx="456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Box 12"/>
          <p:cNvSpPr/>
          <p:nvPr/>
        </p:nvSpPr>
        <p:spPr>
          <a:xfrm>
            <a:off x="731520" y="2843640"/>
            <a:ext cx="4114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DDD — Design Tático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Box 13"/>
          <p:cNvSpPr/>
          <p:nvPr/>
        </p:nvSpPr>
        <p:spPr>
          <a:xfrm>
            <a:off x="4937760" y="2843640"/>
            <a:ext cx="699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Value Objects · Entities · Aggregate Root (OrdemServico) · Use Cases · Repositórios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Box 14"/>
          <p:cNvSpPr/>
          <p:nvPr/>
        </p:nvSpPr>
        <p:spPr>
          <a:xfrm>
            <a:off x="228600" y="3438000"/>
            <a:ext cx="456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Box 15"/>
          <p:cNvSpPr/>
          <p:nvPr/>
        </p:nvSpPr>
        <p:spPr>
          <a:xfrm>
            <a:off x="731520" y="3456360"/>
            <a:ext cx="4114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Clean Architecture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16"/>
          <p:cNvSpPr/>
          <p:nvPr/>
        </p:nvSpPr>
        <p:spPr>
          <a:xfrm>
            <a:off x="4937760" y="3456360"/>
            <a:ext cx="699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Domain / Application / Infrastructure · dependência invertida verificável pelos testes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Box 17"/>
          <p:cNvSpPr/>
          <p:nvPr/>
        </p:nvSpPr>
        <p:spPr>
          <a:xfrm>
            <a:off x="228600" y="4050720"/>
            <a:ext cx="456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Box 18"/>
          <p:cNvSpPr/>
          <p:nvPr/>
        </p:nvSpPr>
        <p:spPr>
          <a:xfrm>
            <a:off x="731520" y="4069080"/>
            <a:ext cx="4114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b923c"/>
                </a:solidFill>
                <a:effectLst/>
                <a:uFillTx/>
                <a:latin typeface="Calibri"/>
              </a:rPr>
              <a:t>Ciclo completo da OS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Box 19"/>
          <p:cNvSpPr/>
          <p:nvPr/>
        </p:nvSpPr>
        <p:spPr>
          <a:xfrm>
            <a:off x="4937760" y="4069080"/>
            <a:ext cx="699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8 endpoints de ciclo de vida · snapshot de preço · estorno de estoque atômico · relatório SQL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Box 20"/>
          <p:cNvSpPr/>
          <p:nvPr/>
        </p:nvSpPr>
        <p:spPr>
          <a:xfrm>
            <a:off x="228600" y="4663440"/>
            <a:ext cx="456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Box 21"/>
          <p:cNvSpPr/>
          <p:nvPr/>
        </p:nvSpPr>
        <p:spPr>
          <a:xfrm>
            <a:off x="731520" y="4681800"/>
            <a:ext cx="4114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bbf24"/>
                </a:solidFill>
                <a:effectLst/>
                <a:uFillTx/>
                <a:latin typeface="Calibri"/>
              </a:rPr>
              <a:t>JWT + Refresh Token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Box 22"/>
          <p:cNvSpPr/>
          <p:nvPr/>
        </p:nvSpPr>
        <p:spPr>
          <a:xfrm>
            <a:off x="4937760" y="4681800"/>
            <a:ext cx="699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Access 15 min (HMAC-SHA384) · Refresh 7 dias com rotação e detecção de reutilização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Box 23"/>
          <p:cNvSpPr/>
          <p:nvPr/>
        </p:nvSpPr>
        <p:spPr>
          <a:xfrm>
            <a:off x="228600" y="5276160"/>
            <a:ext cx="456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Box 24"/>
          <p:cNvSpPr/>
          <p:nvPr/>
        </p:nvSpPr>
        <p:spPr>
          <a:xfrm>
            <a:off x="731520" y="5294520"/>
            <a:ext cx="4114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2c55e"/>
                </a:solidFill>
                <a:effectLst/>
                <a:uFillTx/>
                <a:latin typeface="Calibri"/>
              </a:rPr>
              <a:t>104 testes · JaCoCo 80%+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Box 25"/>
          <p:cNvSpPr/>
          <p:nvPr/>
        </p:nvSpPr>
        <p:spPr>
          <a:xfrm>
            <a:off x="4937760" y="5294520"/>
            <a:ext cx="699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JUnit 5 puro · Mockito · Testcontainers (PostgreSQL real) · enforce no build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Box 26"/>
          <p:cNvSpPr/>
          <p:nvPr/>
        </p:nvSpPr>
        <p:spPr>
          <a:xfrm>
            <a:off x="228600" y="5888880"/>
            <a:ext cx="456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Box 27"/>
          <p:cNvSpPr/>
          <p:nvPr/>
        </p:nvSpPr>
        <p:spPr>
          <a:xfrm>
            <a:off x="731520" y="5906880"/>
            <a:ext cx="4114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OWASP Dep. Check aprovado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Box 28"/>
          <p:cNvSpPr/>
          <p:nvPr/>
        </p:nvSpPr>
        <p:spPr>
          <a:xfrm>
            <a:off x="4937760" y="5906880"/>
            <a:ext cx="699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7 supressões documentadas · 3 falsos positivos · 4 sem patch — risco aceito e documentado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Box 29"/>
          <p:cNvSpPr/>
          <p:nvPr/>
        </p:nvSpPr>
        <p:spPr>
          <a:xfrm>
            <a:off x="228600" y="6429240"/>
            <a:ext cx="456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Box 30"/>
          <p:cNvSpPr/>
          <p:nvPr/>
        </p:nvSpPr>
        <p:spPr>
          <a:xfrm>
            <a:off x="731520" y="6447600"/>
            <a:ext cx="4114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4b8a6"/>
                </a:solidFill>
                <a:effectLst/>
                <a:uFillTx/>
                <a:latin typeface="Calibri"/>
              </a:rPr>
              <a:t>CI com SonarCloud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31"/>
          <p:cNvSpPr/>
          <p:nvPr/>
        </p:nvSpPr>
        <p:spPr>
          <a:xfrm>
            <a:off x="4937760" y="6447600"/>
            <a:ext cx="699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94a3b8"/>
                </a:solidFill>
                <a:effectLst/>
                <a:uFillTx/>
                <a:latin typeface="Calibri"/>
              </a:rPr>
              <a:t>GitHub Actions: build → testes → JaCoCo → sonar → Quality Gate bloqueante na branch main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LibreOffice/25.2.6.2$Linux_X86_64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2026-05-03T11:05:57Z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