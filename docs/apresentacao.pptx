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474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PosTech FIAP  ·  Pós-Graduação em Arquitetura de Software  ·  Turma SOAT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8686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Sistema Integrado de
Atendimento e Execução
de Serviços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566160"/>
            <a:ext cx="43891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6576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</a:rPr>
              <a:t>Tech Challenge — Fase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51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Domain-Driven Design  ·  Clean Architecture  ·  Spring Boot 3.4.5  ·  PostgreSQL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109728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0" i="0">
                <a:solidFill>
                  <a:srgbClr val="1E3A5F"/>
                </a:solidFill>
              </a:rPr>
              <a:t>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1904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Grupo: [NOME DO GRUPO]   ·   [Nome] — RM [XXXXX]   ·   [Nome] — RM [XXXXX]   ·   Maio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B923C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686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4630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Uma oficina mecânica de médio porte gerenciava tudo com planilhas e anotações.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2331720"/>
            <a:ext cx="3749039" cy="3749039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2331720"/>
            <a:ext cx="3749039" cy="6400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45059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017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923C"/>
                </a:solidFill>
              </a:rPr>
              <a:t>Sem rastreabilidade de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493008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Clientes não sabiam o andamento dos serviços.
Ligações constantes e retrabalho na recepção.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331720"/>
            <a:ext cx="3749039" cy="3749039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2331720"/>
            <a:ext cx="3749039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45059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017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</a:rPr>
              <a:t>Estoque descontrolado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493008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Peças retiradas sem registro. Quantidade
negativa e compras emergenciais frequentes.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2331720"/>
            <a:ext cx="3749039" cy="3749039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2331720"/>
            <a:ext cx="3749039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59" y="245059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9" y="3017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B8A6"/>
                </a:solidFill>
              </a:rPr>
              <a:t>Orçamentos inconsistentes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3493008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Preços alterados durante a execução.
Sem snapshot de preço, valores divergiam.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4B8A6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686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 Solução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4630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MVP back-end monolítico · API RESTful · containerizado com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874519"/>
            <a:ext cx="2788920" cy="173736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874519"/>
            <a:ext cx="278892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965960"/>
            <a:ext cx="2788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22C55E"/>
                </a:solidFill>
              </a:rPr>
              <a:t>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94436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testes automatizados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874519"/>
            <a:ext cx="2788920" cy="173736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18688" y="1874519"/>
            <a:ext cx="278892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18688" y="1965960"/>
            <a:ext cx="2788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59E0B"/>
                </a:solidFill>
              </a:rPr>
              <a:t>80%+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294436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cobertura de domínio (JaCoCo)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776" y="1874519"/>
            <a:ext cx="2788920" cy="173736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8776" y="1874519"/>
            <a:ext cx="278892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08776" y="1965960"/>
            <a:ext cx="2788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3B82F6"/>
                </a:solidFill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294436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bounded contexts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98864" y="1874519"/>
            <a:ext cx="2788920" cy="173736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98864" y="1874519"/>
            <a:ext cx="278892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8864" y="1965960"/>
            <a:ext cx="2788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14B8A6"/>
                </a:solidFill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0304" y="294436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endpoints de ciclo de vida da 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</a:rPr>
              <a:t>Stack tecnológica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" y="4279392"/>
            <a:ext cx="1184148" cy="40233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" y="4315968"/>
            <a:ext cx="10378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Java 21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49908" y="4279392"/>
            <a:ext cx="2418588" cy="402336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3060" y="4315968"/>
            <a:ext cx="22722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Spring Boot 3.4.5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05656" y="4279392"/>
            <a:ext cx="1924812" cy="402336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78808" y="4315968"/>
            <a:ext cx="17785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PostgreSQL 16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67628" y="4279392"/>
            <a:ext cx="1060704" cy="402336"/>
          </a:xfrm>
          <a:prstGeom prst="roundRect">
            <a:avLst/>
          </a:prstGeom>
          <a:solidFill>
            <a:srgbClr val="CC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0780" y="431596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Flyway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65492" y="4279392"/>
            <a:ext cx="2665476" cy="402336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38644" y="4315968"/>
            <a:ext cx="25191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JWT + Refresh Token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8600" y="4791456"/>
            <a:ext cx="2048256" cy="40233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1752" y="4828032"/>
            <a:ext cx="1901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Docker Compose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14016" y="4791456"/>
            <a:ext cx="3282696" cy="40233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87168" y="4828032"/>
            <a:ext cx="3136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JUnit 5 + Testcontainers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33872" y="4791456"/>
            <a:ext cx="2295144" cy="402336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07024" y="4828032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OWASP Dep. Check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66176" y="4791456"/>
            <a:ext cx="2542032" cy="40233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9328" y="4828032"/>
            <a:ext cx="2395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MapStruct + Lombok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28600" y="5303520"/>
            <a:ext cx="2418588" cy="402336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1752" y="5340096"/>
            <a:ext cx="22722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Springdoc OpenAPI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59E0B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686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Event Storming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4630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event_storming.drawio.pdf  ·  7 bounded contexts  ·  10 eventos  ·  5 políticas  ·  4 hot spots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3090672"/>
            <a:ext cx="1175004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8600" y="1737360"/>
            <a:ext cx="1572768" cy="1261872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78308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Atendimento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" y="2999232"/>
            <a:ext cx="201168" cy="201168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321868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AG: Cliente
AG: Veículo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38528" y="1737360"/>
            <a:ext cx="1572768" cy="12618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84248" y="178308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Diagnóstico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33472" y="2999232"/>
            <a:ext cx="201168" cy="20116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38528" y="321868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AG: 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48456" y="1737360"/>
            <a:ext cx="1572768" cy="12618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4176" y="178308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Gestão de
Serviços/Peças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2999232"/>
            <a:ext cx="201168" cy="20116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48456" y="321868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AG: OS
AG: Peça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58384" y="1737360"/>
            <a:ext cx="1572768" cy="1261872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4104" y="178308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Orçamento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3328" y="2999232"/>
            <a:ext cx="201168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58384" y="321868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AG: OS
SE: Notificação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68312" y="1737360"/>
            <a:ext cx="1572768" cy="1261872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4032" y="178308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Aprovação /
Cancelamento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63256" y="2999232"/>
            <a:ext cx="201168" cy="201168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68312" y="321868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AG: OS
AG: Peça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78240" y="1737360"/>
            <a:ext cx="1572768" cy="126187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60" y="178308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Execução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73184" y="2999232"/>
            <a:ext cx="201168" cy="20116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321868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AG: 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88168" y="1737360"/>
            <a:ext cx="1572768" cy="126187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33888" y="178308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Entrega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183112" y="2999232"/>
            <a:ext cx="201168" cy="20116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88168" y="321868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AG: 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← linha do tempo do atendimento 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4297680"/>
            <a:ext cx="11750040" cy="141732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8600" y="4297680"/>
            <a:ext cx="117500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43434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Fluxo principal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4754880"/>
            <a:ext cx="11750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923C"/>
                </a:solidFill>
              </a:rPr>
              <a:t>OS Aberta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86484" y="4754880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Diagnóstico Iniciado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74236" y="4754880"/>
            <a:ext cx="22265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Itens Adicionados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754880"/>
            <a:ext cx="2121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</a:rPr>
              <a:t>→ Orçamento Gerado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13648" y="475488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→ Aprovado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39528" y="4754880"/>
            <a:ext cx="22265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→ Execução Iniciada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211812" y="4754880"/>
            <a:ext cx="18059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→ OS Finalizada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063472" y="475488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→ Entregue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5166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BBF24"/>
                </a:solidFill>
              </a:rPr>
              <a:t>⚠  Alt: Orçamento Reprovado → POL: Cancelar OS e Estornar Estoque → OS Cancelada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8600" y="6446520"/>
            <a:ext cx="1175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43F5E"/>
                </a:solidFill>
              </a:rPr>
              <a:t>Hot Spots: PA1 Mecânico disponível?  ·  PA2 Canal de notificação?  ·  PA3 Prazo aprovação?  ·  PA4 Permissões por papel?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3B82F6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686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Context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4630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ContextMap.drawio.pdf  ·  padrões: Customer-Supplier · Shared Kernel · ACL · OHS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09160" y="1828800"/>
            <a:ext cx="2743200" cy="749808"/>
          </a:xfrm>
          <a:prstGeom prst="rect">
            <a:avLst/>
          </a:prstGeom>
          <a:solidFill>
            <a:srgbClr val="1E3A5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00600" y="1892807"/>
            <a:ext cx="566928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3752" y="1929383"/>
            <a:ext cx="42062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72A"/>
                </a:solidFill>
              </a:rPr>
              <a:t>OHS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93852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Segurança (JWT)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880360"/>
            <a:ext cx="1847088" cy="868680"/>
          </a:xfrm>
          <a:prstGeom prst="rect">
            <a:avLst/>
          </a:prstGeom>
          <a:solidFill>
            <a:srgbClr val="162944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2926080"/>
            <a:ext cx="17007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B923C"/>
                </a:solidFill>
              </a:rPr>
              <a:t>Atendimento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1" y="3127248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U→D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80" y="2880360"/>
            <a:ext cx="1847088" cy="868680"/>
          </a:xfrm>
          <a:prstGeom prst="rect">
            <a:avLst/>
          </a:prstGeom>
          <a:solidFill>
            <a:srgbClr val="16294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13432" y="2926080"/>
            <a:ext cx="17007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</a:rPr>
              <a:t>Diagnóstico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6511" y="3127248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U→D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2880360"/>
            <a:ext cx="1847088" cy="868680"/>
          </a:xfrm>
          <a:prstGeom prst="rect">
            <a:avLst/>
          </a:prstGeom>
          <a:solidFill>
            <a:srgbClr val="162944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5112" y="2926080"/>
            <a:ext cx="17007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4B8A6"/>
                </a:solidFill>
              </a:rPr>
              <a:t>Orçamento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1" y="3127248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U→D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880360"/>
            <a:ext cx="1847088" cy="868680"/>
          </a:xfrm>
          <a:prstGeom prst="rect">
            <a:avLst/>
          </a:prstGeom>
          <a:solidFill>
            <a:srgbClr val="162944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2926080"/>
            <a:ext cx="17007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3F5E"/>
                </a:solidFill>
              </a:rPr>
              <a:t>Aprovação /
Cancelamento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1" y="3127248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U→D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2880360"/>
            <a:ext cx="1847088" cy="868680"/>
          </a:xfrm>
          <a:prstGeom prst="rect">
            <a:avLst/>
          </a:prstGeom>
          <a:solidFill>
            <a:srgbClr val="16294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8472" y="2926080"/>
            <a:ext cx="17007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C55E"/>
                </a:solidFill>
              </a:rPr>
              <a:t>Execução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31551" y="3127248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U→D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87000" y="2880360"/>
            <a:ext cx="1847088" cy="868680"/>
          </a:xfrm>
          <a:prstGeom prst="rect">
            <a:avLst/>
          </a:prstGeom>
          <a:solidFill>
            <a:srgbClr val="1629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60152" y="2926080"/>
            <a:ext cx="17007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Entrega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40280" y="4160520"/>
            <a:ext cx="1847088" cy="868680"/>
          </a:xfrm>
          <a:prstGeom prst="rect">
            <a:avLst/>
          </a:prstGeom>
          <a:solidFill>
            <a:srgbClr val="162944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40280" y="4206240"/>
            <a:ext cx="184708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4B8A6"/>
                </a:solidFill>
              </a:rPr>
              <a:t>Gestão de
Estoque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40280" y="5102352"/>
            <a:ext cx="1847088" cy="320040"/>
          </a:xfrm>
          <a:prstGeom prst="roundRect">
            <a:avLst/>
          </a:prstGeom>
          <a:solidFill>
            <a:srgbClr val="0D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13432" y="5138928"/>
            <a:ext cx="170078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</a:rPr>
              <a:t>Shared Kernel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892040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</a:rPr>
              <a:t>↕ bidirecional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33087" y="43708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43F5E"/>
                </a:solidFill>
              </a:rPr>
              <a:t>← ACL estorno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4160520"/>
            <a:ext cx="1847088" cy="868680"/>
          </a:xfrm>
          <a:prstGeom prst="rect">
            <a:avLst/>
          </a:prstGeom>
          <a:solidFill>
            <a:srgbClr val="121222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4206240"/>
            <a:ext cx="184708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</a:rPr>
              <a:t>Serviço de
Notificação (SE)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5102352"/>
            <a:ext cx="1847088" cy="32004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9632" y="5138928"/>
            <a:ext cx="170078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4A3B8"/>
                </a:solidFill>
              </a:rPr>
              <a:t>OHS + ACL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4892040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43F5E"/>
                </a:solidFill>
              </a:rPr>
              <a:t>↕ Hot Spot PA2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1828800"/>
            <a:ext cx="3291840" cy="393192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23960" y="1892807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Legenda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23960" y="2359152"/>
            <a:ext cx="658368" cy="34747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97112" y="2395728"/>
            <a:ext cx="512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</a:rPr>
              <a:t>U→D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55480" y="239572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Customer-Supplier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23960" y="2980944"/>
            <a:ext cx="658368" cy="34747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97112" y="3017520"/>
            <a:ext cx="512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</a:rPr>
              <a:t>SK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55480" y="301752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Shared Kernel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23960" y="3602736"/>
            <a:ext cx="658368" cy="34747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97112" y="3639312"/>
            <a:ext cx="512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43F5E"/>
                </a:solidFill>
              </a:rPr>
              <a:t>ACL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55480" y="363931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Anti-Corruption Layer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23960" y="4224528"/>
            <a:ext cx="658368" cy="34747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97112" y="4261104"/>
            <a:ext cx="512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</a:rPr>
              <a:t>OHS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55480" y="4261104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Open Host Service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846320"/>
            <a:ext cx="658368" cy="34747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97112" y="4882896"/>
            <a:ext cx="512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4A3B8"/>
                </a:solidFill>
              </a:rPr>
              <a:t>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55480" y="488289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Sistema Externo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4B8A6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686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Design Tático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4630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Building blocks do DDD implementados no domínio da oficina (Evans, 2003)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920240"/>
            <a:ext cx="3767328" cy="461772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920240"/>
            <a:ext cx="3767328" cy="6400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2011680"/>
            <a:ext cx="3438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923C"/>
                </a:solidFill>
              </a:rPr>
              <a:t>Value Objects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514600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CpfCnpj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816352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Dígitos verificadores, sem UUID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118104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3419856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Placa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3721608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Antigo ABC-1234 e Mercosul ABC1D23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4023360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" y="4325112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StatusOS (enum)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" y="4626864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validarTransicaoPara() fecha transições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" y="4928616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" y="5230368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B923C"/>
                </a:solidFill>
              </a:rPr>
              <a:t>Imutáveis · identificados pelo valor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24528" y="1920240"/>
            <a:ext cx="3767328" cy="461772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24528" y="1920240"/>
            <a:ext cx="376732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2011680"/>
            <a:ext cx="3438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Entities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514600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Cliente  — UUID 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816352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CPF/CNPJ é atributo, não identidade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118104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419856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Veículo  — UUID 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721608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Placa é atributo de domínio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023360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325112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Serviço  — UUID 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626864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Peça  — UUID 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928616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230368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B82F6"/>
                </a:solidFill>
              </a:rPr>
              <a:t>Estado mutável · UUID persistente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0456" y="1920240"/>
            <a:ext cx="3767328" cy="461772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0456" y="1920240"/>
            <a:ext cx="376732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85048" y="2011680"/>
            <a:ext cx="3438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Aggregate Root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8" y="2514600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OrdemServico  (único AG)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5048" y="2816352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5048" y="3118104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├─ ItemServico  (interno)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5048" y="3419856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 snapshot de preço do Serviço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5048" y="3721608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5048" y="4023360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├─ ItemPeca  (interno)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5048" y="4325112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 snapshot de preço da Peça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5048" y="4626864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5048" y="4928616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└─ StatusOS  (VO interno)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5048" y="5230368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9E0B"/>
                </a:solidFill>
              </a:rPr>
              <a:t>Acesso somente via OrdemServicoRepository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</a:rPr>
              <a:t>⚡  Use Cases:  AdicionarPecaAOSUseCase  ·  ReprovarOrcamentoUseCase  ·  GerarOrcamentoUseCase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22C55E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686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Arquitetura em Camadas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4630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Clean Architecture · dependências apontam para o domínio · testável por camada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965960"/>
            <a:ext cx="12188952" cy="1207008"/>
          </a:xfrm>
          <a:prstGeom prst="rect">
            <a:avLst/>
          </a:prstGeom>
          <a:solidFill>
            <a:srgbClr val="162944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965960"/>
            <a:ext cx="64008" cy="1207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2057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3AED"/>
                </a:solidFill>
              </a:rPr>
              <a:t>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253288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infrastructure/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075688"/>
            <a:ext cx="83941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Spring Boot · JPA · Flyway · Security
REST Controllers · LogNotificacaoService (ACL stub)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291839"/>
            <a:ext cx="10451592" cy="1207008"/>
          </a:xfrm>
          <a:prstGeom prst="rect">
            <a:avLst/>
          </a:prstGeom>
          <a:solidFill>
            <a:srgbClr val="16294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3291839"/>
            <a:ext cx="64008" cy="1207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38327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</a:rPr>
              <a:t>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3858767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application/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401567"/>
            <a:ext cx="66568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Use Cases · Ports de entrada e saída
Orquestra o domínio sem conhecer HTTP ou JPA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37360" y="4617720"/>
            <a:ext cx="8714232" cy="1207008"/>
          </a:xfrm>
          <a:prstGeom prst="rect">
            <a:avLst/>
          </a:prstGeom>
          <a:solidFill>
            <a:srgbClr val="1629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37360" y="4617720"/>
            <a:ext cx="64008" cy="1207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38528" y="4709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</a:rPr>
              <a:t>Domain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8528" y="518464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domain/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4919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Entidades · Value Objects · Aggregates
Exceções · Interfaces de Repositório
Puro Java — zero dependência de framework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" y="5212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⬆  regra de dependência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" y="56235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Verificável empiricamente: testes de domínio executam sem Spring Context (ms). JaCoCo enforce 80%+ em domain.* a cada build.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59E0B"/>
                </a:solidFill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686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Ciclo de Vida da Ordem de Serviço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4630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Invariante central: OS só avança — nunca retrocede. Validado em StatusOS.validarTransicaoPara()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691640"/>
            <a:ext cx="1810512" cy="1051560"/>
          </a:xfrm>
          <a:prstGeom prst="roundRect">
            <a:avLst/>
          </a:prstGeom>
          <a:solidFill>
            <a:srgbClr val="162944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737360"/>
            <a:ext cx="181051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B923C"/>
                </a:solidFill>
              </a:rPr>
              <a:t>Recebida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4832" y="2011680"/>
            <a:ext cx="21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67712" y="1691640"/>
            <a:ext cx="1810512" cy="1051560"/>
          </a:xfrm>
          <a:prstGeom prst="roundRect">
            <a:avLst/>
          </a:prstGeom>
          <a:solidFill>
            <a:srgbClr val="16294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67712" y="1737360"/>
            <a:ext cx="181051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</a:rPr>
              <a:t>Em
Diagnóstico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8224" y="2011680"/>
            <a:ext cx="21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1104" y="1691640"/>
            <a:ext cx="1810512" cy="1051560"/>
          </a:xfrm>
          <a:prstGeom prst="roundRect">
            <a:avLst/>
          </a:prstGeom>
          <a:solidFill>
            <a:srgbClr val="1629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1104" y="1737360"/>
            <a:ext cx="181051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Aguardando
Aprovação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71616" y="2011680"/>
            <a:ext cx="21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1691640"/>
            <a:ext cx="1810512" cy="1051560"/>
          </a:xfrm>
          <a:prstGeom prst="roundRect">
            <a:avLst/>
          </a:prstGeom>
          <a:solidFill>
            <a:srgbClr val="16294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1737360"/>
            <a:ext cx="181051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</a:rPr>
              <a:t>Em
Execução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2011680"/>
            <a:ext cx="21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7888" y="1691640"/>
            <a:ext cx="1810512" cy="1051560"/>
          </a:xfrm>
          <a:prstGeom prst="roundRect">
            <a:avLst/>
          </a:prstGeom>
          <a:solidFill>
            <a:srgbClr val="162944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1737360"/>
            <a:ext cx="181051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4B8A6"/>
                </a:solidFill>
              </a:rPr>
              <a:t>Finalizada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2011680"/>
            <a:ext cx="21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0" y="1691640"/>
            <a:ext cx="1810512" cy="1051560"/>
          </a:xfrm>
          <a:prstGeom prst="roundRect">
            <a:avLst/>
          </a:prstGeom>
          <a:solidFill>
            <a:srgbClr val="16294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0" y="1737360"/>
            <a:ext cx="181051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</a:rPr>
              <a:t>Entregue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80" y="3154680"/>
            <a:ext cx="1920240" cy="960120"/>
          </a:xfrm>
          <a:prstGeom prst="roundRect">
            <a:avLst/>
          </a:prstGeom>
          <a:solidFill>
            <a:srgbClr val="162944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3218688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43F5E"/>
                </a:solidFill>
              </a:rPr>
              <a:t>Cancelada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7889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43F5E"/>
                </a:solidFill>
              </a:rPr>
              <a:t>↓ reprovação + estorno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" y="434340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</a:rPr>
              <a:t>Endpoints do ciclo de vida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" y="482803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POST /api/ordens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482803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— Abre 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" y="526694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POST …/iniciar-diagnostico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526694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— Inicia diagnóstico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" y="570585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POST …/servicos + /pecas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570585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— Adiciona itens (snapshot de preço; peça: decrementa estoque)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" y="614476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POST …/gerar-orcamento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614476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— Gera orçamento e notifica cliente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82803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POST …/aprovar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82803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— Aprova → Em Execução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526694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POST …/concluir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526694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— Conclui serviços → Finalizada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570585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POST …/entregar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570585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— Entrega → Entregue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614476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POST …/reprovar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614476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— Cancela + estorna estoque → Cancelada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B923C"/>
                </a:solidFill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686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Segurança — JWT com Refresh Token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4630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Autenticação stateless (access) + stateful (refresh) com rotação e detecção de token roubado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783080"/>
            <a:ext cx="5760720" cy="260604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783080"/>
            <a:ext cx="576072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92807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</a:rPr>
              <a:t>🔑  Access Token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5059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Tipo: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45059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JWT · HMAC-SHA384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95351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Validade: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95351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15 minutos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45643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Storage: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45643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Stateless — validado pela assinatura, sem banco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5760720" cy="260604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76072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892807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</a:rPr>
              <a:t>🔄  Refresh Token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5059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Tipo: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45059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UUID opaco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95351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Validade: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95351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7 dias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45643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Storage: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345643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Stateful — persiste na tabela refresh_tokens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4617720"/>
            <a:ext cx="11750040" cy="1719072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" y="4617720"/>
            <a:ext cx="1175004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66344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923C"/>
                </a:solidFill>
              </a:rPr>
              <a:t>🔁  Rotação de Refresh Tokens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120640"/>
            <a:ext cx="1783080" cy="896112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148072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4B8A6"/>
                </a:solidFill>
              </a:rPr>
              <a:t>Envia
refresh token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53035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04288" y="5120640"/>
            <a:ext cx="1783080" cy="896112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50008" y="5148072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4B8A6"/>
                </a:solidFill>
              </a:rPr>
              <a:t>Verifica
no banco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87368" y="53035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42816" y="5120640"/>
            <a:ext cx="1783080" cy="896112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88536" y="5148072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4B8A6"/>
                </a:solidFill>
              </a:rPr>
              <a:t>Invalida
token antigo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25896" y="53035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81344" y="5120640"/>
            <a:ext cx="1783080" cy="896112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7064" y="5148072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4B8A6"/>
                </a:solidFill>
              </a:rPr>
              <a:t>Emite novo
par access+refresh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64424" y="53035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43F5E"/>
                </a:solidFill>
              </a:rPr>
              <a:t>⚠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19872" y="5120640"/>
            <a:ext cx="1783080" cy="896112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65592" y="5148072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3F5E"/>
                </a:solidFill>
              </a:rPr>
              <a:t>Token já
revogado?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02952" y="53035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58400" y="5120640"/>
            <a:ext cx="1783080" cy="896112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04120" y="5148072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3F5E"/>
                </a:solidFill>
              </a:rPr>
              <a:t>Revoga TODOS
do usuário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126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RefreshTokenService.rotacionar()  ·  detecção de reutilização revoga família inteira do usuário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22C55E"/>
                </a:solidFill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686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Qualidade de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4630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Pirâmide de testes · JaCoCo enforce 80% · OWASP Dependency Check · SonarCloud Quality Gate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691640"/>
            <a:ext cx="3767328" cy="466344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691640"/>
            <a:ext cx="3767328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78308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377440"/>
            <a:ext cx="376732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22C55E"/>
                </a:solidFill>
              </a:rPr>
              <a:t>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520440"/>
            <a:ext cx="3401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Testes automatizados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340156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Domain: JUnit 5 puro (sem Spring)
Application: JUnit 5 + Mockito
Integração: Testcontainers
(PostgreSQL real)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528" y="1691640"/>
            <a:ext cx="3767328" cy="466344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24528" y="1691640"/>
            <a:ext cx="376732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178308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2377440"/>
            <a:ext cx="376732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59E0B"/>
                </a:solidFill>
              </a:rPr>
              <a:t>80%+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3520440"/>
            <a:ext cx="3401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Cobertura de domínio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4069080"/>
            <a:ext cx="340156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JaCoCo fase verify
Falha o build se &lt; 80%
Pacote: com.oficina.mecanica.domain.*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0456" y="1691640"/>
            <a:ext cx="3767328" cy="466344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0456" y="1691640"/>
            <a:ext cx="376732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03336" y="178308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2377440"/>
            <a:ext cx="376732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3B82F6"/>
                </a:solidFill>
              </a:rPr>
              <a:t>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6" y="3520440"/>
            <a:ext cx="3401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OWASP Dep.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4069080"/>
            <a:ext cx="340156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Spring Boot 3.3.4 → 3.4.5
3 CVEs críticos resolvidos
3 false-positives suprimidos
(Tomcat DefaultServlet desabilitado)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B8A6"/>
                </a:solidFill>
              </a:rPr>
              <a:t>mvn test   ·   mvn verify   ·   mvn dependency-check:check   ·   GitHub Actions: mvn verify sonar:sonar  →  Quality Gate bloqueante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59E0B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686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Débitos Técnicos Conhecidos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4630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Decisões conscientes de MVP — identificadas, documentadas, priorizadas para a próxima fase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828800"/>
            <a:ext cx="11731752" cy="137160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828800"/>
            <a:ext cx="64008" cy="13716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385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923C"/>
                </a:solidFill>
              </a:rPr>
              <a:t>Mappers manuais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0428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⚠ Conversão JPA Entity ↔ Domain Object feita à mão nos adapters de persistência.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304288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MapStruct — geração em compile-time, campo faltante vira erro de compilação, zero overhead em runtime.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337560"/>
            <a:ext cx="11731752" cy="137160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3337560"/>
            <a:ext cx="64008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4472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</a:rPr>
              <a:t>Notificação stub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1304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⚠ NotificacaoService é um port sem implementação concreta. E-mail e SMS não são enviados.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813048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Adapter com JavaMail / SendGrid / AWS SES. Canal ainda indefinido — Hot Spot PA2 do Event Storming.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4846320"/>
            <a:ext cx="11731752" cy="137160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4846320"/>
            <a:ext cx="64008" cy="1371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5604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B8A6"/>
                </a:solidFill>
              </a:rPr>
              <a:t>Reconstituidor com 9 parâmetros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2180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⚠ Método fromPersistencia em OrdemServico tem 9 parâmetros (Sonar S107).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5321808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Encapsular em record DadosOrdemServico — 1 parâmetro, invariantes claras, sem Sonar smell.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Documentado em README.md e documento de entrega — seção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4B8A6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686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Demonstração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4630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docker-compose up --build  →  http://localhost:8080/swagger-ui.html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874519"/>
            <a:ext cx="530352" cy="8686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874519"/>
            <a:ext cx="5303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72A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2023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923C"/>
                </a:solidFill>
              </a:rPr>
              <a:t>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3171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POST /api/auth/login — obtém access token + refresh 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2971800"/>
            <a:ext cx="530352" cy="8686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2971800"/>
            <a:ext cx="5303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72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017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</a:rPr>
              <a:t>Cadastrar Cliente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4290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POST /api/clientes — CPF validado por dígito verificador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" y="4069079"/>
            <a:ext cx="530352" cy="8686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" y="4069079"/>
            <a:ext cx="5303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72A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11479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B8A6"/>
                </a:solidFill>
              </a:rPr>
              <a:t>Cadastrar Veículo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452627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POST /api/veiculos — placa formato antigo ou Mercosul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" y="5166359"/>
            <a:ext cx="530352" cy="8686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" y="5166359"/>
            <a:ext cx="5303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72A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521207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Abrir 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562355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POST /api/ordens — status: Recebida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874519"/>
            <a:ext cx="530352" cy="8686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874519"/>
            <a:ext cx="5303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72A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5432" y="192023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</a:rPr>
              <a:t>Fluxo completo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5432" y="233171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iniciar-diagnostico → adicionar itens → gerar-orcamento → aprovar → concluir → entregar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2971800"/>
            <a:ext cx="530352" cy="86868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2971800"/>
            <a:ext cx="5303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72A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85432" y="3017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3F5E"/>
                </a:solidFill>
              </a:rPr>
              <a:t>Estorno de estoque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85432" y="34290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POST …/reprovar — itens devolvidos ao estoque atomicamente, status: Cancelada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4069079"/>
            <a:ext cx="530352" cy="86868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4069079"/>
            <a:ext cx="5303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72A"/>
                </a:solidFill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85432" y="411479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4A3B8"/>
                </a:solidFill>
              </a:rPr>
              <a:t>Consulta pública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85432" y="452627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GET /api/ordens/{id}/status — sem JWT (endpoint público)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5166359"/>
            <a:ext cx="530352" cy="8686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5166359"/>
            <a:ext cx="5303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72A"/>
                </a:solidFill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85432" y="521207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B8A6"/>
                </a:solidFill>
              </a:rPr>
              <a:t>Relatório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85432" y="562355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GET /api/ordens/relatorio/tempo-medio — AVG(DataConclusao - DataInicio) SQL nativo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59E0B"/>
                </a:solidFill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686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 Que Foi Entregue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00200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184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Back-end monolítico containerizado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618488"/>
            <a:ext cx="6995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Spring Boot 3.4.5 + Docker Compose · API RESTful documentada no Swagger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212848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311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DDD — Design Estratégico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231136"/>
            <a:ext cx="6995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Event Storming · Context Map · Linguagem Ubíqua · 7 bounded contexts modelados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825496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437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</a:rPr>
              <a:t>DDD — Design Tático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843784"/>
            <a:ext cx="6995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Value Objects · Entities · Aggregate Root (OrdemServico) · Use Cases · Repositórios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3438144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564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Clean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456432"/>
            <a:ext cx="6995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Domain / Application / Infrastructure · dependência invertida verificável pelos testes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4050791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690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923C"/>
                </a:solidFill>
              </a:rPr>
              <a:t>Ciclo completo da 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069079"/>
            <a:ext cx="6995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8 endpoints de ciclo de vida · snapshot de preço · estorno de estoque atômico · relatório 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" y="4663440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6817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JWT + Refresh Token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681728"/>
            <a:ext cx="6995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Access 15 min (HMAC-SHA384) · Refresh 7 dias com rotação e detecção de reutilização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" y="5276088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29437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47 testes · JaCoCo 80%+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5294376"/>
            <a:ext cx="6995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JUnit 5 puro · Mockito · Testcontainers (PostgreSQL real) · enforce no 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" y="5888736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90702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OWASP Dep. Check aprovado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5907024"/>
            <a:ext cx="6995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Spring Boot 3.3.4 → 3.4.5 · 3 CVEs críticos resolvidos · 3 supressões fundamentadas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" y="6501384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5196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</a:rPr>
              <a:t>CI com SonarCloud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6519672"/>
            <a:ext cx="6995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GitHub Actions: build → testes → JaCoCo → sonar:sonar · Quality Gate bloqueante na branch main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Repositório: [URL]   ·   Documentação DDD: [URL]   ·   Vídeo: [URL]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