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920240"/>
            <a:ext cx="106372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FAFAF7"/>
                </a:solidFill>
                <a:latin typeface="Segoe UI"/>
              </a:rPr>
              <a:t>Oficina Mecânica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97180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B9C4D4"/>
                </a:solidFill>
                <a:latin typeface="Segoe UI"/>
              </a:rPr>
              <a:t>Autenticação na borda, rede privada, ambientes segregados e observabilidade.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09160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B9C4D4"/>
                </a:solidFill>
                <a:latin typeface="Segoe UI"/>
              </a:rPr>
              <a:t>Danilo Canato — RM 372411 — Discord: @canatodanilo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B9C4D4"/>
                </a:solidFill>
                <a:latin typeface="Segoe UI"/>
              </a:rPr>
              <a:t>Guilherme Fumagali Marques — RM 372421 — Discord: @gfumafali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98932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97AB"/>
                </a:solidFill>
                <a:latin typeface="Segoe UI"/>
              </a:rPr>
              <a:t>Tech Challenge · Fase 3 · PosTech FIAP — Arquitetura de Software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Situação ao final da Fase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Três dos cinco requisitos de infraestrutura desta fase já estavam atendidos.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JÁ EXISTIA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Cluster e banco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EKS com HPA por CPU e memória.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RDS PostgreSQL 16 gerenciado, sem acesso público.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Tudo provisionado por Terraform, com state em S3.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8322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922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JÁ EXISTIA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922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Esteira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922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Build, testes, SonarCloud e deploy automático no cluster.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OIDC para a AWS, com uma única role de administrador.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9404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8004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PENDENTE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8004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Borda e identidade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8004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Sem API Gateway: a proteção era feita apenas pelo Spring Security.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 aplicação emitia o próprio token, com um usuário administrador em memória.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6270"/>
                </a:solidFill>
                <a:latin typeface="Segoe UI"/>
              </a:rPr>
              <a:t>A implementação concentrou-se em autenticação, segregação de repositórios e observabilidade.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Requisitos da Fase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Os requisitos tratam de capacidade operacional e não acrescentam funcionalidades de negócio.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10637215" cy="658368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945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B5C9B"/>
                </a:solidFill>
                <a:latin typeface="Segoe U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194560"/>
            <a:ext cx="93570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1B2D"/>
                </a:solidFill>
                <a:latin typeface="Segoe UI"/>
              </a:rPr>
              <a:t>Autenticação por CPF em função serverless, atrás de um API Gateway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798064"/>
            <a:ext cx="10637215" cy="658368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980944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B5C9B"/>
                </a:solidFill>
                <a:latin typeface="Segoe U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980944"/>
            <a:ext cx="93570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1B2D"/>
                </a:solidFill>
                <a:latin typeface="Segoe UI"/>
              </a:rPr>
              <a:t>Quatro repositórios separados, cada um com CI/CD e deploy automático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584448"/>
            <a:ext cx="10637215" cy="658368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767328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B5C9B"/>
                </a:solidFill>
                <a:latin typeface="Segoe U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767328"/>
            <a:ext cx="93570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1B2D"/>
                </a:solidFill>
                <a:latin typeface="Segoe UI"/>
              </a:rPr>
              <a:t>Infraestrutura de nuvem inteira declarada em Terraform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370832"/>
            <a:ext cx="10637215" cy="658368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553712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B5C9B"/>
                </a:solidFill>
                <a:latin typeface="Segoe UI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553712"/>
            <a:ext cx="93570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1B2D"/>
                </a:solidFill>
                <a:latin typeface="Segoe UI"/>
              </a:rPr>
              <a:t>Observabilidade com plataforma de mercado, e dashboards de negócio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157216"/>
            <a:ext cx="10637215" cy="658368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340096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B5C9B"/>
                </a:solidFill>
                <a:latin typeface="Segoe UI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5340096"/>
            <a:ext cx="93570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1B2D"/>
                </a:solidFill>
                <a:latin typeface="Segoe UI"/>
              </a:rPr>
              <a:t>Documentação arquitetural formal: RFCs, ADRs, C4, sequência e 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199632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6270"/>
                </a:solidFill>
                <a:latin typeface="Segoe UI"/>
              </a:rPr>
              <a:t>Foco em segurança, operação e visibilidade do sistema.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Emissão de tokens na função serverless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Principal alteração na aplicação nesta fase.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20240"/>
            <a:ext cx="10637215" cy="12344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100885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400" b="0" i="0">
                <a:solidFill>
                  <a:srgbClr val="141B2D"/>
                </a:solidFill>
                <a:latin typeface="Segoe UI"/>
              </a:rPr>
              <a:t>Cliente  →  API Gateway  →  Lambda: valida CPF · consulta status no banco · assina JWT</a:t>
            </a:r>
          </a:p>
          <a:p>
            <a:pPr algn="l">
              <a:lnSpc>
                <a:spcPct val="170000"/>
              </a:lnSpc>
            </a:pPr>
            <a:r>
              <a:rPr sz="1400" b="0" i="0">
                <a:solidFill>
                  <a:srgbClr val="141B2D"/>
                </a:solidFill>
                <a:latin typeface="Segoe UI"/>
              </a:rPr>
              <a:t>Cliente  →  API Gateway  →  Lambda authorizer valida na borda  →  cluster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383280"/>
            <a:ext cx="3375050" cy="26060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60273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REMOVIDO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95020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Da aplicação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617720"/>
            <a:ext cx="291785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AuthController, UserDetailsConfig, RefreshTokenService e três DTOs.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 JwtService perdeu a geração e ficou só com verificação e leitura de claims.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8322" y="3383280"/>
            <a:ext cx="3375050" cy="26060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6922" y="360273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MOTIVAÇÃO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922" y="395020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Um único emissor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922" y="4617720"/>
            <a:ext cx="291785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Um lugar para rotacionar a chave.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Uma semântica de claims.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Um ponto de auditoria.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39404" y="3383280"/>
            <a:ext cx="3375050" cy="26060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68004" y="360273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CONSEQUÊNCIAS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8004" y="395020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Sessão de 15 minutos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8004" y="4617720"/>
            <a:ext cx="291785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Sem refresh token: o cliente se autentica novamente com o CPF quando o token expira.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 sub do token é o UUID do cliente, e não o CPF.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API Gateway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Requisições sem token válido são rejeitadas antes de chegar ao cluster.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PROTEGIDO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ANY /api/**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Lambda authorizer valida a assinatura, com cache de 300 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Funcionário acessa a gestão; cliente, só as próprias OS e veículos.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8322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922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SEM CPF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922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Rotas de terceiros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922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Consulta de status por ID opaco.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Aprovação externa de orçamento, chamada por sistema de terceiro com token de uso único.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9404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8004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ESCOLHA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8004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Lambda authorizer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8004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 JWT authorizer nativo exige OIDC e JWKS.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Ele não valida HMAC, pois a assinatura simétrica não possui chave pública.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6270"/>
                </a:solidFill>
                <a:latin typeface="Segoe UI"/>
              </a:rPr>
              <a:t>Decisão registrada no diagrama de sequência e na especificação do gateway.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Repositórios e ambientes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Quatro repositórios com pipelines próprios, integrados pelo SSM Parameter Store.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2467279" cy="150876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2194560"/>
            <a:ext cx="206494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B5C9B"/>
                </a:solidFill>
                <a:latin typeface="Segoe UI"/>
              </a:rPr>
              <a:t>tech-challenge-1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2651760"/>
            <a:ext cx="206494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A6270"/>
                </a:solidFill>
                <a:latin typeface="Segoe UI"/>
              </a:rPr>
              <a:t>oficina-api · Spring Boot · histórico das 3 fases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500551" y="1965960"/>
            <a:ext cx="2467279" cy="150876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01719" y="2194560"/>
            <a:ext cx="206494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B5C9B"/>
                </a:solidFill>
                <a:latin typeface="Segoe UI"/>
              </a:rPr>
              <a:t>oficina-auth-lambda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1719" y="2651760"/>
            <a:ext cx="206494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A6270"/>
                </a:solidFill>
                <a:latin typeface="Segoe UI"/>
              </a:rPr>
              <a:t>SAM Java 21 · duas funções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863" y="1965960"/>
            <a:ext cx="2467279" cy="150876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5031" y="2194560"/>
            <a:ext cx="206494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B5C9B"/>
                </a:solidFill>
                <a:latin typeface="Segoe UI"/>
              </a:rPr>
              <a:t>oficina-infra-k8s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5031" y="2651760"/>
            <a:ext cx="206494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A6270"/>
                </a:solidFill>
                <a:latin typeface="Segoe UI"/>
              </a:rPr>
              <a:t>Rede, EKS, ECR, gateway, New Relic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47175" y="1965960"/>
            <a:ext cx="2467279" cy="150876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8343" y="2194560"/>
            <a:ext cx="206494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B5C9B"/>
                </a:solidFill>
                <a:latin typeface="Segoe UI"/>
              </a:rPr>
              <a:t>oficina-infra-db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8343" y="2651760"/>
            <a:ext cx="206494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A6270"/>
                </a:solidFill>
                <a:latin typeface="Segoe UI"/>
              </a:rPr>
              <a:t>RDS PostgreSQL gerenciado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794760"/>
            <a:ext cx="10637215" cy="196596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023360"/>
            <a:ext cx="100885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INTEGRAÇÃO: SSM PARAMETER STORE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407408"/>
            <a:ext cx="1008857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41B2D"/>
                </a:solidFill>
                <a:latin typeface="Segoe UI"/>
              </a:rPr>
              <a:t>Cada repositório publica seus outputs sob /oficina/&lt;ambiente&gt;/ e consome os dos demais por data source, sem terraform_remote_state, de modo que nenhum precise de permissão sobre o state de outro.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41B2D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41B2D"/>
                </a:solidFill>
                <a:latin typeface="Segoe UI"/>
              </a:rPr>
              <a:t>develop → homologação · main → produção com aprovação · cada ambiente com VPC, cluster, banco, state e segredos próprios · uma role por repositório, com menor privilégio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Rede privada e acesso à internet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Nós e banco migrados para subnets privadas. Opções avaliadas para a saída de internet: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10637215" cy="7772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4884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NAT Gateway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83480" y="21945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270"/>
                </a:solidFill>
                <a:latin typeface="Segoe UI"/>
              </a:rPr>
              <a:t>US$ 0,045/h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37015" y="21488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i="0">
                <a:solidFill>
                  <a:srgbClr val="5A6270"/>
                </a:solidFill>
                <a:latin typeface="Segoe UI"/>
              </a:rPr>
              <a:t>~US$ 33/mês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926080"/>
            <a:ext cx="10637215" cy="7772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6324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VPC interface endpoints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3480" y="3108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270"/>
                </a:solidFill>
                <a:latin typeface="Segoe UI"/>
              </a:rPr>
              <a:t>US$ 0,01/h × 4 endpoints × 2 AZs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37015" y="30632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i="0">
                <a:solidFill>
                  <a:srgbClr val="B36A0B"/>
                </a:solidFill>
                <a:latin typeface="Segoe UI"/>
              </a:rPr>
              <a:t>~US$ 58/mês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840480"/>
            <a:ext cx="10637215" cy="7772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97764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NAT instance t4g.nano + EIP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3480" y="40233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270"/>
                </a:solidFill>
                <a:latin typeface="Segoe UI"/>
              </a:rPr>
              <a:t>US$ 0,0042/h + US$ 0,005/h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37015" y="39776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i="0">
                <a:solidFill>
                  <a:srgbClr val="1E7A5A"/>
                </a:solidFill>
                <a:latin typeface="Segoe UI"/>
              </a:rPr>
              <a:t>~US$ 7/mês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02920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41B2D"/>
                </a:solidFill>
                <a:latin typeface="Segoe UI"/>
              </a:rPr>
              <a:t>Interface endpoints são cobrados por endpoint e por zona de disponibilidade e não atendem ao endpoint público do New Relic.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41B2D"/>
                </a:solidFill>
                <a:latin typeface="Segoe UI"/>
              </a:rPr>
              <a:t>Em subnet privada, os nós deixam de usar IPv4 público, cobrado desde fev/2024 (US$ 7,30/mês).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Banco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PostgreSQL 16 em RDS mantido, com alternativas avaliadas na RFC-002.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AVALIADO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DynamoDB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Escala melhor com Lambda, sem limite de conexões.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Exigiria desnormalizar e reescrever a camada de persistência.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8322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922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AVALIADO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922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Aurora Serverless v2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922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Compatível com PostgreSQL, com escala automática.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 capacidade mínima custa mais que a instância utilizada.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9404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8004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7A5A"/>
                </a:solidFill>
                <a:latin typeface="Segoe UI"/>
              </a:rPr>
              <a:t>ESCOLHIDO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8004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PostgreSQL 16 · 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8004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Domínio relacional: integridade referencial em 5 tabelas e junções nas consultas de OS.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Schema já depende de pgcrypto e gen_random_uuid().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486400"/>
            <a:ext cx="10637215" cy="7772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669280"/>
            <a:ext cx="100885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41B2D"/>
                </a:solidFill>
                <a:latin typeface="Segoe UI"/>
              </a:rPr>
              <a:t>Ajustes no modelo:  V6 → clientes.status, consultado pela Lambda, e 2 índices   ·   V7 → data_ultima_transicao, para medir a permanência por status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Observabilidade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New Relic: plano gratuito permanente, enquanto o Datadog oferece avaliação de 14 dias.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10637215" cy="621792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76272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1B2D"/>
                </a:solidFill>
                <a:latin typeface="Segoe UI"/>
              </a:rPr>
              <a:t>Latência das APIs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40680" y="2194560"/>
            <a:ext cx="56080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270"/>
                </a:solidFill>
                <a:latin typeface="Segoe UI"/>
              </a:rPr>
              <a:t>Agente Java · p95 e p99 por endpoint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743200"/>
            <a:ext cx="10637215" cy="621792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907792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1B2D"/>
                </a:solidFill>
                <a:latin typeface="Segoe UI"/>
              </a:rPr>
              <a:t>CPU e memória do K8s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926080"/>
            <a:ext cx="56080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270"/>
                </a:solidFill>
                <a:latin typeface="Segoe UI"/>
              </a:rPr>
              <a:t>Integração Kubernetes por DaemonSet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10637215" cy="621792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639312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1B2D"/>
                </a:solidFill>
                <a:latin typeface="Segoe UI"/>
              </a:rPr>
              <a:t>Healthchecks e uptime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3657600"/>
            <a:ext cx="56080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270"/>
                </a:solidFill>
                <a:latin typeface="Segoe UI"/>
              </a:rPr>
              <a:t>Monitor sintético · 3 localizações · a cada 5 min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206240"/>
            <a:ext cx="10637215" cy="621792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70832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1B2D"/>
                </a:solidFill>
                <a:latin typeface="Segoe UI"/>
              </a:rPr>
              <a:t>Falhas no processamento de 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4389120"/>
            <a:ext cx="56080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270"/>
                </a:solidFill>
                <a:latin typeface="Segoe UI"/>
              </a:rPr>
              <a:t>Condição NRQL sobre métrica customizada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937760"/>
            <a:ext cx="10637215" cy="621792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102352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1B2D"/>
                </a:solidFill>
                <a:latin typeface="Segoe UI"/>
              </a:rPr>
              <a:t>Logs JSON com correlação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0680" y="5120640"/>
            <a:ext cx="56080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270"/>
                </a:solidFill>
                <a:latin typeface="Segoe UI"/>
              </a:rPr>
              <a:t>Structured logging nativo do Spring Boot 3.4 · formato ECS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199632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6270"/>
                </a:solidFill>
                <a:latin typeface="Segoe UI"/>
              </a:rPr>
              <a:t>Encaminhamento de logs pelo agente desativado: o envio é feito pelo Fluent Bit, evitando linhas duplicadas.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Dashboards de negócio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Métricas customizadas emitidas pela aplicação, complementares aos dados do APM.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MÉTRICA CUSTOMIZADA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Volume diário de 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oficina.os.abertas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Emitida no caso de uso, representando o evento de negócio.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8322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922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MÉTRICA CUSTOMIZADA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922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Tempo médio por status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922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oficina.os.duracao_status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 agregado mede a permanência no estado anterior, e o adaptador de persistência publica o evento.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9404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8004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MÉTRICA CUSTOMIZADA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8004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Erros de integração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8004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oficina.integracao.falhas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Segmentada por integração e motivo: e-mail e aprovação externa.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486400"/>
            <a:ext cx="10637215" cy="7772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669280"/>
            <a:ext cx="100885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41B2D"/>
                </a:solidFill>
                <a:latin typeface="Segoe UI"/>
              </a:rPr>
              <a:t>6 alertas criados por Terraform, no padrão AWS-OficinaAPI-&lt;Amb&gt;-&lt;Recurso&gt;-&lt;Sintoma&gt;-&lt;Severidade&gt;, cada um com link para o runbook correspondente.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Documentação arquitetural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3 RFCs · 14 ADRs · 3 diagramas C4 · 2 de sequência · 1 DER · 6 runbooks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ANTES DA DECISÃO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RFC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Registra a proposta, os comentários dos revisores e sua resolução.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Temas: nuvem, banco e autenticação.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8322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922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DEPOIS DA DECISÃO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922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ADR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922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Registra a decisão, as alternativas e as consequências.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Após aceita, não é editada; mudanças geram nova ADR.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9404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8004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36A0B"/>
                </a:solidFill>
                <a:latin typeface="Segoe UI"/>
              </a:rPr>
              <a:t>OBSERVAÇÃO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8004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RFC no material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8004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 material da fase aborda ADR, DAS, HLD/LLD e C4, mas não RFC.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 convenção adotada está documentada.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6270"/>
                </a:solidFill>
                <a:latin typeface="Segoe UI"/>
              </a:rPr>
              <a:t>A ADR-011, retroativa, identificou divergência entre o HPA (4 réplicas) e o node group (3 nós), corrigida nesta fase.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 i="0">
                <a:solidFill>
                  <a:srgbClr val="FAFAF7"/>
                </a:solidFill>
                <a:latin typeface="Segoe UI"/>
              </a:rPr>
              <a:t>DEMO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3172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B9C4D4"/>
                </a:solidFill>
                <a:latin typeface="Segoe UI"/>
              </a:rPr>
              <a:t>Autenticação por CPF e APIs protegidas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29184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6F9DD9"/>
                </a:solidFill>
                <a:latin typeface="Sego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3328416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AFAF7"/>
                </a:solidFill>
                <a:latin typeface="Segoe UI"/>
              </a:rPr>
              <a:t>Chamada sem token → 401 no gateway, sem registro no log do pod.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95020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6F9DD9"/>
                </a:solidFill>
                <a:latin typeface="Segoe U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3986784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AFAF7"/>
                </a:solidFill>
                <a:latin typeface="Segoe UI"/>
              </a:rPr>
              <a:t>POST /auth com CPF → JWT. Claims em jwt.io: sub com o UUID do cliente.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0857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6F9DD9"/>
                </a:solidFill>
                <a:latin typeface="Segoe U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4645152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AFAF7"/>
                </a:solidFill>
                <a:latin typeface="Segoe UI"/>
              </a:rPr>
              <a:t>CPF inválido → 400. Cliente bloqueado → 403, com a mesma mensagem do 404.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266944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6F9DD9"/>
                </a:solidFill>
                <a:latin typeface="Segoe U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5303520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AFAF7"/>
                </a:solidFill>
                <a:latin typeface="Segoe UI"/>
              </a:rPr>
              <a:t>Com o token: listar OS, abrir uma nova, consultar status.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 i="0">
                <a:solidFill>
                  <a:srgbClr val="FAFAF7"/>
                </a:solidFill>
                <a:latin typeface="Segoe UI"/>
              </a:rPr>
              <a:t>DEMO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3172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B9C4D4"/>
                </a:solidFill>
                <a:latin typeface="Segoe UI"/>
              </a:rPr>
              <a:t>Esteira, deploy e observabilidade ao vivo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29184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6F9DD9"/>
                </a:solidFill>
                <a:latin typeface="Sego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3328416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AFAF7"/>
                </a:solidFill>
                <a:latin typeface="Segoe UI"/>
              </a:rPr>
              <a:t>Merge do PR na develop → pipeline: testes e imagem no ECR de homologação.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95020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6F9DD9"/>
                </a:solidFill>
                <a:latin typeface="Segoe U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3986784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AFAF7"/>
                </a:solidFill>
                <a:latin typeface="Segoe UI"/>
              </a:rPr>
              <a:t>Deploy automático no EKS de homologação, até a conclusão do rollout.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0857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6F9DD9"/>
                </a:solidFill>
                <a:latin typeface="Segoe U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4645152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AFAF7"/>
                </a:solidFill>
                <a:latin typeface="Segoe UI"/>
              </a:rPr>
              <a:t>Carga com k6 → dashboard de negócio e criação de réplica pelo HPA.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266944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6F9DD9"/>
                </a:solidFill>
                <a:latin typeface="Segoe U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5303520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AFAF7"/>
                </a:solidFill>
                <a:latin typeface="Segoe UI"/>
              </a:rPr>
              <a:t>Busca pelo ID da OS do DEMO 1: log estruturado → trace distribuído.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Resultados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Entregas da fase e débitos técnicos registrados.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3375050" cy="310896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ENTREGUE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Operação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00400"/>
            <a:ext cx="291785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Autenticação fora da aplicação, borda protegida por gateway e rede privada.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Quatro pipelines com menor privilégio e dois ambientes segregados.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8322" y="1965960"/>
            <a:ext cx="3375050" cy="310896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922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ENTREGUE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922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Visibilidade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922" y="3200400"/>
            <a:ext cx="291785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Métricas de negócio.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Logs estruturados correlacionados aos traces.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Alertas associados a runbooks.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9404" y="1965960"/>
            <a:ext cx="3375050" cy="310896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8004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36A0B"/>
                </a:solidFill>
                <a:latin typeface="Segoe UI"/>
              </a:rPr>
              <a:t>REGISTRADO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8004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9 débitos técnicos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8004" y="3200400"/>
            <a:ext cx="291785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Autenticação só por CPF atende ao enunciado, com mitigações aplicadas.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 segundo fator fica planejado para uma próxima etapa, fora do escopo desta entrega.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76072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41B2D"/>
                </a:solidFill>
                <a:latin typeface="Segoe UI"/>
              </a:rPr>
              <a:t>Obrigado.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