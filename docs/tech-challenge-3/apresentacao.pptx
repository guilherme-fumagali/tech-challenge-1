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1920240"/>
            <a:ext cx="1063721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800" b="1" i="0">
                <a:solidFill>
                  <a:srgbClr val="FAFAF7"/>
                </a:solidFill>
                <a:latin typeface="Segoe UI"/>
              </a:rPr>
              <a:t>Oficina Mecânica API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971800"/>
            <a:ext cx="106372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B9C4D4"/>
                </a:solidFill>
                <a:latin typeface="Segoe UI"/>
              </a:rPr>
              <a:t>Autenticação na borda, rede privada, ambientes segregados e observabilidade.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4709160"/>
            <a:ext cx="106372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B9C4D4"/>
                </a:solidFill>
                <a:latin typeface="Segoe UI"/>
              </a:rPr>
              <a:t>Danilo Canato — RM 372411 — Discord: @canatodanilo</a:t>
            </a:r>
          </a:p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B9C4D4"/>
                </a:solidFill>
                <a:latin typeface="Segoe UI"/>
              </a:rPr>
              <a:t>Guilherme Fumagali Marques — RM 372421 — Discord: @gfumafali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5989320"/>
            <a:ext cx="1063721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8A97AB"/>
                </a:solidFill>
                <a:latin typeface="Segoe UI"/>
              </a:rPr>
              <a:t>Tech Challenge · Fase 3 · PosTech FIAP — Arquitetura de Software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372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141B2D"/>
                </a:solidFill>
                <a:latin typeface="Segoe UI"/>
              </a:rPr>
              <a:t>Situação ao final da Fase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170432"/>
            <a:ext cx="106372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5A6270"/>
                </a:solidFill>
                <a:latin typeface="Segoe UI"/>
              </a:rPr>
              <a:t>Três dos cinco requisitos de infraestrutura desta fase já estavam atendidos.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965960"/>
            <a:ext cx="3375050" cy="3291840"/>
          </a:xfrm>
          <a:prstGeom prst="rect">
            <a:avLst/>
          </a:prstGeom>
          <a:solidFill>
            <a:srgbClr val="E9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185416"/>
            <a:ext cx="29178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2B5C9B"/>
                </a:solidFill>
                <a:latin typeface="Segoe UI"/>
              </a:rPr>
              <a:t>JÁ EXISTIA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532888"/>
            <a:ext cx="291785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141B2D"/>
                </a:solidFill>
                <a:latin typeface="Segoe UI"/>
              </a:rPr>
              <a:t>Cluster e banco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3200400"/>
            <a:ext cx="291785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>EKS com HPA por CPU e memória.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>RDS PostgreSQL 16 gerenciado, sem acesso público.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>Tudo provisionado por Terraform, com state em S3.</a:t>
            </a:r>
          </a:p>
        </p:txBody>
      </p:sp>
      <p:sp>
        <p:nvSpPr>
          <p:cNvPr id="9" name="Rectangle 8"/>
          <p:cNvSpPr/>
          <p:nvPr/>
        </p:nvSpPr>
        <p:spPr>
          <a:xfrm>
            <a:off x="4408322" y="1965960"/>
            <a:ext cx="3375050" cy="3291840"/>
          </a:xfrm>
          <a:prstGeom prst="rect">
            <a:avLst/>
          </a:prstGeom>
          <a:solidFill>
            <a:srgbClr val="E9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36922" y="2185416"/>
            <a:ext cx="29178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2B5C9B"/>
                </a:solidFill>
                <a:latin typeface="Segoe UI"/>
              </a:rPr>
              <a:t>JÁ EXISTIA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36922" y="2532888"/>
            <a:ext cx="291785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141B2D"/>
                </a:solidFill>
                <a:latin typeface="Segoe UI"/>
              </a:rPr>
              <a:t>Esteira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36922" y="3200400"/>
            <a:ext cx="291785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>Build, testes, SonarCloud e deploy automático no cluster.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>OIDC para a AWS, com uma única role de administrador.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39404" y="1965960"/>
            <a:ext cx="3375050" cy="3291840"/>
          </a:xfrm>
          <a:prstGeom prst="rect">
            <a:avLst/>
          </a:prstGeom>
          <a:solidFill>
            <a:srgbClr val="E9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68004" y="2185416"/>
            <a:ext cx="29178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2B5C9B"/>
                </a:solidFill>
                <a:latin typeface="Segoe UI"/>
              </a:rPr>
              <a:t>PENDENTE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68004" y="2532888"/>
            <a:ext cx="291785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141B2D"/>
                </a:solidFill>
                <a:latin typeface="Segoe UI"/>
              </a:rPr>
              <a:t>Borda e identidade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8004" y="3200400"/>
            <a:ext cx="291785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>Sem API Gateway: a proteção era feita apenas pelo Spring Security.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>A aplicação emitia o próprio token, com um usuário administrador em memória.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6199632"/>
            <a:ext cx="1063721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5A6270"/>
                </a:solidFill>
                <a:latin typeface="Segoe UI"/>
              </a:rPr>
              <a:t>A implementação concentrou-se em autenticação, segregação de repositórios e observabilidade.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372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141B2D"/>
                </a:solidFill>
                <a:latin typeface="Segoe UI"/>
              </a:rPr>
              <a:t>Requisitos da Fase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170432"/>
            <a:ext cx="106372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5A6270"/>
                </a:solidFill>
                <a:latin typeface="Segoe UI"/>
              </a:rPr>
              <a:t>Os requisitos tratam de capacidade operacional e não acrescentam funcionalidades de negócio.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2011680"/>
            <a:ext cx="10637215" cy="658368"/>
          </a:xfrm>
          <a:prstGeom prst="rect">
            <a:avLst/>
          </a:prstGeom>
          <a:solidFill>
            <a:srgbClr val="E9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2194560"/>
            <a:ext cx="457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B5C9B"/>
                </a:solidFill>
                <a:latin typeface="Segoe UI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91640" y="2194560"/>
            <a:ext cx="935705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141B2D"/>
                </a:solidFill>
                <a:latin typeface="Segoe UI"/>
              </a:rPr>
              <a:t>Autenticação por CPF em função serverless, atrás de um API Gateway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798064"/>
            <a:ext cx="10637215" cy="658368"/>
          </a:xfrm>
          <a:prstGeom prst="rect">
            <a:avLst/>
          </a:prstGeom>
          <a:solidFill>
            <a:srgbClr val="E9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2980944"/>
            <a:ext cx="457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B5C9B"/>
                </a:solidFill>
                <a:latin typeface="Segoe UI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2980944"/>
            <a:ext cx="935705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141B2D"/>
                </a:solidFill>
                <a:latin typeface="Segoe UI"/>
              </a:rPr>
              <a:t>Quatro repositórios separados, cada um com CI/CD e deploy automático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3584448"/>
            <a:ext cx="10637215" cy="658368"/>
          </a:xfrm>
          <a:prstGeom prst="rect">
            <a:avLst/>
          </a:prstGeom>
          <a:solidFill>
            <a:srgbClr val="E9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3767328"/>
            <a:ext cx="457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B5C9B"/>
                </a:solidFill>
                <a:latin typeface="Segoe UI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91640" y="3767328"/>
            <a:ext cx="935705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141B2D"/>
                </a:solidFill>
                <a:latin typeface="Segoe UI"/>
              </a:rPr>
              <a:t>Infraestrutura de nuvem inteira declarada em Terraform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4370832"/>
            <a:ext cx="10637215" cy="658368"/>
          </a:xfrm>
          <a:prstGeom prst="rect">
            <a:avLst/>
          </a:prstGeom>
          <a:solidFill>
            <a:srgbClr val="E9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4553712"/>
            <a:ext cx="457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B5C9B"/>
                </a:solidFill>
                <a:latin typeface="Segoe UI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91640" y="4553712"/>
            <a:ext cx="935705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141B2D"/>
                </a:solidFill>
                <a:latin typeface="Segoe UI"/>
              </a:rPr>
              <a:t>Observabilidade com plataforma de mercado, e dashboards de negócio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5157216"/>
            <a:ext cx="10637215" cy="658368"/>
          </a:xfrm>
          <a:prstGeom prst="rect">
            <a:avLst/>
          </a:prstGeom>
          <a:solidFill>
            <a:srgbClr val="E9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1560" y="5340096"/>
            <a:ext cx="457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B5C9B"/>
                </a:solidFill>
                <a:latin typeface="Segoe UI"/>
              </a:rPr>
              <a:t>05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91640" y="5340096"/>
            <a:ext cx="935705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141B2D"/>
                </a:solidFill>
                <a:latin typeface="Segoe UI"/>
              </a:rPr>
              <a:t>Documentação arquitetural formal: RFCs, ADRs, C4, sequência e DER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6199632"/>
            <a:ext cx="1063721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5A6270"/>
                </a:solidFill>
                <a:latin typeface="Segoe UI"/>
              </a:rPr>
              <a:t>Foco em segurança, operação e visibilidade do sistema.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372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141B2D"/>
                </a:solidFill>
                <a:latin typeface="Segoe UI"/>
              </a:rPr>
              <a:t>Emissão de tokens na função serverless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170432"/>
            <a:ext cx="106372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5A6270"/>
                </a:solidFill>
                <a:latin typeface="Segoe UI"/>
              </a:rPr>
              <a:t>Principal alteração na aplicação nesta fase.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920240"/>
            <a:ext cx="10637215" cy="1234440"/>
          </a:xfrm>
          <a:prstGeom prst="rect">
            <a:avLst/>
          </a:prstGeom>
          <a:solidFill>
            <a:srgbClr val="E9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2103120"/>
            <a:ext cx="100885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70000"/>
              </a:lnSpc>
            </a:pPr>
            <a:r>
              <a:rPr sz="1400" b="0" i="0">
                <a:solidFill>
                  <a:srgbClr val="141B2D"/>
                </a:solidFill>
                <a:latin typeface="Segoe UI"/>
              </a:rPr>
              <a:t>Cliente  →  API Gateway  →  Lambda: valida CPF · consulta status no banco · assina JWT</a:t>
            </a:r>
          </a:p>
          <a:p>
            <a:pPr algn="l">
              <a:lnSpc>
                <a:spcPct val="170000"/>
              </a:lnSpc>
            </a:pPr>
            <a:r>
              <a:rPr sz="1400" b="0" i="0">
                <a:solidFill>
                  <a:srgbClr val="141B2D"/>
                </a:solidFill>
                <a:latin typeface="Segoe UI"/>
              </a:rPr>
              <a:t>Cliente  →  API Gateway  →  Lambda authorizer valida na borda  →  cluster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3383280"/>
            <a:ext cx="3375050" cy="2606040"/>
          </a:xfrm>
          <a:prstGeom prst="rect">
            <a:avLst/>
          </a:prstGeom>
          <a:solidFill>
            <a:srgbClr val="E9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3602736"/>
            <a:ext cx="29178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2B5C9B"/>
                </a:solidFill>
                <a:latin typeface="Segoe UI"/>
              </a:rPr>
              <a:t>REMOVIDO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3950208"/>
            <a:ext cx="291785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141B2D"/>
                </a:solidFill>
                <a:latin typeface="Segoe UI"/>
              </a:rPr>
              <a:t>Da aplicação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617720"/>
            <a:ext cx="291785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>AuthController, UserDetailsConfig, RefreshTokenService e três DTOs.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>O JwtService perdeu a geração e ficou só com verificação e leitura de claims.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408322" y="3383280"/>
            <a:ext cx="3375050" cy="2606040"/>
          </a:xfrm>
          <a:prstGeom prst="rect">
            <a:avLst/>
          </a:prstGeom>
          <a:solidFill>
            <a:srgbClr val="E9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36922" y="3602736"/>
            <a:ext cx="29178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2B5C9B"/>
                </a:solidFill>
                <a:latin typeface="Segoe UI"/>
              </a:rPr>
              <a:t>MOTIVAÇÃO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36922" y="3950208"/>
            <a:ext cx="291785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141B2D"/>
                </a:solidFill>
                <a:latin typeface="Segoe UI"/>
              </a:rPr>
              <a:t>Um único emissor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36922" y="4617720"/>
            <a:ext cx="291785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>Um lugar para rotacionar a chave.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>Uma semântica de claims.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>Um ponto de auditoria.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39404" y="3383280"/>
            <a:ext cx="3375050" cy="2606040"/>
          </a:xfrm>
          <a:prstGeom prst="rect">
            <a:avLst/>
          </a:prstGeom>
          <a:solidFill>
            <a:srgbClr val="E9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68004" y="3602736"/>
            <a:ext cx="29178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2B5C9B"/>
                </a:solidFill>
                <a:latin typeface="Segoe UI"/>
              </a:rPr>
              <a:t>CONSEQUÊNCIAS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8004" y="3950208"/>
            <a:ext cx="291785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141B2D"/>
                </a:solidFill>
                <a:latin typeface="Segoe UI"/>
              </a:rPr>
              <a:t>Sessão de 15 minutos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68004" y="4617720"/>
            <a:ext cx="291785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>Sem refresh token: o cliente se autentica novamente com o CPF quando o token expira.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>O sub do token é o UUID do cliente, e não o CPF.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372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141B2D"/>
                </a:solidFill>
                <a:latin typeface="Segoe UI"/>
              </a:rPr>
              <a:t>API Gateway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170432"/>
            <a:ext cx="106372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5A6270"/>
                </a:solidFill>
                <a:latin typeface="Segoe UI"/>
              </a:rPr>
              <a:t>Requisições sem token válido são rejeitadas antes de chegar ao cluster.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965960"/>
            <a:ext cx="3375050" cy="3291840"/>
          </a:xfrm>
          <a:prstGeom prst="rect">
            <a:avLst/>
          </a:prstGeom>
          <a:solidFill>
            <a:srgbClr val="E9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185416"/>
            <a:ext cx="29178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2B5C9B"/>
                </a:solidFill>
                <a:latin typeface="Segoe UI"/>
              </a:rPr>
              <a:t>PROTEGIDO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532888"/>
            <a:ext cx="291785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141B2D"/>
                </a:solidFill>
                <a:latin typeface="Segoe UI"/>
              </a:rPr>
              <a:t>ANY /api/**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3200400"/>
            <a:ext cx="291785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>Lambda authorizer valida a assinatura, com cache de 300 s.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>Funcionário acessa a gestão; cliente, só as próprias OS e veículos.</a:t>
            </a:r>
          </a:p>
        </p:txBody>
      </p:sp>
      <p:sp>
        <p:nvSpPr>
          <p:cNvPr id="9" name="Rectangle 8"/>
          <p:cNvSpPr/>
          <p:nvPr/>
        </p:nvSpPr>
        <p:spPr>
          <a:xfrm>
            <a:off x="4408322" y="1965960"/>
            <a:ext cx="3375050" cy="3291840"/>
          </a:xfrm>
          <a:prstGeom prst="rect">
            <a:avLst/>
          </a:prstGeom>
          <a:solidFill>
            <a:srgbClr val="E9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36922" y="2185416"/>
            <a:ext cx="29178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2B5C9B"/>
                </a:solidFill>
                <a:latin typeface="Segoe UI"/>
              </a:rPr>
              <a:t>SEM CPF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36922" y="2532888"/>
            <a:ext cx="291785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141B2D"/>
                </a:solidFill>
                <a:latin typeface="Segoe UI"/>
              </a:rPr>
              <a:t>Rotas de terceiros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36922" y="3200400"/>
            <a:ext cx="291785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>Consulta de status por ID opaco.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>Aprovação externa de orçamento, chamada por sistema de terceiro com token de uso único.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39404" y="1965960"/>
            <a:ext cx="3375050" cy="3291840"/>
          </a:xfrm>
          <a:prstGeom prst="rect">
            <a:avLst/>
          </a:prstGeom>
          <a:solidFill>
            <a:srgbClr val="E9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68004" y="2185416"/>
            <a:ext cx="29178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2B5C9B"/>
                </a:solidFill>
                <a:latin typeface="Segoe UI"/>
              </a:rPr>
              <a:t>ESCOLHA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68004" y="2532888"/>
            <a:ext cx="291785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141B2D"/>
                </a:solidFill>
                <a:latin typeface="Segoe UI"/>
              </a:rPr>
              <a:t>Lambda authorizer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8004" y="3200400"/>
            <a:ext cx="291785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>O JWT authorizer nativo exige OIDC e JWKS.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>Ele não valida HMAC, pois a assinatura simétrica não possui chave pública.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6199632"/>
            <a:ext cx="1063721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5A6270"/>
                </a:solidFill>
                <a:latin typeface="Segoe UI"/>
              </a:rPr>
              <a:t>Decisão registrada no diagrama de sequência e na especificação do gateway.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372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141B2D"/>
                </a:solidFill>
                <a:latin typeface="Segoe UI"/>
              </a:rPr>
              <a:t>Repositórios e ambientes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170432"/>
            <a:ext cx="106372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5A6270"/>
                </a:solidFill>
                <a:latin typeface="Segoe UI"/>
              </a:rPr>
              <a:t>Quatro repositórios com pipelines próprios, integrados pelo SSM Parameter Store.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965960"/>
            <a:ext cx="2467279" cy="1508760"/>
          </a:xfrm>
          <a:prstGeom prst="rect">
            <a:avLst/>
          </a:prstGeom>
          <a:solidFill>
            <a:srgbClr val="E9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78408" y="2194560"/>
            <a:ext cx="206494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B5C9B"/>
                </a:solidFill>
                <a:latin typeface="Segoe UI"/>
              </a:rPr>
              <a:t>tech-challenge-1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78408" y="2651760"/>
            <a:ext cx="2064943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5A6270"/>
                </a:solidFill>
                <a:latin typeface="Segoe UI"/>
              </a:rPr>
              <a:t>oficina-api · Spring Boot · histórico das 3 fases</a:t>
            </a:r>
          </a:p>
        </p:txBody>
      </p:sp>
      <p:sp>
        <p:nvSpPr>
          <p:cNvPr id="8" name="Rectangle 7"/>
          <p:cNvSpPr/>
          <p:nvPr/>
        </p:nvSpPr>
        <p:spPr>
          <a:xfrm>
            <a:off x="3500551" y="1965960"/>
            <a:ext cx="2467279" cy="1508760"/>
          </a:xfrm>
          <a:prstGeom prst="rect">
            <a:avLst/>
          </a:prstGeom>
          <a:solidFill>
            <a:srgbClr val="E9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701719" y="2194560"/>
            <a:ext cx="206494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B5C9B"/>
                </a:solidFill>
                <a:latin typeface="Segoe UI"/>
              </a:rPr>
              <a:t>oficina-auth-lambda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01719" y="2651760"/>
            <a:ext cx="2064943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5A6270"/>
                </a:solidFill>
                <a:latin typeface="Segoe UI"/>
              </a:rPr>
              <a:t>SAM Java 21 · duas funções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23863" y="1965960"/>
            <a:ext cx="2467279" cy="1508760"/>
          </a:xfrm>
          <a:prstGeom prst="rect">
            <a:avLst/>
          </a:prstGeom>
          <a:solidFill>
            <a:srgbClr val="E9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5031" y="2194560"/>
            <a:ext cx="206494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B5C9B"/>
                </a:solidFill>
                <a:latin typeface="Segoe UI"/>
              </a:rPr>
              <a:t>oficina-infra-k8s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25031" y="2651760"/>
            <a:ext cx="2064943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5A6270"/>
                </a:solidFill>
                <a:latin typeface="Segoe UI"/>
              </a:rPr>
              <a:t>Rede, EKS, ECR, gateway, New Relic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947175" y="1965960"/>
            <a:ext cx="2467279" cy="1508760"/>
          </a:xfrm>
          <a:prstGeom prst="rect">
            <a:avLst/>
          </a:prstGeom>
          <a:solidFill>
            <a:srgbClr val="E9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8343" y="2194560"/>
            <a:ext cx="206494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B5C9B"/>
                </a:solidFill>
                <a:latin typeface="Segoe UI"/>
              </a:rPr>
              <a:t>oficina-infra-db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8343" y="2651760"/>
            <a:ext cx="2064943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5A6270"/>
                </a:solidFill>
                <a:latin typeface="Segoe UI"/>
              </a:rPr>
              <a:t>RDS PostgreSQL gerenciado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794760"/>
            <a:ext cx="10637215" cy="1965960"/>
          </a:xfrm>
          <a:prstGeom prst="rect">
            <a:avLst/>
          </a:prstGeom>
          <a:solidFill>
            <a:srgbClr val="E9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1560" y="4023360"/>
            <a:ext cx="1008857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2B5C9B"/>
                </a:solidFill>
                <a:latin typeface="Segoe UI"/>
              </a:rPr>
              <a:t>INTEGRAÇÃO: SSM PARAMETER STORE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1560" y="4407408"/>
            <a:ext cx="10088575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i="0">
                <a:solidFill>
                  <a:srgbClr val="141B2D"/>
                </a:solidFill>
                <a:latin typeface="Segoe UI"/>
              </a:rPr>
              <a:t>Cada repositório publica seus outputs sob /oficina/&lt;ambiente&gt;/ e consome os dos demais por data source, sem terraform_remote_state, de modo que nenhum precise de permissão sobre o state de outro.</a:t>
            </a:r>
          </a:p>
          <a:p>
            <a:pPr algn="l">
              <a:lnSpc>
                <a:spcPct val="135000"/>
              </a:lnSpc>
            </a:pPr>
            <a:r>
              <a:rPr sz="1300" b="0" i="0">
                <a:solidFill>
                  <a:srgbClr val="141B2D"/>
                </a:solidFill>
                <a:latin typeface="Segoe UI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300" b="0" i="0">
                <a:solidFill>
                  <a:srgbClr val="141B2D"/>
                </a:solidFill>
                <a:latin typeface="Segoe UI"/>
              </a:rPr>
              <a:t>develop → homologação · main → produção com aprovação · cada ambiente com VPC, cluster, banco, state e segredos próprios · uma role por repositório, com menor privilégio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372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141B2D"/>
                </a:solidFill>
                <a:latin typeface="Segoe UI"/>
              </a:rPr>
              <a:t>Rede privada e acesso à internet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170432"/>
            <a:ext cx="106372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5A6270"/>
                </a:solidFill>
                <a:latin typeface="Segoe UI"/>
              </a:rPr>
              <a:t>Nós e banco migrados para subnets privadas. Opções avaliadas para a saída de internet: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2011680"/>
            <a:ext cx="10637215" cy="777240"/>
          </a:xfrm>
          <a:prstGeom prst="rect">
            <a:avLst/>
          </a:prstGeom>
          <a:solidFill>
            <a:srgbClr val="E9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2148840"/>
            <a:ext cx="3840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141B2D"/>
                </a:solidFill>
                <a:latin typeface="Segoe UI"/>
              </a:rPr>
              <a:t>NAT Gateway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983480" y="219456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5A6270"/>
                </a:solidFill>
                <a:latin typeface="Segoe UI"/>
              </a:rPr>
              <a:t>US$ 0,045/h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037015" y="2148840"/>
            <a:ext cx="2377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 i="0">
                <a:solidFill>
                  <a:srgbClr val="5A6270"/>
                </a:solidFill>
                <a:latin typeface="Segoe UI"/>
              </a:rPr>
              <a:t>~US$ 33/mês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2926080"/>
            <a:ext cx="10637215" cy="777240"/>
          </a:xfrm>
          <a:prstGeom prst="rect">
            <a:avLst/>
          </a:prstGeom>
          <a:solidFill>
            <a:srgbClr val="E9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063240"/>
            <a:ext cx="3840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141B2D"/>
                </a:solidFill>
                <a:latin typeface="Segoe UI"/>
              </a:rPr>
              <a:t>VPC interface endpoints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83480" y="310896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5A6270"/>
                </a:solidFill>
                <a:latin typeface="Segoe UI"/>
              </a:rPr>
              <a:t>US$ 0,01/h × 4 endpoints × 2 AZs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37015" y="3063240"/>
            <a:ext cx="2377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 i="0">
                <a:solidFill>
                  <a:srgbClr val="B36A0B"/>
                </a:solidFill>
                <a:latin typeface="Segoe UI"/>
              </a:rPr>
              <a:t>~US$ 58/mês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3840480"/>
            <a:ext cx="10637215" cy="777240"/>
          </a:xfrm>
          <a:prstGeom prst="rect">
            <a:avLst/>
          </a:prstGeom>
          <a:solidFill>
            <a:srgbClr val="E9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1560" y="3977640"/>
            <a:ext cx="3840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141B2D"/>
                </a:solidFill>
                <a:latin typeface="Segoe UI"/>
              </a:rPr>
              <a:t>NAT instance t4g.nano + EIP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83480" y="402336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5A6270"/>
                </a:solidFill>
                <a:latin typeface="Segoe UI"/>
              </a:rPr>
              <a:t>US$ 0,0042/h + US$ 0,005/h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37015" y="3977640"/>
            <a:ext cx="2377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 i="0">
                <a:solidFill>
                  <a:srgbClr val="1E7A5A"/>
                </a:solidFill>
                <a:latin typeface="Segoe UI"/>
              </a:rPr>
              <a:t>~US$ 7/mês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5029200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i="0">
                <a:solidFill>
                  <a:srgbClr val="141B2D"/>
                </a:solidFill>
                <a:latin typeface="Segoe UI"/>
              </a:rPr>
              <a:t>Interface endpoints são cobrados por endpoint e por zona de disponibilidade e não atendem ao endpoint público do New Relic.</a:t>
            </a:r>
          </a:p>
          <a:p>
            <a:pPr algn="l">
              <a:lnSpc>
                <a:spcPct val="135000"/>
              </a:lnSpc>
            </a:pPr>
            <a:r>
              <a:rPr sz="1300" b="0" i="0">
                <a:solidFill>
                  <a:srgbClr val="141B2D"/>
                </a:solidFill>
                <a:latin typeface="Segoe UI"/>
              </a:rPr>
              <a:t>Em subnet privada, os nós deixam de usar IPv4 público, cobrado desde fev/2024 (US$ 7,30/mês).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372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141B2D"/>
                </a:solidFill>
                <a:latin typeface="Segoe UI"/>
              </a:rPr>
              <a:t>Banco de dados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170432"/>
            <a:ext cx="106372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5A6270"/>
                </a:solidFill>
                <a:latin typeface="Segoe UI"/>
              </a:rPr>
              <a:t>PostgreSQL 16 em RDS mantido, com alternativas avaliadas na RFC-002.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965960"/>
            <a:ext cx="3375050" cy="3291840"/>
          </a:xfrm>
          <a:prstGeom prst="rect">
            <a:avLst/>
          </a:prstGeom>
          <a:solidFill>
            <a:srgbClr val="E9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185416"/>
            <a:ext cx="29178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2B5C9B"/>
                </a:solidFill>
                <a:latin typeface="Segoe UI"/>
              </a:rPr>
              <a:t>AVALIADO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532888"/>
            <a:ext cx="291785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141B2D"/>
                </a:solidFill>
                <a:latin typeface="Segoe UI"/>
              </a:rPr>
              <a:t>DynamoDB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3200400"/>
            <a:ext cx="291785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>Escala melhor com Lambda, sem limite de conexões.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>Exigiria desnormalizar e reescrever a camada de persistência.</a:t>
            </a:r>
          </a:p>
        </p:txBody>
      </p:sp>
      <p:sp>
        <p:nvSpPr>
          <p:cNvPr id="9" name="Rectangle 8"/>
          <p:cNvSpPr/>
          <p:nvPr/>
        </p:nvSpPr>
        <p:spPr>
          <a:xfrm>
            <a:off x="4408322" y="1965960"/>
            <a:ext cx="3375050" cy="3291840"/>
          </a:xfrm>
          <a:prstGeom prst="rect">
            <a:avLst/>
          </a:prstGeom>
          <a:solidFill>
            <a:srgbClr val="E9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36922" y="2185416"/>
            <a:ext cx="29178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2B5C9B"/>
                </a:solidFill>
                <a:latin typeface="Segoe UI"/>
              </a:rPr>
              <a:t>AVALIADO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36922" y="2532888"/>
            <a:ext cx="291785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141B2D"/>
                </a:solidFill>
                <a:latin typeface="Segoe UI"/>
              </a:rPr>
              <a:t>Aurora Serverless v2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36922" y="3200400"/>
            <a:ext cx="291785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>Compatível com PostgreSQL, com escala automática.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>A capacidade mínima custa mais que a instância utilizada.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39404" y="1965960"/>
            <a:ext cx="3375050" cy="3291840"/>
          </a:xfrm>
          <a:prstGeom prst="rect">
            <a:avLst/>
          </a:prstGeom>
          <a:solidFill>
            <a:srgbClr val="E9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68004" y="2185416"/>
            <a:ext cx="29178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E7A5A"/>
                </a:solidFill>
                <a:latin typeface="Segoe UI"/>
              </a:rPr>
              <a:t>ESCOLHIDO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68004" y="2532888"/>
            <a:ext cx="291785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141B2D"/>
                </a:solidFill>
                <a:latin typeface="Segoe UI"/>
              </a:rPr>
              <a:t>PostgreSQL 16 · RDS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8004" y="3200400"/>
            <a:ext cx="291785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>Domínio relacional: integridade referencial em 5 tabelas e junções nas consultas de OS.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>Schema já depende de pgcrypto e gen_random_uuid().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5486400"/>
            <a:ext cx="10637215" cy="777240"/>
          </a:xfrm>
          <a:prstGeom prst="rect">
            <a:avLst/>
          </a:prstGeom>
          <a:solidFill>
            <a:srgbClr val="E9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1560" y="5669280"/>
            <a:ext cx="1008857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41B2D"/>
                </a:solidFill>
                <a:latin typeface="Segoe UI"/>
              </a:rPr>
              <a:t>Ajustes no modelo:  V6 → clientes.status, consultado pela Lambda, e 2 índices   ·   V7 → data_ultima_transicao, para medir a permanência por status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372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141B2D"/>
                </a:solidFill>
                <a:latin typeface="Segoe UI"/>
              </a:rPr>
              <a:t>Observabilidade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170432"/>
            <a:ext cx="106372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5A6270"/>
                </a:solidFill>
                <a:latin typeface="Segoe UI"/>
              </a:rPr>
              <a:t>New Relic: plano gratuito permanente, enquanto o Datadog oferece avaliação de 14 dias.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2011680"/>
            <a:ext cx="10637215" cy="621792"/>
          </a:xfrm>
          <a:prstGeom prst="rect">
            <a:avLst/>
          </a:prstGeom>
          <a:solidFill>
            <a:srgbClr val="E9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2176272"/>
            <a:ext cx="4206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141B2D"/>
                </a:solidFill>
                <a:latin typeface="Segoe UI"/>
              </a:rPr>
              <a:t>Latência das APIs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40680" y="2194560"/>
            <a:ext cx="560801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5A6270"/>
                </a:solidFill>
                <a:latin typeface="Segoe UI"/>
              </a:rPr>
              <a:t>Agente Java · p95 e p99 por endpoint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743200"/>
            <a:ext cx="10637215" cy="621792"/>
          </a:xfrm>
          <a:prstGeom prst="rect">
            <a:avLst/>
          </a:prstGeom>
          <a:solidFill>
            <a:srgbClr val="E9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2907792"/>
            <a:ext cx="4206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141B2D"/>
                </a:solidFill>
                <a:latin typeface="Segoe UI"/>
              </a:rPr>
              <a:t>CPU e memória do K8s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40680" y="2926080"/>
            <a:ext cx="560801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5A6270"/>
                </a:solidFill>
                <a:latin typeface="Segoe UI"/>
              </a:rPr>
              <a:t>Integração Kubernetes por DaemonSet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3474720"/>
            <a:ext cx="10637215" cy="621792"/>
          </a:xfrm>
          <a:prstGeom prst="rect">
            <a:avLst/>
          </a:prstGeom>
          <a:solidFill>
            <a:srgbClr val="E9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3639312"/>
            <a:ext cx="4206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141B2D"/>
                </a:solidFill>
                <a:latin typeface="Segoe UI"/>
              </a:rPr>
              <a:t>Healthchecks e uptime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40680" y="3657600"/>
            <a:ext cx="560801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5A6270"/>
                </a:solidFill>
                <a:latin typeface="Segoe UI"/>
              </a:rPr>
              <a:t>Monitor sintético · 3 localizações · a cada 5 min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4206240"/>
            <a:ext cx="10637215" cy="621792"/>
          </a:xfrm>
          <a:prstGeom prst="rect">
            <a:avLst/>
          </a:prstGeom>
          <a:solidFill>
            <a:srgbClr val="E9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4370832"/>
            <a:ext cx="4206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141B2D"/>
                </a:solidFill>
                <a:latin typeface="Segoe UI"/>
              </a:rPr>
              <a:t>Falhas no processamento de 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40680" y="4389120"/>
            <a:ext cx="560801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5A6270"/>
                </a:solidFill>
                <a:latin typeface="Segoe UI"/>
              </a:rPr>
              <a:t>Condição NRQL sobre métrica customizada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937760"/>
            <a:ext cx="10637215" cy="621792"/>
          </a:xfrm>
          <a:prstGeom prst="rect">
            <a:avLst/>
          </a:prstGeom>
          <a:solidFill>
            <a:srgbClr val="E9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1560" y="5102352"/>
            <a:ext cx="4206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141B2D"/>
                </a:solidFill>
                <a:latin typeface="Segoe UI"/>
              </a:rPr>
              <a:t>Logs JSON com correlação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40680" y="5120640"/>
            <a:ext cx="560801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5A6270"/>
                </a:solidFill>
                <a:latin typeface="Segoe UI"/>
              </a:rPr>
              <a:t>Structured logging nativo do Spring Boot 3.4 · formato ECS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6199632"/>
            <a:ext cx="1063721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5A6270"/>
                </a:solidFill>
                <a:latin typeface="Segoe UI"/>
              </a:rPr>
              <a:t>Encaminhamento de logs pelo agente desativado: o envio é feito pelo Fluent Bit, evitando linhas duplicadas.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372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141B2D"/>
                </a:solidFill>
                <a:latin typeface="Segoe UI"/>
              </a:rPr>
              <a:t>Dashboards de negócio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170432"/>
            <a:ext cx="106372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5A6270"/>
                </a:solidFill>
                <a:latin typeface="Segoe UI"/>
              </a:rPr>
              <a:t>Métricas customizadas emitidas pela aplicação, complementares aos dados do APM.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965960"/>
            <a:ext cx="3375050" cy="3291840"/>
          </a:xfrm>
          <a:prstGeom prst="rect">
            <a:avLst/>
          </a:prstGeom>
          <a:solidFill>
            <a:srgbClr val="E9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185416"/>
            <a:ext cx="29178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2B5C9B"/>
                </a:solidFill>
                <a:latin typeface="Segoe UI"/>
              </a:rPr>
              <a:t>MÉTRICA CUSTOMIZADA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532888"/>
            <a:ext cx="291785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141B2D"/>
                </a:solidFill>
                <a:latin typeface="Segoe UI"/>
              </a:rPr>
              <a:t>Volume diário de 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3200400"/>
            <a:ext cx="291785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>oficina.os.abertas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>Emitida no caso de uso, representando o evento de negócio.</a:t>
            </a:r>
          </a:p>
        </p:txBody>
      </p:sp>
      <p:sp>
        <p:nvSpPr>
          <p:cNvPr id="9" name="Rectangle 8"/>
          <p:cNvSpPr/>
          <p:nvPr/>
        </p:nvSpPr>
        <p:spPr>
          <a:xfrm>
            <a:off x="4408322" y="1965960"/>
            <a:ext cx="3375050" cy="3291840"/>
          </a:xfrm>
          <a:prstGeom prst="rect">
            <a:avLst/>
          </a:prstGeom>
          <a:solidFill>
            <a:srgbClr val="E9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36922" y="2185416"/>
            <a:ext cx="29178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2B5C9B"/>
                </a:solidFill>
                <a:latin typeface="Segoe UI"/>
              </a:rPr>
              <a:t>MÉTRICA CUSTOMIZADA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36922" y="2532888"/>
            <a:ext cx="291785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141B2D"/>
                </a:solidFill>
                <a:latin typeface="Segoe UI"/>
              </a:rPr>
              <a:t>Tempo médio por status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36922" y="3200400"/>
            <a:ext cx="291785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>oficina.os.duracao_status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>O agregado mede a permanência no estado anterior, e o adaptador de persistência publica o evento.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39404" y="1965960"/>
            <a:ext cx="3375050" cy="3291840"/>
          </a:xfrm>
          <a:prstGeom prst="rect">
            <a:avLst/>
          </a:prstGeom>
          <a:solidFill>
            <a:srgbClr val="E9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68004" y="2185416"/>
            <a:ext cx="29178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2B5C9B"/>
                </a:solidFill>
                <a:latin typeface="Segoe UI"/>
              </a:rPr>
              <a:t>MÉTRICA CUSTOMIZADA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68004" y="2532888"/>
            <a:ext cx="291785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141B2D"/>
                </a:solidFill>
                <a:latin typeface="Segoe UI"/>
              </a:rPr>
              <a:t>Erros de integração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8004" y="3200400"/>
            <a:ext cx="291785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>oficina.integracao.falhas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>Segmentada por integração e motivo: e-mail e aprovação externa.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5486400"/>
            <a:ext cx="10637215" cy="777240"/>
          </a:xfrm>
          <a:prstGeom prst="rect">
            <a:avLst/>
          </a:prstGeom>
          <a:solidFill>
            <a:srgbClr val="E9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1560" y="5669280"/>
            <a:ext cx="1008857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41B2D"/>
                </a:solidFill>
                <a:latin typeface="Segoe UI"/>
              </a:rPr>
              <a:t>6 alertas criados por Terraform, no padrão AWS-OficinaAPI-&lt;Amb&gt;-&lt;Recurso&gt;-&lt;Sintoma&gt;-&lt;Severidade&gt;, cada um com link para o runbook correspondente.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372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141B2D"/>
                </a:solidFill>
                <a:latin typeface="Segoe UI"/>
              </a:rPr>
              <a:t>Documentação arquitetural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170432"/>
            <a:ext cx="106372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5A6270"/>
                </a:solidFill>
                <a:latin typeface="Segoe UI"/>
              </a:rPr>
              <a:t>3 RFCs · 14 ADRs · 3 diagramas C4 · 2 de sequência · 1 DER · 6 runbooks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965960"/>
            <a:ext cx="3375050" cy="3291840"/>
          </a:xfrm>
          <a:prstGeom prst="rect">
            <a:avLst/>
          </a:prstGeom>
          <a:solidFill>
            <a:srgbClr val="E9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185416"/>
            <a:ext cx="29178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2B5C9B"/>
                </a:solidFill>
                <a:latin typeface="Segoe UI"/>
              </a:rPr>
              <a:t>ANTES DA DECISÃO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532888"/>
            <a:ext cx="291785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141B2D"/>
                </a:solidFill>
                <a:latin typeface="Segoe UI"/>
              </a:rPr>
              <a:t>RFC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3200400"/>
            <a:ext cx="291785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>Registra a proposta, os comentários dos revisores e sua resolução.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>Temas: nuvem, banco e autenticação.</a:t>
            </a:r>
          </a:p>
        </p:txBody>
      </p:sp>
      <p:sp>
        <p:nvSpPr>
          <p:cNvPr id="9" name="Rectangle 8"/>
          <p:cNvSpPr/>
          <p:nvPr/>
        </p:nvSpPr>
        <p:spPr>
          <a:xfrm>
            <a:off x="4408322" y="1965960"/>
            <a:ext cx="3375050" cy="3291840"/>
          </a:xfrm>
          <a:prstGeom prst="rect">
            <a:avLst/>
          </a:prstGeom>
          <a:solidFill>
            <a:srgbClr val="E9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36922" y="2185416"/>
            <a:ext cx="29178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2B5C9B"/>
                </a:solidFill>
                <a:latin typeface="Segoe UI"/>
              </a:rPr>
              <a:t>DEPOIS DA DECISÃO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36922" y="2532888"/>
            <a:ext cx="291785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141B2D"/>
                </a:solidFill>
                <a:latin typeface="Segoe UI"/>
              </a:rPr>
              <a:t>ADR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36922" y="3200400"/>
            <a:ext cx="291785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>Registra a decisão, as alternativas e as consequências.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>Após aceita, não é editada; mudanças geram nova ADR.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39404" y="1965960"/>
            <a:ext cx="3375050" cy="3291840"/>
          </a:xfrm>
          <a:prstGeom prst="rect">
            <a:avLst/>
          </a:prstGeom>
          <a:solidFill>
            <a:srgbClr val="E9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68004" y="2185416"/>
            <a:ext cx="29178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B36A0B"/>
                </a:solidFill>
                <a:latin typeface="Segoe UI"/>
              </a:rPr>
              <a:t>OBSERVAÇÃO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68004" y="2532888"/>
            <a:ext cx="291785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141B2D"/>
                </a:solidFill>
                <a:latin typeface="Segoe UI"/>
              </a:rPr>
              <a:t>RFC no material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8004" y="3200400"/>
            <a:ext cx="291785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>O material da fase aborda ADR, DAS, HLD/LLD e C4, mas não RFC.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>A convenção adotada está documentada.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6199632"/>
            <a:ext cx="1063721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5A6270"/>
                </a:solidFill>
                <a:latin typeface="Segoe UI"/>
              </a:rPr>
              <a:t>A ADR-011, retroativa, identificou divergência entre o HPA (4 réplicas) e o node group (3 nós), corrigida nesta fase.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372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141B2D"/>
                </a:solidFill>
                <a:latin typeface="Segoe UI"/>
              </a:rPr>
              <a:t>Resultados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170432"/>
            <a:ext cx="106372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5A6270"/>
                </a:solidFill>
                <a:latin typeface="Segoe UI"/>
              </a:rPr>
              <a:t>O que foi entregue nesta fase.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965960"/>
            <a:ext cx="3375050" cy="3291840"/>
          </a:xfrm>
          <a:prstGeom prst="rect">
            <a:avLst/>
          </a:prstGeom>
          <a:solidFill>
            <a:srgbClr val="E9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185416"/>
            <a:ext cx="29178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2B5C9B"/>
                </a:solidFill>
                <a:latin typeface="Segoe UI"/>
              </a:rPr>
              <a:t>ENTREGUE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532888"/>
            <a:ext cx="291785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141B2D"/>
                </a:solidFill>
                <a:latin typeface="Segoe UI"/>
              </a:rPr>
              <a:t>Operação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3200400"/>
            <a:ext cx="291785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>Autenticação por CPF fora da aplicação, com papéis de cliente e funcionário.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>Gateway na borda, rede privada e dois ambientes segregados.</a:t>
            </a:r>
          </a:p>
        </p:txBody>
      </p:sp>
      <p:sp>
        <p:nvSpPr>
          <p:cNvPr id="9" name="Rectangle 8"/>
          <p:cNvSpPr/>
          <p:nvPr/>
        </p:nvSpPr>
        <p:spPr>
          <a:xfrm>
            <a:off x="4408322" y="1965960"/>
            <a:ext cx="3375050" cy="3291840"/>
          </a:xfrm>
          <a:prstGeom prst="rect">
            <a:avLst/>
          </a:prstGeom>
          <a:solidFill>
            <a:srgbClr val="E9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36922" y="2185416"/>
            <a:ext cx="29178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2B5C9B"/>
                </a:solidFill>
                <a:latin typeface="Segoe UI"/>
              </a:rPr>
              <a:t>ENTREGUE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36922" y="2532888"/>
            <a:ext cx="291785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141B2D"/>
                </a:solidFill>
                <a:latin typeface="Segoe UI"/>
              </a:rPr>
              <a:t>Visibilidade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36922" y="3200400"/>
            <a:ext cx="291785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>Métricas de negócio.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>Logs estruturados correlacionados aos traces.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>Alertas associados a runbooks.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39404" y="1965960"/>
            <a:ext cx="3375050" cy="3291840"/>
          </a:xfrm>
          <a:prstGeom prst="rect">
            <a:avLst/>
          </a:prstGeom>
          <a:solidFill>
            <a:srgbClr val="E9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68004" y="2185416"/>
            <a:ext cx="29178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2B5C9B"/>
                </a:solidFill>
                <a:latin typeface="Segoe UI"/>
              </a:rPr>
              <a:t>ENTREGUE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68004" y="2532888"/>
            <a:ext cx="291785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141B2D"/>
                </a:solidFill>
                <a:latin typeface="Segoe UI"/>
              </a:rPr>
              <a:t>Qualidade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8004" y="3200400"/>
            <a:ext cx="291785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>144 casos de teste na aplicação e 44 na Lambda, com limite mínimo de cobertura.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>Contrato OpenAPI verificado, tflint e checkov na infraestrutura.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6199632"/>
            <a:ext cx="1063721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5A6270"/>
                </a:solidFill>
                <a:latin typeface="Segoe UI"/>
              </a:rPr>
              <a:t>Débitos técnicos registrados em docs/tech-challenge-3/debitos-tecnicos.md.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822960"/>
            <a:ext cx="106372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800" b="1" i="0">
                <a:solidFill>
                  <a:srgbClr val="FAFAF7"/>
                </a:solidFill>
                <a:latin typeface="Segoe UI"/>
              </a:rPr>
              <a:t>DEMONSTRAÇÃO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691640"/>
            <a:ext cx="106372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B9C4D4"/>
                </a:solidFill>
                <a:latin typeface="Segoe UI"/>
              </a:rPr>
              <a:t>Fluxo principal em homologação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514600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6F9DD9"/>
                </a:solidFill>
                <a:latin typeface="Segoe U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2542032"/>
            <a:ext cx="981425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FAFAF7"/>
                </a:solidFill>
                <a:latin typeface="Segoe UI"/>
              </a:rPr>
              <a:t>Merge de um PR na develop: a esteira começa a rodar.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044952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6F9DD9"/>
                </a:solidFill>
                <a:latin typeface="Segoe UI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20" y="3072384"/>
            <a:ext cx="981425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FAFAF7"/>
                </a:solidFill>
                <a:latin typeface="Segoe UI"/>
              </a:rPr>
              <a:t>Funcionário autentica por CPF e abre uma ordem de serviço.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575304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6F9DD9"/>
                </a:solidFill>
                <a:latin typeface="Segoe UI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3602736"/>
            <a:ext cx="981425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FAFAF7"/>
                </a:solidFill>
                <a:latin typeface="Segoe UI"/>
              </a:rPr>
              <a:t>Cliente autentica por CPF e recebe o JWT.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105656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6F9DD9"/>
                </a:solidFill>
                <a:latin typeface="Segoe UI"/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20" y="4133088"/>
            <a:ext cx="981425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FAFAF7"/>
                </a:solidFill>
                <a:latin typeface="Segoe UI"/>
              </a:rPr>
              <a:t>Cliente consulta as próprias ordens com o token.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636008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6F9DD9"/>
                </a:solidFill>
                <a:latin typeface="Segoe UI"/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17320" y="4663440"/>
            <a:ext cx="981425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FAFAF7"/>
                </a:solidFill>
                <a:latin typeface="Segoe UI"/>
              </a:rPr>
              <a:t>Esteira: testes, imagem no ECR e deploy automático no EKS.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166360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6F9DD9"/>
                </a:solidFill>
                <a:latin typeface="Segoe UI"/>
              </a:rPr>
              <a:t>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17320" y="5193792"/>
            <a:ext cx="981425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FAFAF7"/>
                </a:solidFill>
                <a:latin typeface="Segoe UI"/>
              </a:rPr>
              <a:t>Carga com k6: dashboard de negócio e HPA criando réplicas.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5696712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6F9DD9"/>
                </a:solidFill>
                <a:latin typeface="Segoe UI"/>
              </a:rPr>
              <a:t>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17320" y="5724144"/>
            <a:ext cx="981425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FAFAF7"/>
                </a:solidFill>
                <a:latin typeface="Segoe UI"/>
              </a:rPr>
              <a:t>Busca pela ordem criada: log estruturado e trace distribuído.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011680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800" b="1" i="0">
                <a:solidFill>
                  <a:srgbClr val="FAFAF7"/>
                </a:solidFill>
                <a:latin typeface="Segoe UI"/>
              </a:rPr>
              <a:t>Obrigado.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3200400"/>
            <a:ext cx="10637215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0" i="0">
                <a:solidFill>
                  <a:srgbClr val="B9C4D4"/>
                </a:solidFill>
                <a:latin typeface="Segoe UI"/>
              </a:rPr>
              <a:t>github.com/Guilherme-Fumagali/tech-challenge-1</a:t>
            </a:r>
          </a:p>
          <a:p>
            <a:pPr algn="l">
              <a:lnSpc>
                <a:spcPct val="150000"/>
              </a:lnSpc>
            </a:pPr>
            <a:r>
              <a:rPr sz="1600" b="0" i="0">
                <a:solidFill>
                  <a:srgbClr val="B9C4D4"/>
                </a:solidFill>
                <a:latin typeface="Segoe UI"/>
              </a:rPr>
              <a:t>github.com/Guilherme-Fumagali/oficina-auth-lambda</a:t>
            </a:r>
          </a:p>
          <a:p>
            <a:pPr algn="l">
              <a:lnSpc>
                <a:spcPct val="150000"/>
              </a:lnSpc>
            </a:pPr>
            <a:r>
              <a:rPr sz="1600" b="0" i="0">
                <a:solidFill>
                  <a:srgbClr val="B9C4D4"/>
                </a:solidFill>
                <a:latin typeface="Segoe UI"/>
              </a:rPr>
              <a:t>github.com/Guilherme-Fumagali/oficina-infra-k8s</a:t>
            </a:r>
          </a:p>
          <a:p>
            <a:pPr algn="l">
              <a:lnSpc>
                <a:spcPct val="150000"/>
              </a:lnSpc>
            </a:pPr>
            <a:r>
              <a:rPr sz="1600" b="0" i="0">
                <a:solidFill>
                  <a:srgbClr val="B9C4D4"/>
                </a:solidFill>
                <a:latin typeface="Segoe UI"/>
              </a:rPr>
              <a:t>github.com/Guilherme-Fumagali/oficina-infra-db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989320"/>
            <a:ext cx="1063721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8A97AB"/>
                </a:solidFill>
                <a:latin typeface="Segoe UI"/>
              </a:rPr>
              <a:t>Danilo Canato — RM 372411 · Guilherme Fumagali Marques — RM 372421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