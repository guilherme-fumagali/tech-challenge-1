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C96310-1F48-4C23-8197-8F5DB7E890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84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84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708120"/>
            <a:ext cx="10968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4A3D6C-88C9-4097-90C5-BDFCD79D3CD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84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0" y="0"/>
            <a:ext cx="12187080" cy="25416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0" y="0"/>
            <a:ext cx="12187080" cy="6228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365760" y="347400"/>
            <a:ext cx="11428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i="1" lang="en-US" sz="13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PosTech FIAP  ·  Pós-Graduação em Arquitetura de Software  ·  Turma 15SOAT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5"/>
          <p:cNvSpPr/>
          <p:nvPr/>
        </p:nvSpPr>
        <p:spPr>
          <a:xfrm>
            <a:off x="365760" y="1005840"/>
            <a:ext cx="86850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Sistema Integrado de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Atendimento e Execução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 Serviços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6"/>
          <p:cNvSpPr/>
          <p:nvPr/>
        </p:nvSpPr>
        <p:spPr>
          <a:xfrm>
            <a:off x="365760" y="3566160"/>
            <a:ext cx="4387320" cy="5292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6" name="TextBox 7"/>
          <p:cNvSpPr/>
          <p:nvPr/>
        </p:nvSpPr>
        <p:spPr>
          <a:xfrm>
            <a:off x="365760" y="3657600"/>
            <a:ext cx="6399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Tech Challenge — Fase 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Box 8"/>
          <p:cNvSpPr/>
          <p:nvPr/>
        </p:nvSpPr>
        <p:spPr>
          <a:xfrm>
            <a:off x="365760" y="4251960"/>
            <a:ext cx="9142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Domain-Driven Design  ·  Clean Architecture  ·  Spring Boot 3.4.5  ·  PostgreSQL 16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Box 9"/>
          <p:cNvSpPr/>
          <p:nvPr/>
        </p:nvSpPr>
        <p:spPr>
          <a:xfrm>
            <a:off x="9418320" y="1097280"/>
            <a:ext cx="264996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0" strike="noStrike" u="non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⚙</a:t>
            </a:r>
            <a:endParaRPr b="0" lang="en-US" sz="1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angle 10"/>
          <p:cNvSpPr/>
          <p:nvPr/>
        </p:nvSpPr>
        <p:spPr>
          <a:xfrm>
            <a:off x="0" y="6144840"/>
            <a:ext cx="12187080" cy="711360"/>
          </a:xfrm>
          <a:prstGeom prst="rect">
            <a:avLst/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0" name="TextBox 11"/>
          <p:cNvSpPr/>
          <p:nvPr/>
        </p:nvSpPr>
        <p:spPr>
          <a:xfrm>
            <a:off x="365760" y="6190560"/>
            <a:ext cx="11428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3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Danilo Canato — RM372411  ·   Guilherme Fumagali Marques — RM372421   ·   Maio 2026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2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3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01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 Problema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Uma oficina mecânica de médio porte gerenciava tudo com planilhas e anotações.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6"/>
          <p:cNvSpPr/>
          <p:nvPr/>
        </p:nvSpPr>
        <p:spPr>
          <a:xfrm>
            <a:off x="228600" y="2331720"/>
            <a:ext cx="3747240" cy="37472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228600" y="2331720"/>
            <a:ext cx="3747240" cy="6228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8" name="TextBox 8"/>
          <p:cNvSpPr/>
          <p:nvPr/>
        </p:nvSpPr>
        <p:spPr>
          <a:xfrm>
            <a:off x="411480" y="2450520"/>
            <a:ext cx="729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📋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9"/>
          <p:cNvSpPr/>
          <p:nvPr/>
        </p:nvSpPr>
        <p:spPr>
          <a:xfrm>
            <a:off x="411480" y="3017520"/>
            <a:ext cx="3381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Sem rastreabilidade de status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10"/>
          <p:cNvSpPr/>
          <p:nvPr/>
        </p:nvSpPr>
        <p:spPr>
          <a:xfrm>
            <a:off x="411480" y="3493080"/>
            <a:ext cx="338148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Clientes não sabiam o andamento dos serviços.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Ligações constantes e retrabalho na recepção.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ectangle 11"/>
          <p:cNvSpPr/>
          <p:nvPr/>
        </p:nvSpPr>
        <p:spPr>
          <a:xfrm>
            <a:off x="4206240" y="2331720"/>
            <a:ext cx="3747240" cy="37472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" name="Rectangle 12"/>
          <p:cNvSpPr/>
          <p:nvPr/>
        </p:nvSpPr>
        <p:spPr>
          <a:xfrm>
            <a:off x="4206240" y="2331720"/>
            <a:ext cx="3747240" cy="6228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" name="TextBox 13"/>
          <p:cNvSpPr/>
          <p:nvPr/>
        </p:nvSpPr>
        <p:spPr>
          <a:xfrm>
            <a:off x="4389120" y="2450520"/>
            <a:ext cx="729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📦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14"/>
          <p:cNvSpPr/>
          <p:nvPr/>
        </p:nvSpPr>
        <p:spPr>
          <a:xfrm>
            <a:off x="4389120" y="3017520"/>
            <a:ext cx="3381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Estoque descontrolado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5"/>
          <p:cNvSpPr/>
          <p:nvPr/>
        </p:nvSpPr>
        <p:spPr>
          <a:xfrm>
            <a:off x="4389120" y="3493080"/>
            <a:ext cx="33814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Peças retiradas sem registro. Quantidade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negativa e compras emergenciais frequentes.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16"/>
          <p:cNvSpPr/>
          <p:nvPr/>
        </p:nvSpPr>
        <p:spPr>
          <a:xfrm>
            <a:off x="8183880" y="2331720"/>
            <a:ext cx="3747240" cy="37472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" name="Rectangle 17"/>
          <p:cNvSpPr/>
          <p:nvPr/>
        </p:nvSpPr>
        <p:spPr>
          <a:xfrm>
            <a:off x="8183880" y="2331720"/>
            <a:ext cx="3747240" cy="6228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8" name="TextBox 18"/>
          <p:cNvSpPr/>
          <p:nvPr/>
        </p:nvSpPr>
        <p:spPr>
          <a:xfrm>
            <a:off x="8366760" y="2450520"/>
            <a:ext cx="729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💸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9"/>
          <p:cNvSpPr/>
          <p:nvPr/>
        </p:nvSpPr>
        <p:spPr>
          <a:xfrm>
            <a:off x="8366760" y="3017520"/>
            <a:ext cx="3381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Orçamentos inconsistentes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20"/>
          <p:cNvSpPr/>
          <p:nvPr/>
        </p:nvSpPr>
        <p:spPr>
          <a:xfrm>
            <a:off x="8366760" y="3493080"/>
            <a:ext cx="33814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Preços alterados durante a execução.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Sem snapshot de preço, valores divergiam.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02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 Solução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MVP back-end monolítico · API RESTful · containerizado com Docker Compose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228600" y="1874520"/>
            <a:ext cx="2787120" cy="173556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228600" y="1874520"/>
            <a:ext cx="2787120" cy="62280"/>
          </a:xfrm>
          <a:prstGeom prst="rect">
            <a:avLst/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228600" y="1965960"/>
            <a:ext cx="278712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6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104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320040" y="2944440"/>
            <a:ext cx="2604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testes automatizados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10"/>
          <p:cNvSpPr/>
          <p:nvPr/>
        </p:nvSpPr>
        <p:spPr>
          <a:xfrm>
            <a:off x="3218760" y="1874520"/>
            <a:ext cx="2787120" cy="173556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51" name="Rectangle 11"/>
          <p:cNvSpPr/>
          <p:nvPr/>
        </p:nvSpPr>
        <p:spPr>
          <a:xfrm>
            <a:off x="3218760" y="1874520"/>
            <a:ext cx="2787120" cy="6228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52" name="TextBox 12"/>
          <p:cNvSpPr/>
          <p:nvPr/>
        </p:nvSpPr>
        <p:spPr>
          <a:xfrm>
            <a:off x="3218760" y="1965960"/>
            <a:ext cx="278712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6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80%+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13"/>
          <p:cNvSpPr/>
          <p:nvPr/>
        </p:nvSpPr>
        <p:spPr>
          <a:xfrm>
            <a:off x="3310200" y="2944440"/>
            <a:ext cx="2604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cobertura de domínio (JaCoCo)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Validação Sonar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ectangle 14"/>
          <p:cNvSpPr/>
          <p:nvPr/>
        </p:nvSpPr>
        <p:spPr>
          <a:xfrm>
            <a:off x="6208920" y="1874520"/>
            <a:ext cx="2787120" cy="173556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55" name="Rectangle 15"/>
          <p:cNvSpPr/>
          <p:nvPr/>
        </p:nvSpPr>
        <p:spPr>
          <a:xfrm>
            <a:off x="6208920" y="1874520"/>
            <a:ext cx="2787120" cy="6228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56" name="TextBox 16"/>
          <p:cNvSpPr/>
          <p:nvPr/>
        </p:nvSpPr>
        <p:spPr>
          <a:xfrm>
            <a:off x="6208920" y="1965960"/>
            <a:ext cx="278712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6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7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17"/>
          <p:cNvSpPr/>
          <p:nvPr/>
        </p:nvSpPr>
        <p:spPr>
          <a:xfrm>
            <a:off x="6300360" y="2944440"/>
            <a:ext cx="2604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bounded contexts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18"/>
          <p:cNvSpPr/>
          <p:nvPr/>
        </p:nvSpPr>
        <p:spPr>
          <a:xfrm>
            <a:off x="9198720" y="1874520"/>
            <a:ext cx="2787120" cy="173556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59" name="Rectangle 19"/>
          <p:cNvSpPr/>
          <p:nvPr/>
        </p:nvSpPr>
        <p:spPr>
          <a:xfrm>
            <a:off x="9198720" y="1874520"/>
            <a:ext cx="2787120" cy="6228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60" name="TextBox 20"/>
          <p:cNvSpPr/>
          <p:nvPr/>
        </p:nvSpPr>
        <p:spPr>
          <a:xfrm>
            <a:off x="9198720" y="1965960"/>
            <a:ext cx="278712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6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8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1"/>
          <p:cNvSpPr/>
          <p:nvPr/>
        </p:nvSpPr>
        <p:spPr>
          <a:xfrm>
            <a:off x="9290160" y="2944440"/>
            <a:ext cx="2604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endpoints de ciclo de vida da 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2"/>
          <p:cNvSpPr/>
          <p:nvPr/>
        </p:nvSpPr>
        <p:spPr>
          <a:xfrm>
            <a:off x="228600" y="3840480"/>
            <a:ext cx="2741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Stack tecnológica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23"/>
          <p:cNvSpPr/>
          <p:nvPr/>
        </p:nvSpPr>
        <p:spPr>
          <a:xfrm>
            <a:off x="228600" y="4279320"/>
            <a:ext cx="1182240" cy="4006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64" name="TextBox 24"/>
          <p:cNvSpPr/>
          <p:nvPr/>
        </p:nvSpPr>
        <p:spPr>
          <a:xfrm>
            <a:off x="301680" y="4316040"/>
            <a:ext cx="1036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Java 21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25"/>
          <p:cNvSpPr/>
          <p:nvPr/>
        </p:nvSpPr>
        <p:spPr>
          <a:xfrm>
            <a:off x="1549800" y="4279320"/>
            <a:ext cx="2416680" cy="40068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66" name="TextBox 26"/>
          <p:cNvSpPr/>
          <p:nvPr/>
        </p:nvSpPr>
        <p:spPr>
          <a:xfrm>
            <a:off x="1623240" y="4316040"/>
            <a:ext cx="227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Spring Boot 3.4.5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27"/>
          <p:cNvSpPr/>
          <p:nvPr/>
        </p:nvSpPr>
        <p:spPr>
          <a:xfrm>
            <a:off x="4105800" y="4279320"/>
            <a:ext cx="1923120" cy="40068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68" name="TextBox 28"/>
          <p:cNvSpPr/>
          <p:nvPr/>
        </p:nvSpPr>
        <p:spPr>
          <a:xfrm>
            <a:off x="4178880" y="4316040"/>
            <a:ext cx="1776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PostgreSQL 16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29"/>
          <p:cNvSpPr/>
          <p:nvPr/>
        </p:nvSpPr>
        <p:spPr>
          <a:xfrm>
            <a:off x="6167520" y="4279320"/>
            <a:ext cx="1058760" cy="400680"/>
          </a:xfrm>
          <a:prstGeom prst="roundRect">
            <a:avLst>
              <a:gd name="adj" fmla="val 16667"/>
            </a:avLst>
          </a:prstGeom>
          <a:solidFill>
            <a:srgbClr val="cc141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70" name="TextBox 30"/>
          <p:cNvSpPr/>
          <p:nvPr/>
        </p:nvSpPr>
        <p:spPr>
          <a:xfrm>
            <a:off x="6240960" y="4316040"/>
            <a:ext cx="912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Flyway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31"/>
          <p:cNvSpPr/>
          <p:nvPr/>
        </p:nvSpPr>
        <p:spPr>
          <a:xfrm>
            <a:off x="7365600" y="4279320"/>
            <a:ext cx="2663640" cy="40068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72" name="TextBox 32"/>
          <p:cNvSpPr/>
          <p:nvPr/>
        </p:nvSpPr>
        <p:spPr>
          <a:xfrm>
            <a:off x="7438680" y="4316040"/>
            <a:ext cx="2517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JWT + Refresh Token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33"/>
          <p:cNvSpPr/>
          <p:nvPr/>
        </p:nvSpPr>
        <p:spPr>
          <a:xfrm>
            <a:off x="228600" y="4791600"/>
            <a:ext cx="2046600" cy="4006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74" name="TextBox 34"/>
          <p:cNvSpPr/>
          <p:nvPr/>
        </p:nvSpPr>
        <p:spPr>
          <a:xfrm>
            <a:off x="301680" y="4827960"/>
            <a:ext cx="1900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Docker Compose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35"/>
          <p:cNvSpPr/>
          <p:nvPr/>
        </p:nvSpPr>
        <p:spPr>
          <a:xfrm>
            <a:off x="2414160" y="4791600"/>
            <a:ext cx="3281040" cy="4006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76" name="TextBox 36"/>
          <p:cNvSpPr/>
          <p:nvPr/>
        </p:nvSpPr>
        <p:spPr>
          <a:xfrm>
            <a:off x="2487240" y="4827960"/>
            <a:ext cx="3134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JUnit 5 + Testcontainers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37"/>
          <p:cNvSpPr/>
          <p:nvPr/>
        </p:nvSpPr>
        <p:spPr>
          <a:xfrm>
            <a:off x="5833800" y="4791600"/>
            <a:ext cx="2293200" cy="40068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78" name="TextBox 38"/>
          <p:cNvSpPr/>
          <p:nvPr/>
        </p:nvSpPr>
        <p:spPr>
          <a:xfrm>
            <a:off x="5906880" y="4827960"/>
            <a:ext cx="2147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OWASP Dep. Check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39"/>
          <p:cNvSpPr/>
          <p:nvPr/>
        </p:nvSpPr>
        <p:spPr>
          <a:xfrm>
            <a:off x="8266320" y="4791600"/>
            <a:ext cx="2540160" cy="4006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80" name="TextBox 40"/>
          <p:cNvSpPr/>
          <p:nvPr/>
        </p:nvSpPr>
        <p:spPr>
          <a:xfrm>
            <a:off x="8339400" y="4827960"/>
            <a:ext cx="2394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Lombok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41"/>
          <p:cNvSpPr/>
          <p:nvPr/>
        </p:nvSpPr>
        <p:spPr>
          <a:xfrm>
            <a:off x="228600" y="5303520"/>
            <a:ext cx="2416680" cy="40068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82" name="TextBox 42"/>
          <p:cNvSpPr/>
          <p:nvPr/>
        </p:nvSpPr>
        <p:spPr>
          <a:xfrm>
            <a:off x="301680" y="5340240"/>
            <a:ext cx="2270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Springdoc OpenAPI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"/>
          <p:cNvSpPr/>
          <p:nvPr/>
        </p:nvSpPr>
        <p:spPr>
          <a:xfrm>
            <a:off x="2743200" y="5313240"/>
            <a:ext cx="2540160" cy="4006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84" name="TextBox 1"/>
          <p:cNvSpPr/>
          <p:nvPr/>
        </p:nvSpPr>
        <p:spPr>
          <a:xfrm>
            <a:off x="2816280" y="5349600"/>
            <a:ext cx="2394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Sonar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03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Event Storming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event_storming.drawio  ·  Domain Storytelling: domain_storytelling.drawio  ·  7 bounded contexts  ·  10 eventos  ·  5 políticas  ·  4 hot spots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6"/>
          <p:cNvSpPr/>
          <p:nvPr/>
        </p:nvSpPr>
        <p:spPr>
          <a:xfrm>
            <a:off x="228600" y="1691640"/>
            <a:ext cx="5713200" cy="278712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91" name="Rectangle 7"/>
          <p:cNvSpPr/>
          <p:nvPr/>
        </p:nvSpPr>
        <p:spPr>
          <a:xfrm>
            <a:off x="228600" y="1691640"/>
            <a:ext cx="5713200" cy="5292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411480" y="1764720"/>
            <a:ext cx="548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7 Bounded Contexts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9"/>
          <p:cNvSpPr/>
          <p:nvPr/>
        </p:nvSpPr>
        <p:spPr>
          <a:xfrm>
            <a:off x="411480" y="2331720"/>
            <a:ext cx="126360" cy="12636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621720" y="226764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Atendimento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3090600" y="2267640"/>
            <a:ext cx="27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AG: Cliente, Veículo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2"/>
          <p:cNvSpPr/>
          <p:nvPr/>
        </p:nvSpPr>
        <p:spPr>
          <a:xfrm>
            <a:off x="411480" y="2642760"/>
            <a:ext cx="126360" cy="12636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621720" y="257868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Diagnóstico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3090600" y="2578680"/>
            <a:ext cx="27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AG: 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5"/>
          <p:cNvSpPr/>
          <p:nvPr/>
        </p:nvSpPr>
        <p:spPr>
          <a:xfrm>
            <a:off x="411480" y="2953440"/>
            <a:ext cx="126360" cy="12636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621720" y="288936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7c3aed"/>
                </a:solidFill>
                <a:effectLst/>
                <a:uFillTx/>
                <a:latin typeface="Calibri"/>
                <a:ea typeface="DejaVu Sans"/>
              </a:rPr>
              <a:t>Gestão de Serviços/Peças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7"/>
          <p:cNvSpPr/>
          <p:nvPr/>
        </p:nvSpPr>
        <p:spPr>
          <a:xfrm>
            <a:off x="3090600" y="2889360"/>
            <a:ext cx="27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AG: OS, Peça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8"/>
          <p:cNvSpPr/>
          <p:nvPr/>
        </p:nvSpPr>
        <p:spPr>
          <a:xfrm>
            <a:off x="411480" y="3264480"/>
            <a:ext cx="126360" cy="12636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621720" y="320040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Orçamento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0"/>
          <p:cNvSpPr/>
          <p:nvPr/>
        </p:nvSpPr>
        <p:spPr>
          <a:xfrm>
            <a:off x="3090600" y="3200400"/>
            <a:ext cx="27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AG: OS  ·  SE: Notificação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21"/>
          <p:cNvSpPr/>
          <p:nvPr/>
        </p:nvSpPr>
        <p:spPr>
          <a:xfrm>
            <a:off x="411480" y="3575160"/>
            <a:ext cx="126360" cy="12636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06" name="TextBox 22"/>
          <p:cNvSpPr/>
          <p:nvPr/>
        </p:nvSpPr>
        <p:spPr>
          <a:xfrm>
            <a:off x="621720" y="351144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Aprovação / Cancelamento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3"/>
          <p:cNvSpPr/>
          <p:nvPr/>
        </p:nvSpPr>
        <p:spPr>
          <a:xfrm>
            <a:off x="3090600" y="3511440"/>
            <a:ext cx="27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AG: OS, Peça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24"/>
          <p:cNvSpPr/>
          <p:nvPr/>
        </p:nvSpPr>
        <p:spPr>
          <a:xfrm>
            <a:off x="411480" y="3886200"/>
            <a:ext cx="126360" cy="12636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09" name="TextBox 25"/>
          <p:cNvSpPr/>
          <p:nvPr/>
        </p:nvSpPr>
        <p:spPr>
          <a:xfrm>
            <a:off x="621720" y="382212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Execução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6"/>
          <p:cNvSpPr/>
          <p:nvPr/>
        </p:nvSpPr>
        <p:spPr>
          <a:xfrm>
            <a:off x="3090600" y="3822120"/>
            <a:ext cx="27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AG: 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27"/>
          <p:cNvSpPr/>
          <p:nvPr/>
        </p:nvSpPr>
        <p:spPr>
          <a:xfrm>
            <a:off x="411480" y="4197240"/>
            <a:ext cx="126360" cy="12636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12" name="TextBox 28"/>
          <p:cNvSpPr/>
          <p:nvPr/>
        </p:nvSpPr>
        <p:spPr>
          <a:xfrm>
            <a:off x="621720" y="413316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Entrega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9"/>
          <p:cNvSpPr/>
          <p:nvPr/>
        </p:nvSpPr>
        <p:spPr>
          <a:xfrm>
            <a:off x="3090600" y="4133160"/>
            <a:ext cx="2741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AG: 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30"/>
          <p:cNvSpPr/>
          <p:nvPr/>
        </p:nvSpPr>
        <p:spPr>
          <a:xfrm>
            <a:off x="228600" y="4645080"/>
            <a:ext cx="5713200" cy="193680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15" name="Rectangle 31"/>
          <p:cNvSpPr/>
          <p:nvPr/>
        </p:nvSpPr>
        <p:spPr>
          <a:xfrm>
            <a:off x="228600" y="4645080"/>
            <a:ext cx="5713200" cy="5292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16" name="TextBox 32"/>
          <p:cNvSpPr/>
          <p:nvPr/>
        </p:nvSpPr>
        <p:spPr>
          <a:xfrm>
            <a:off x="411480" y="4718160"/>
            <a:ext cx="548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5 Políticas (automáticas)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3"/>
          <p:cNvSpPr/>
          <p:nvPr/>
        </p:nvSpPr>
        <p:spPr>
          <a:xfrm>
            <a:off x="411480" y="5193720"/>
            <a:ext cx="5484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 OS Aberta  →  Iniciar Diagnóstico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4"/>
          <p:cNvSpPr/>
          <p:nvPr/>
        </p:nvSpPr>
        <p:spPr>
          <a:xfrm>
            <a:off x="411480" y="5459040"/>
            <a:ext cx="5484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 Peça adicionada à OS  →  Decrementar Estoque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5"/>
          <p:cNvSpPr/>
          <p:nvPr/>
        </p:nvSpPr>
        <p:spPr>
          <a:xfrm>
            <a:off x="411480" y="5724000"/>
            <a:ext cx="5484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 Estoque &lt; mínimo  →  Alertar Admin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6"/>
          <p:cNvSpPr/>
          <p:nvPr/>
        </p:nvSpPr>
        <p:spPr>
          <a:xfrm>
            <a:off x="411480" y="5989320"/>
            <a:ext cx="5484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 Aprovado  →  Iniciar Execução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7"/>
          <p:cNvSpPr/>
          <p:nvPr/>
        </p:nvSpPr>
        <p:spPr>
          <a:xfrm>
            <a:off x="411480" y="6254640"/>
            <a:ext cx="5484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 Reprovado  →  Cancelar OS + Estornar Estoque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38"/>
          <p:cNvSpPr/>
          <p:nvPr/>
        </p:nvSpPr>
        <p:spPr>
          <a:xfrm>
            <a:off x="6245280" y="1691640"/>
            <a:ext cx="5713200" cy="278712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23" name="Rectangle 39"/>
          <p:cNvSpPr/>
          <p:nvPr/>
        </p:nvSpPr>
        <p:spPr>
          <a:xfrm>
            <a:off x="6245280" y="1691640"/>
            <a:ext cx="5713200" cy="52920"/>
          </a:xfrm>
          <a:prstGeom prst="rect">
            <a:avLst/>
          </a:prstGeom>
          <a:solidFill>
            <a:srgbClr val="f43f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24" name="TextBox 40"/>
          <p:cNvSpPr/>
          <p:nvPr/>
        </p:nvSpPr>
        <p:spPr>
          <a:xfrm>
            <a:off x="6428160" y="1764720"/>
            <a:ext cx="548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4 Hot Spots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41"/>
          <p:cNvSpPr/>
          <p:nvPr/>
        </p:nvSpPr>
        <p:spPr>
          <a:xfrm>
            <a:off x="6428160" y="2267640"/>
            <a:ext cx="528480" cy="2725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26" name="TextBox 42"/>
          <p:cNvSpPr/>
          <p:nvPr/>
        </p:nvSpPr>
        <p:spPr>
          <a:xfrm>
            <a:off x="6501240" y="2304360"/>
            <a:ext cx="38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PA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3"/>
          <p:cNvSpPr/>
          <p:nvPr/>
        </p:nvSpPr>
        <p:spPr>
          <a:xfrm>
            <a:off x="7040880" y="2267640"/>
            <a:ext cx="4798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Mecânico disponível para diagnóstico?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4"/>
          <p:cNvSpPr/>
          <p:nvPr/>
        </p:nvSpPr>
        <p:spPr>
          <a:xfrm>
            <a:off x="7040880" y="2541960"/>
            <a:ext cx="4798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Alocação de recursos fora do escopo do MVP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45"/>
          <p:cNvSpPr/>
          <p:nvPr/>
        </p:nvSpPr>
        <p:spPr>
          <a:xfrm>
            <a:off x="6428160" y="2853000"/>
            <a:ext cx="528480" cy="2725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30" name="TextBox 46"/>
          <p:cNvSpPr/>
          <p:nvPr/>
        </p:nvSpPr>
        <p:spPr>
          <a:xfrm>
            <a:off x="6501240" y="2889360"/>
            <a:ext cx="38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PA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47"/>
          <p:cNvSpPr/>
          <p:nvPr/>
        </p:nvSpPr>
        <p:spPr>
          <a:xfrm>
            <a:off x="7040880" y="2853000"/>
            <a:ext cx="4798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Canal de notificação? (email / SMS / push)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8"/>
          <p:cNvSpPr/>
          <p:nvPr/>
        </p:nvSpPr>
        <p:spPr>
          <a:xfrm>
            <a:off x="7040880" y="3127320"/>
            <a:ext cx="4798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ACL implementado — canal concreto em aberto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49"/>
          <p:cNvSpPr/>
          <p:nvPr/>
        </p:nvSpPr>
        <p:spPr>
          <a:xfrm>
            <a:off x="6428160" y="3438000"/>
            <a:ext cx="528480" cy="2725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34" name="TextBox 50"/>
          <p:cNvSpPr/>
          <p:nvPr/>
        </p:nvSpPr>
        <p:spPr>
          <a:xfrm>
            <a:off x="6501240" y="3474720"/>
            <a:ext cx="38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PA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51"/>
          <p:cNvSpPr/>
          <p:nvPr/>
        </p:nvSpPr>
        <p:spPr>
          <a:xfrm>
            <a:off x="7040880" y="3438000"/>
            <a:ext cx="4798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Prazo máximo para aprovação do orçamento?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2"/>
          <p:cNvSpPr/>
          <p:nvPr/>
        </p:nvSpPr>
        <p:spPr>
          <a:xfrm>
            <a:off x="7040880" y="3712320"/>
            <a:ext cx="4798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Política de expiração fora do escopo do MVP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53"/>
          <p:cNvSpPr/>
          <p:nvPr/>
        </p:nvSpPr>
        <p:spPr>
          <a:xfrm>
            <a:off x="6428160" y="4023360"/>
            <a:ext cx="528480" cy="2725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38" name="TextBox 54"/>
          <p:cNvSpPr/>
          <p:nvPr/>
        </p:nvSpPr>
        <p:spPr>
          <a:xfrm>
            <a:off x="6501240" y="4060080"/>
            <a:ext cx="38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PA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55"/>
          <p:cNvSpPr/>
          <p:nvPr/>
        </p:nvSpPr>
        <p:spPr>
          <a:xfrm>
            <a:off x="7040880" y="4023360"/>
            <a:ext cx="4798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Permissões por papel (Atendente/Mecânico)?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56"/>
          <p:cNvSpPr/>
          <p:nvPr/>
        </p:nvSpPr>
        <p:spPr>
          <a:xfrm>
            <a:off x="7040880" y="4297680"/>
            <a:ext cx="4798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Perfil único Admin no MVP — RBAC não implementado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57"/>
          <p:cNvSpPr/>
          <p:nvPr/>
        </p:nvSpPr>
        <p:spPr>
          <a:xfrm>
            <a:off x="6245280" y="4645080"/>
            <a:ext cx="5713200" cy="193680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42" name="Rectangle 58"/>
          <p:cNvSpPr/>
          <p:nvPr/>
        </p:nvSpPr>
        <p:spPr>
          <a:xfrm>
            <a:off x="6245280" y="4645080"/>
            <a:ext cx="5713200" cy="52920"/>
          </a:xfrm>
          <a:prstGeom prst="rect">
            <a:avLst/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43" name="TextBox 59"/>
          <p:cNvSpPr/>
          <p:nvPr/>
        </p:nvSpPr>
        <p:spPr>
          <a:xfrm>
            <a:off x="6428160" y="4718160"/>
            <a:ext cx="548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Fluxos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60"/>
          <p:cNvSpPr/>
          <p:nvPr/>
        </p:nvSpPr>
        <p:spPr>
          <a:xfrm>
            <a:off x="6428160" y="5175360"/>
            <a:ext cx="1004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Principal: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61"/>
          <p:cNvSpPr/>
          <p:nvPr/>
        </p:nvSpPr>
        <p:spPr>
          <a:xfrm>
            <a:off x="6428160" y="5431680"/>
            <a:ext cx="5484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OS Aberta → Em Diagnóstico → Aguardando Aprovação → Em Execução → Finalizada → Entregue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62"/>
          <p:cNvSpPr/>
          <p:nvPr/>
        </p:nvSpPr>
        <p:spPr>
          <a:xfrm>
            <a:off x="6428160" y="5833800"/>
            <a:ext cx="118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Alternativo: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63"/>
          <p:cNvSpPr/>
          <p:nvPr/>
        </p:nvSpPr>
        <p:spPr>
          <a:xfrm>
            <a:off x="6428160" y="6089760"/>
            <a:ext cx="5484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Orçamento Reprovado → OS Cancelada  +  Estorno de Estoque (atômico, mesma transação)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04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Context Map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ContextMap.drawio.pdf  ·  padrões: Customer-Supplier · Shared Kernel · ACL · OHS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6"/>
          <p:cNvSpPr/>
          <p:nvPr/>
        </p:nvSpPr>
        <p:spPr>
          <a:xfrm>
            <a:off x="228600" y="1691640"/>
            <a:ext cx="5713200" cy="223848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54" name="Rectangle 7"/>
          <p:cNvSpPr/>
          <p:nvPr/>
        </p:nvSpPr>
        <p:spPr>
          <a:xfrm>
            <a:off x="228600" y="1691640"/>
            <a:ext cx="5713200" cy="5292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457200" y="1846800"/>
            <a:ext cx="4753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Open Host Service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411480" y="224928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·  Segurança JWT é um OHS que serve todos os contextos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411480" y="259704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·  Spring Security filter chain — validação HMAC-SHA384 stateless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3"/>
          <p:cNvSpPr/>
          <p:nvPr/>
        </p:nvSpPr>
        <p:spPr>
          <a:xfrm>
            <a:off x="411480" y="294444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·  Todos os endpoints administrativos consomem este serviço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4"/>
          <p:cNvSpPr/>
          <p:nvPr/>
        </p:nvSpPr>
        <p:spPr>
          <a:xfrm>
            <a:off x="411480" y="329184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·  Único ponto de entrada de autenticação: POST /api/auth/login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15"/>
          <p:cNvSpPr/>
          <p:nvPr/>
        </p:nvSpPr>
        <p:spPr>
          <a:xfrm>
            <a:off x="6245280" y="1691640"/>
            <a:ext cx="5713200" cy="223848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61" name="Rectangle 16"/>
          <p:cNvSpPr/>
          <p:nvPr/>
        </p:nvSpPr>
        <p:spPr>
          <a:xfrm>
            <a:off x="6245280" y="1691640"/>
            <a:ext cx="5713200" cy="5292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62" name="TextBox 19"/>
          <p:cNvSpPr/>
          <p:nvPr/>
        </p:nvSpPr>
        <p:spPr>
          <a:xfrm>
            <a:off x="6400800" y="1846800"/>
            <a:ext cx="4753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Customer-Supplier — cadeia principal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0"/>
          <p:cNvSpPr/>
          <p:nvPr/>
        </p:nvSpPr>
        <p:spPr>
          <a:xfrm>
            <a:off x="6428160" y="215964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Atendimento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6428160" y="245232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Diagnóstico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4"/>
          <p:cNvSpPr/>
          <p:nvPr/>
        </p:nvSpPr>
        <p:spPr>
          <a:xfrm>
            <a:off x="6428160" y="27450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Orçamento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5"/>
          <p:cNvSpPr/>
          <p:nvPr/>
        </p:nvSpPr>
        <p:spPr>
          <a:xfrm>
            <a:off x="6428160" y="3127320"/>
            <a:ext cx="272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TextBox 26"/>
          <p:cNvSpPr/>
          <p:nvPr/>
        </p:nvSpPr>
        <p:spPr>
          <a:xfrm>
            <a:off x="6428160" y="303768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Aprovação / Cancelamento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8"/>
          <p:cNvSpPr/>
          <p:nvPr/>
        </p:nvSpPr>
        <p:spPr>
          <a:xfrm>
            <a:off x="6428160" y="333000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Execução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0"/>
          <p:cNvSpPr/>
          <p:nvPr/>
        </p:nvSpPr>
        <p:spPr>
          <a:xfrm>
            <a:off x="6428160" y="3622680"/>
            <a:ext cx="534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Entrega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31"/>
          <p:cNvSpPr/>
          <p:nvPr/>
        </p:nvSpPr>
        <p:spPr>
          <a:xfrm>
            <a:off x="228600" y="4096440"/>
            <a:ext cx="5713200" cy="24854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71" name="Rectangle 32"/>
          <p:cNvSpPr/>
          <p:nvPr/>
        </p:nvSpPr>
        <p:spPr>
          <a:xfrm>
            <a:off x="228600" y="4096440"/>
            <a:ext cx="5713200" cy="5292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72" name="TextBox 35"/>
          <p:cNvSpPr/>
          <p:nvPr/>
        </p:nvSpPr>
        <p:spPr>
          <a:xfrm>
            <a:off x="411840" y="4224960"/>
            <a:ext cx="484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Shared Kernel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6"/>
          <p:cNvSpPr/>
          <p:nvPr/>
        </p:nvSpPr>
        <p:spPr>
          <a:xfrm>
            <a:off x="411480" y="464508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·  Diagnóstico  ↔  Gestão de Estoque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7"/>
          <p:cNvSpPr/>
          <p:nvPr/>
        </p:nvSpPr>
        <p:spPr>
          <a:xfrm>
            <a:off x="411480" y="499248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·  Modelo Peça / EstoqueAtual compartilhado entre os dois contextos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8"/>
          <p:cNvSpPr/>
          <p:nvPr/>
        </p:nvSpPr>
        <p:spPr>
          <a:xfrm>
            <a:off x="411480" y="534024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·  Mudanças no modelo exigem coordenação bilateral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9"/>
          <p:cNvSpPr/>
          <p:nvPr/>
        </p:nvSpPr>
        <p:spPr>
          <a:xfrm>
            <a:off x="411480" y="568764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·  Implementado via Shared Kernel no Context Map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0"/>
          <p:cNvSpPr/>
          <p:nvPr/>
        </p:nvSpPr>
        <p:spPr>
          <a:xfrm>
            <a:off x="411480" y="603504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·  Risco: acoplamento forte — mitigado por domínio estável de Peça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41"/>
          <p:cNvSpPr/>
          <p:nvPr/>
        </p:nvSpPr>
        <p:spPr>
          <a:xfrm>
            <a:off x="6245280" y="4096440"/>
            <a:ext cx="5713200" cy="24854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79" name="Rectangle 42"/>
          <p:cNvSpPr/>
          <p:nvPr/>
        </p:nvSpPr>
        <p:spPr>
          <a:xfrm>
            <a:off x="6245280" y="4096440"/>
            <a:ext cx="5713200" cy="52920"/>
          </a:xfrm>
          <a:prstGeom prst="rect">
            <a:avLst/>
          </a:prstGeom>
          <a:solidFill>
            <a:srgbClr val="f43f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80" name="TextBox 45"/>
          <p:cNvSpPr/>
          <p:nvPr/>
        </p:nvSpPr>
        <p:spPr>
          <a:xfrm>
            <a:off x="6400800" y="4169520"/>
            <a:ext cx="484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Anti-Corruption Layer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6"/>
          <p:cNvSpPr/>
          <p:nvPr/>
        </p:nvSpPr>
        <p:spPr>
          <a:xfrm>
            <a:off x="6428160" y="462672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·  Aprovação/Cancelamento  →  Gestão de Estoque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7"/>
          <p:cNvSpPr/>
          <p:nvPr/>
        </p:nvSpPr>
        <p:spPr>
          <a:xfrm>
            <a:off x="6428160" y="4919400"/>
            <a:ext cx="543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   Estorno isolado da lógica de cancelamento do domínio de estoque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8"/>
          <p:cNvSpPr/>
          <p:nvPr/>
        </p:nvSpPr>
        <p:spPr>
          <a:xfrm>
            <a:off x="6428160" y="543168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·  Orçamento  →  Serviço de Notificação (SE, Hot Spot PA2)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49"/>
          <p:cNvSpPr/>
          <p:nvPr/>
        </p:nvSpPr>
        <p:spPr>
          <a:xfrm>
            <a:off x="6428160" y="5724000"/>
            <a:ext cx="5438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   Porta: NotificacaoService (application/port)  ·  Stub: LogNotificacaoService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86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05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Design Tático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Building blocks do DDD implementados no domínio da oficina (Evans, 2003)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228600" y="1920240"/>
            <a:ext cx="3765600" cy="461592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228600" y="1920240"/>
            <a:ext cx="3765600" cy="6228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393120" y="2011680"/>
            <a:ext cx="3436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Value Objects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393120" y="251460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CpfCnpj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0"/>
          <p:cNvSpPr/>
          <p:nvPr/>
        </p:nvSpPr>
        <p:spPr>
          <a:xfrm>
            <a:off x="393120" y="281628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Dígitos verificadores, sem UUID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1"/>
          <p:cNvSpPr/>
          <p:nvPr/>
        </p:nvSpPr>
        <p:spPr>
          <a:xfrm>
            <a:off x="393120" y="311796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6" name="TextBox 12"/>
          <p:cNvSpPr/>
          <p:nvPr/>
        </p:nvSpPr>
        <p:spPr>
          <a:xfrm>
            <a:off x="393120" y="342000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Placa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3"/>
          <p:cNvSpPr/>
          <p:nvPr/>
        </p:nvSpPr>
        <p:spPr>
          <a:xfrm>
            <a:off x="393120" y="372168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Antigo ABC-1234 e Mercosul ABC1D23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4"/>
          <p:cNvSpPr/>
          <p:nvPr/>
        </p:nvSpPr>
        <p:spPr>
          <a:xfrm>
            <a:off x="393120" y="402336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9" name="TextBox 15"/>
          <p:cNvSpPr/>
          <p:nvPr/>
        </p:nvSpPr>
        <p:spPr>
          <a:xfrm>
            <a:off x="393120" y="432504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StatusOS (enum)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6"/>
          <p:cNvSpPr/>
          <p:nvPr/>
        </p:nvSpPr>
        <p:spPr>
          <a:xfrm>
            <a:off x="393120" y="462672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validarTransicaoPara() fecha transições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7"/>
          <p:cNvSpPr/>
          <p:nvPr/>
        </p:nvSpPr>
        <p:spPr>
          <a:xfrm>
            <a:off x="393120" y="492876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2" name="TextBox 18"/>
          <p:cNvSpPr/>
          <p:nvPr/>
        </p:nvSpPr>
        <p:spPr>
          <a:xfrm>
            <a:off x="393120" y="523044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Imutáveis · identificados pelo valor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19"/>
          <p:cNvSpPr/>
          <p:nvPr/>
        </p:nvSpPr>
        <p:spPr>
          <a:xfrm>
            <a:off x="4224600" y="1920240"/>
            <a:ext cx="3765600" cy="461592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04" name="Rectangle 20"/>
          <p:cNvSpPr/>
          <p:nvPr/>
        </p:nvSpPr>
        <p:spPr>
          <a:xfrm>
            <a:off x="4224600" y="1920240"/>
            <a:ext cx="3765600" cy="6228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05" name="TextBox 21"/>
          <p:cNvSpPr/>
          <p:nvPr/>
        </p:nvSpPr>
        <p:spPr>
          <a:xfrm>
            <a:off x="4389120" y="2011680"/>
            <a:ext cx="3436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Entities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2"/>
          <p:cNvSpPr/>
          <p:nvPr/>
        </p:nvSpPr>
        <p:spPr>
          <a:xfrm>
            <a:off x="4389120" y="251460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Cliente  — UUID id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3"/>
          <p:cNvSpPr/>
          <p:nvPr/>
        </p:nvSpPr>
        <p:spPr>
          <a:xfrm>
            <a:off x="4389120" y="281628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CPF/CNPJ é atributo, não identidade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4"/>
          <p:cNvSpPr/>
          <p:nvPr/>
        </p:nvSpPr>
        <p:spPr>
          <a:xfrm>
            <a:off x="4389120" y="311796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9" name="TextBox 25"/>
          <p:cNvSpPr/>
          <p:nvPr/>
        </p:nvSpPr>
        <p:spPr>
          <a:xfrm>
            <a:off x="4389120" y="342000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Veículo  — UUID id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6"/>
          <p:cNvSpPr/>
          <p:nvPr/>
        </p:nvSpPr>
        <p:spPr>
          <a:xfrm>
            <a:off x="4389120" y="372168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Placa é atributo de domínio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7"/>
          <p:cNvSpPr/>
          <p:nvPr/>
        </p:nvSpPr>
        <p:spPr>
          <a:xfrm>
            <a:off x="4389120" y="402336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2" name="TextBox 28"/>
          <p:cNvSpPr/>
          <p:nvPr/>
        </p:nvSpPr>
        <p:spPr>
          <a:xfrm>
            <a:off x="4389120" y="432504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Serviço  — UUID id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9"/>
          <p:cNvSpPr/>
          <p:nvPr/>
        </p:nvSpPr>
        <p:spPr>
          <a:xfrm>
            <a:off x="4389120" y="462672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Peça  — UUID id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0"/>
          <p:cNvSpPr/>
          <p:nvPr/>
        </p:nvSpPr>
        <p:spPr>
          <a:xfrm>
            <a:off x="4389120" y="492876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5" name="TextBox 31"/>
          <p:cNvSpPr/>
          <p:nvPr/>
        </p:nvSpPr>
        <p:spPr>
          <a:xfrm>
            <a:off x="4389120" y="523044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Estado mutável · UUID persistente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32"/>
          <p:cNvSpPr/>
          <p:nvPr/>
        </p:nvSpPr>
        <p:spPr>
          <a:xfrm>
            <a:off x="8220600" y="1920240"/>
            <a:ext cx="3765600" cy="461592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17" name="Rectangle 33"/>
          <p:cNvSpPr/>
          <p:nvPr/>
        </p:nvSpPr>
        <p:spPr>
          <a:xfrm>
            <a:off x="8220600" y="1920240"/>
            <a:ext cx="3765600" cy="6228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18" name="TextBox 34"/>
          <p:cNvSpPr/>
          <p:nvPr/>
        </p:nvSpPr>
        <p:spPr>
          <a:xfrm>
            <a:off x="8385120" y="2011680"/>
            <a:ext cx="3436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Aggregate Root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5"/>
          <p:cNvSpPr/>
          <p:nvPr/>
        </p:nvSpPr>
        <p:spPr>
          <a:xfrm>
            <a:off x="8385120" y="251460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OrdemServico  (único AG)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6"/>
          <p:cNvSpPr/>
          <p:nvPr/>
        </p:nvSpPr>
        <p:spPr>
          <a:xfrm>
            <a:off x="8385120" y="281628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1" name="TextBox 37"/>
          <p:cNvSpPr/>
          <p:nvPr/>
        </p:nvSpPr>
        <p:spPr>
          <a:xfrm>
            <a:off x="8385120" y="311796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├─ ItemServico  (interno)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8"/>
          <p:cNvSpPr/>
          <p:nvPr/>
        </p:nvSpPr>
        <p:spPr>
          <a:xfrm>
            <a:off x="8385120" y="342000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   snapshot de preço do Serviço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9"/>
          <p:cNvSpPr/>
          <p:nvPr/>
        </p:nvSpPr>
        <p:spPr>
          <a:xfrm>
            <a:off x="8385120" y="372168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4" name="TextBox 40"/>
          <p:cNvSpPr/>
          <p:nvPr/>
        </p:nvSpPr>
        <p:spPr>
          <a:xfrm>
            <a:off x="8385120" y="402336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├─ ItemPeca  (interno)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41"/>
          <p:cNvSpPr/>
          <p:nvPr/>
        </p:nvSpPr>
        <p:spPr>
          <a:xfrm>
            <a:off x="8385120" y="432504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   snapshot de preço da Peça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2"/>
          <p:cNvSpPr/>
          <p:nvPr/>
        </p:nvSpPr>
        <p:spPr>
          <a:xfrm>
            <a:off x="8385120" y="4626720"/>
            <a:ext cx="3436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7" name="TextBox 43"/>
          <p:cNvSpPr/>
          <p:nvPr/>
        </p:nvSpPr>
        <p:spPr>
          <a:xfrm>
            <a:off x="8385120" y="492876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└─ StatusOS  (VO interno)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44"/>
          <p:cNvSpPr/>
          <p:nvPr/>
        </p:nvSpPr>
        <p:spPr>
          <a:xfrm>
            <a:off x="8385120" y="5230440"/>
            <a:ext cx="343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Acesso somente via OrdemServicoRepository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45"/>
          <p:cNvSpPr/>
          <p:nvPr/>
        </p:nvSpPr>
        <p:spPr>
          <a:xfrm>
            <a:off x="0" y="6473880"/>
            <a:ext cx="12187080" cy="382320"/>
          </a:xfrm>
          <a:prstGeom prst="rect">
            <a:avLst/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30" name="TextBox 46"/>
          <p:cNvSpPr/>
          <p:nvPr/>
        </p:nvSpPr>
        <p:spPr>
          <a:xfrm>
            <a:off x="365760" y="6492240"/>
            <a:ext cx="11793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⚡  Use Cases:  AdicionarPecaAOSUseCase  ·  ReprovarOrcamentoUseCase  ·  GerarOrcamentoUseCase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32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06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Arquitetura em Camadas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Clean Architecture · dependências apontam para o domínio · testável por camada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6"/>
          <p:cNvSpPr/>
          <p:nvPr/>
        </p:nvSpPr>
        <p:spPr>
          <a:xfrm>
            <a:off x="155880" y="1965960"/>
            <a:ext cx="11958480" cy="1205280"/>
          </a:xfrm>
          <a:prstGeom prst="rect">
            <a:avLst/>
          </a:prstGeom>
          <a:solidFill>
            <a:srgbClr val="162944"/>
          </a:solidFill>
          <a:ln w="1908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37" name="Rectangle 7"/>
          <p:cNvSpPr/>
          <p:nvPr/>
        </p:nvSpPr>
        <p:spPr>
          <a:xfrm>
            <a:off x="92160" y="1965960"/>
            <a:ext cx="62280" cy="1205280"/>
          </a:xfrm>
          <a:prstGeom prst="rect">
            <a:avLst/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201240" y="2057400"/>
            <a:ext cx="292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7c3aed"/>
                </a:solidFill>
                <a:effectLst/>
                <a:uFillTx/>
                <a:latin typeface="Calibri"/>
                <a:ea typeface="DejaVu Sans"/>
              </a:rPr>
              <a:t>Infrastructure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201240" y="2532960"/>
            <a:ext cx="292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infrastructure/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3474720" y="2075760"/>
            <a:ext cx="839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Spring Boot · JPA · Flyway · Security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REST Controllers · LogNotificacaoService (ACL stub)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1"/>
          <p:cNvSpPr/>
          <p:nvPr/>
        </p:nvSpPr>
        <p:spPr>
          <a:xfrm>
            <a:off x="868680" y="3291840"/>
            <a:ext cx="10449720" cy="1205280"/>
          </a:xfrm>
          <a:prstGeom prst="rect">
            <a:avLst/>
          </a:prstGeom>
          <a:solidFill>
            <a:srgbClr val="162944"/>
          </a:solidFill>
          <a:ln w="1908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42" name="Rectangle 12"/>
          <p:cNvSpPr/>
          <p:nvPr/>
        </p:nvSpPr>
        <p:spPr>
          <a:xfrm>
            <a:off x="868680" y="3291840"/>
            <a:ext cx="62280" cy="120528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43" name="TextBox 13"/>
          <p:cNvSpPr/>
          <p:nvPr/>
        </p:nvSpPr>
        <p:spPr>
          <a:xfrm>
            <a:off x="1069920" y="3383280"/>
            <a:ext cx="292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Application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1069920" y="3858840"/>
            <a:ext cx="292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application/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4343400" y="3401640"/>
            <a:ext cx="66549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Use Cases · Ports de entrada e saída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Orquestra o domínio sem conhecer HTTP ou JPA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16"/>
          <p:cNvSpPr/>
          <p:nvPr/>
        </p:nvSpPr>
        <p:spPr>
          <a:xfrm>
            <a:off x="1737360" y="4617720"/>
            <a:ext cx="8712360" cy="1205280"/>
          </a:xfrm>
          <a:prstGeom prst="rect">
            <a:avLst/>
          </a:prstGeom>
          <a:solidFill>
            <a:srgbClr val="162944"/>
          </a:solidFill>
          <a:ln w="1908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47" name="Rectangle 17"/>
          <p:cNvSpPr/>
          <p:nvPr/>
        </p:nvSpPr>
        <p:spPr>
          <a:xfrm>
            <a:off x="1737360" y="4617720"/>
            <a:ext cx="62280" cy="120528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1938600" y="4709160"/>
            <a:ext cx="2924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Domain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9"/>
          <p:cNvSpPr/>
          <p:nvPr/>
        </p:nvSpPr>
        <p:spPr>
          <a:xfrm>
            <a:off x="1938600" y="5184720"/>
            <a:ext cx="292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domain/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0"/>
          <p:cNvSpPr/>
          <p:nvPr/>
        </p:nvSpPr>
        <p:spPr>
          <a:xfrm>
            <a:off x="5212080" y="4727520"/>
            <a:ext cx="49176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Entidades · Value Objects · Aggregates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Exceções · Interfaces de Repositório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Puro Java — zero dependência de framework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228600" y="5943600"/>
            <a:ext cx="3655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⬆  regra de dependência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2"/>
          <p:cNvSpPr/>
          <p:nvPr/>
        </p:nvSpPr>
        <p:spPr>
          <a:xfrm>
            <a:off x="228600" y="6355080"/>
            <a:ext cx="11428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Verificável empiricamente: testes de domínio executam sem Spring Context (ms). JaCoCo enforce 80%+ em domain.* a cada build.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360" y="36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54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07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Ciclo de Vida da Ordem de Serviço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274320" y="159840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Invariante central: OS só avança — nunca retrocede. Validado em StatusOS.validarTransicaoPara()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6"/>
          <p:cNvSpPr/>
          <p:nvPr/>
        </p:nvSpPr>
        <p:spPr>
          <a:xfrm>
            <a:off x="274320" y="1871640"/>
            <a:ext cx="1808640" cy="1049760"/>
          </a:xfrm>
          <a:prstGeom prst="roundRect">
            <a:avLst>
              <a:gd name="adj" fmla="val 16667"/>
            </a:avLst>
          </a:prstGeom>
          <a:solidFill>
            <a:srgbClr val="162944"/>
          </a:solidFill>
          <a:ln w="19080">
            <a:solidFill>
              <a:srgbClr val="fb9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274320" y="2252880"/>
            <a:ext cx="1808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Recebida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8"/>
          <p:cNvSpPr/>
          <p:nvPr/>
        </p:nvSpPr>
        <p:spPr>
          <a:xfrm>
            <a:off x="2084760" y="2169000"/>
            <a:ext cx="208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9"/>
          <p:cNvSpPr/>
          <p:nvPr/>
        </p:nvSpPr>
        <p:spPr>
          <a:xfrm>
            <a:off x="2267640" y="1871640"/>
            <a:ext cx="1808640" cy="1049760"/>
          </a:xfrm>
          <a:prstGeom prst="roundRect">
            <a:avLst>
              <a:gd name="adj" fmla="val 16667"/>
            </a:avLst>
          </a:prstGeom>
          <a:solidFill>
            <a:srgbClr val="162944"/>
          </a:solidFill>
          <a:ln w="1908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62" name="TextBox 10"/>
          <p:cNvSpPr/>
          <p:nvPr/>
        </p:nvSpPr>
        <p:spPr>
          <a:xfrm>
            <a:off x="2267640" y="2252880"/>
            <a:ext cx="1808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Em Diagnóstico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1"/>
          <p:cNvSpPr/>
          <p:nvPr/>
        </p:nvSpPr>
        <p:spPr>
          <a:xfrm>
            <a:off x="4078080" y="2169000"/>
            <a:ext cx="208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12"/>
          <p:cNvSpPr/>
          <p:nvPr/>
        </p:nvSpPr>
        <p:spPr>
          <a:xfrm>
            <a:off x="4260960" y="1871640"/>
            <a:ext cx="1808640" cy="1049760"/>
          </a:xfrm>
          <a:prstGeom prst="roundRect">
            <a:avLst>
              <a:gd name="adj" fmla="val 16667"/>
            </a:avLst>
          </a:prstGeom>
          <a:solidFill>
            <a:srgbClr val="162944"/>
          </a:solidFill>
          <a:ln w="19080"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65" name="TextBox 13"/>
          <p:cNvSpPr/>
          <p:nvPr/>
        </p:nvSpPr>
        <p:spPr>
          <a:xfrm>
            <a:off x="4260960" y="2153880"/>
            <a:ext cx="180864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Aguardando Aprovação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4"/>
          <p:cNvSpPr/>
          <p:nvPr/>
        </p:nvSpPr>
        <p:spPr>
          <a:xfrm>
            <a:off x="6071760" y="2169000"/>
            <a:ext cx="208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15"/>
          <p:cNvSpPr/>
          <p:nvPr/>
        </p:nvSpPr>
        <p:spPr>
          <a:xfrm>
            <a:off x="6254640" y="1871640"/>
            <a:ext cx="1808640" cy="1049760"/>
          </a:xfrm>
          <a:prstGeom prst="roundRect">
            <a:avLst>
              <a:gd name="adj" fmla="val 16667"/>
            </a:avLst>
          </a:prstGeom>
          <a:solidFill>
            <a:srgbClr val="162944"/>
          </a:solidFill>
          <a:ln w="1908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68" name="TextBox 16"/>
          <p:cNvSpPr/>
          <p:nvPr/>
        </p:nvSpPr>
        <p:spPr>
          <a:xfrm>
            <a:off x="6254640" y="2252880"/>
            <a:ext cx="1808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Em Execução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7"/>
          <p:cNvSpPr/>
          <p:nvPr/>
        </p:nvSpPr>
        <p:spPr>
          <a:xfrm>
            <a:off x="8065080" y="2169000"/>
            <a:ext cx="208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18"/>
          <p:cNvSpPr/>
          <p:nvPr/>
        </p:nvSpPr>
        <p:spPr>
          <a:xfrm>
            <a:off x="8247960" y="1871640"/>
            <a:ext cx="1808640" cy="1049760"/>
          </a:xfrm>
          <a:prstGeom prst="roundRect">
            <a:avLst>
              <a:gd name="adj" fmla="val 16667"/>
            </a:avLst>
          </a:prstGeom>
          <a:solidFill>
            <a:srgbClr val="162944"/>
          </a:solidFill>
          <a:ln w="1908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71" name="TextBox 19"/>
          <p:cNvSpPr/>
          <p:nvPr/>
        </p:nvSpPr>
        <p:spPr>
          <a:xfrm>
            <a:off x="8229600" y="2237400"/>
            <a:ext cx="1808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Finalizada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0"/>
          <p:cNvSpPr/>
          <p:nvPr/>
        </p:nvSpPr>
        <p:spPr>
          <a:xfrm>
            <a:off x="10058400" y="2169000"/>
            <a:ext cx="208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21"/>
          <p:cNvSpPr/>
          <p:nvPr/>
        </p:nvSpPr>
        <p:spPr>
          <a:xfrm>
            <a:off x="10241280" y="1871640"/>
            <a:ext cx="1808640" cy="1049760"/>
          </a:xfrm>
          <a:prstGeom prst="roundRect">
            <a:avLst>
              <a:gd name="adj" fmla="val 16667"/>
            </a:avLst>
          </a:prstGeom>
          <a:solidFill>
            <a:srgbClr val="162944"/>
          </a:solidFill>
          <a:ln w="19080">
            <a:solidFill>
              <a:srgbClr val="22c5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74" name="TextBox 22"/>
          <p:cNvSpPr/>
          <p:nvPr/>
        </p:nvSpPr>
        <p:spPr>
          <a:xfrm>
            <a:off x="10241280" y="2252880"/>
            <a:ext cx="1808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Entregue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23"/>
          <p:cNvSpPr/>
          <p:nvPr/>
        </p:nvSpPr>
        <p:spPr>
          <a:xfrm>
            <a:off x="5212080" y="3334680"/>
            <a:ext cx="1918440" cy="958320"/>
          </a:xfrm>
          <a:prstGeom prst="roundRect">
            <a:avLst>
              <a:gd name="adj" fmla="val 16667"/>
            </a:avLst>
          </a:prstGeom>
          <a:solidFill>
            <a:srgbClr val="162944"/>
          </a:solidFill>
          <a:ln w="19080">
            <a:solidFill>
              <a:srgbClr val="f43f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76" name="TextBox 24"/>
          <p:cNvSpPr/>
          <p:nvPr/>
        </p:nvSpPr>
        <p:spPr>
          <a:xfrm>
            <a:off x="5212080" y="3658320"/>
            <a:ext cx="19184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Cancelada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5"/>
          <p:cNvSpPr/>
          <p:nvPr/>
        </p:nvSpPr>
        <p:spPr>
          <a:xfrm>
            <a:off x="4846320" y="2968920"/>
            <a:ext cx="2649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↓ reprovação + estorno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6"/>
          <p:cNvSpPr/>
          <p:nvPr/>
        </p:nvSpPr>
        <p:spPr>
          <a:xfrm>
            <a:off x="228600" y="4343400"/>
            <a:ext cx="457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Endpoints do ciclo de vida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7"/>
          <p:cNvSpPr/>
          <p:nvPr/>
        </p:nvSpPr>
        <p:spPr>
          <a:xfrm>
            <a:off x="228600" y="482796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/api/ordens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8"/>
          <p:cNvSpPr/>
          <p:nvPr/>
        </p:nvSpPr>
        <p:spPr>
          <a:xfrm>
            <a:off x="3291840" y="4827960"/>
            <a:ext cx="2649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Abre 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9"/>
          <p:cNvSpPr/>
          <p:nvPr/>
        </p:nvSpPr>
        <p:spPr>
          <a:xfrm>
            <a:off x="228600" y="526680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…/iniciar-diagnostico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30"/>
          <p:cNvSpPr/>
          <p:nvPr/>
        </p:nvSpPr>
        <p:spPr>
          <a:xfrm>
            <a:off x="3291840" y="5266800"/>
            <a:ext cx="2649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Inicia diagnóstico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31"/>
          <p:cNvSpPr/>
          <p:nvPr/>
        </p:nvSpPr>
        <p:spPr>
          <a:xfrm>
            <a:off x="228600" y="570600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…/servicos + /pecas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2"/>
          <p:cNvSpPr/>
          <p:nvPr/>
        </p:nvSpPr>
        <p:spPr>
          <a:xfrm>
            <a:off x="3291840" y="5706000"/>
            <a:ext cx="26499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Adiciona itens (snapshot de preço; peça: decrementa estoque)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3"/>
          <p:cNvSpPr/>
          <p:nvPr/>
        </p:nvSpPr>
        <p:spPr>
          <a:xfrm>
            <a:off x="228600" y="614484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…/gerar-orcamento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4"/>
          <p:cNvSpPr/>
          <p:nvPr/>
        </p:nvSpPr>
        <p:spPr>
          <a:xfrm>
            <a:off x="3291840" y="6144840"/>
            <a:ext cx="2649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Gera orçamento e notifica cliente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5"/>
          <p:cNvSpPr/>
          <p:nvPr/>
        </p:nvSpPr>
        <p:spPr>
          <a:xfrm>
            <a:off x="6263640" y="482796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…/aprovar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6"/>
          <p:cNvSpPr/>
          <p:nvPr/>
        </p:nvSpPr>
        <p:spPr>
          <a:xfrm>
            <a:off x="9326880" y="4827960"/>
            <a:ext cx="2649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Aprova → Em Execução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7"/>
          <p:cNvSpPr/>
          <p:nvPr/>
        </p:nvSpPr>
        <p:spPr>
          <a:xfrm>
            <a:off x="6263640" y="526680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…/concluir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8"/>
          <p:cNvSpPr/>
          <p:nvPr/>
        </p:nvSpPr>
        <p:spPr>
          <a:xfrm>
            <a:off x="9326880" y="5266800"/>
            <a:ext cx="2649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Conclui serviços → Finalizada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9"/>
          <p:cNvSpPr/>
          <p:nvPr/>
        </p:nvSpPr>
        <p:spPr>
          <a:xfrm>
            <a:off x="6263640" y="570600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…/entregar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40"/>
          <p:cNvSpPr/>
          <p:nvPr/>
        </p:nvSpPr>
        <p:spPr>
          <a:xfrm>
            <a:off x="9326880" y="5706000"/>
            <a:ext cx="2649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Entrega → Entregue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41"/>
          <p:cNvSpPr/>
          <p:nvPr/>
        </p:nvSpPr>
        <p:spPr>
          <a:xfrm>
            <a:off x="6263640" y="6144840"/>
            <a:ext cx="301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POST …/reprovar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42"/>
          <p:cNvSpPr/>
          <p:nvPr/>
        </p:nvSpPr>
        <p:spPr>
          <a:xfrm>
            <a:off x="9326880" y="6144840"/>
            <a:ext cx="26499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— Cancela + estorna estoque → Cancelada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6372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96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97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08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Segurança — JWT com Refresh Token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Autenticação stateless (access) + stateful (refresh) com rotação e detecção de token roubado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6"/>
          <p:cNvSpPr/>
          <p:nvPr/>
        </p:nvSpPr>
        <p:spPr>
          <a:xfrm>
            <a:off x="228600" y="1783080"/>
            <a:ext cx="5758920" cy="26042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01" name="Rectangle 7"/>
          <p:cNvSpPr/>
          <p:nvPr/>
        </p:nvSpPr>
        <p:spPr>
          <a:xfrm>
            <a:off x="228600" y="1783080"/>
            <a:ext cx="5758920" cy="6228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02" name="TextBox 8"/>
          <p:cNvSpPr/>
          <p:nvPr/>
        </p:nvSpPr>
        <p:spPr>
          <a:xfrm>
            <a:off x="411480" y="1892880"/>
            <a:ext cx="5393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🔑  Access Token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9"/>
          <p:cNvSpPr/>
          <p:nvPr/>
        </p:nvSpPr>
        <p:spPr>
          <a:xfrm>
            <a:off x="411480" y="2450520"/>
            <a:ext cx="100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Tipo: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0"/>
          <p:cNvSpPr/>
          <p:nvPr/>
        </p:nvSpPr>
        <p:spPr>
          <a:xfrm>
            <a:off x="1508760" y="2450520"/>
            <a:ext cx="447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JWT · HMAC-SHA384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1"/>
          <p:cNvSpPr/>
          <p:nvPr/>
        </p:nvSpPr>
        <p:spPr>
          <a:xfrm>
            <a:off x="411480" y="2953440"/>
            <a:ext cx="100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Validade: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2"/>
          <p:cNvSpPr/>
          <p:nvPr/>
        </p:nvSpPr>
        <p:spPr>
          <a:xfrm>
            <a:off x="1508760" y="2953440"/>
            <a:ext cx="447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15 minutos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3"/>
          <p:cNvSpPr/>
          <p:nvPr/>
        </p:nvSpPr>
        <p:spPr>
          <a:xfrm>
            <a:off x="411480" y="3456360"/>
            <a:ext cx="100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Storage: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4"/>
          <p:cNvSpPr/>
          <p:nvPr/>
        </p:nvSpPr>
        <p:spPr>
          <a:xfrm>
            <a:off x="1508760" y="3456360"/>
            <a:ext cx="447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Stateless — validado pela assinatura, sem banco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5"/>
          <p:cNvSpPr/>
          <p:nvPr/>
        </p:nvSpPr>
        <p:spPr>
          <a:xfrm>
            <a:off x="6263640" y="1783080"/>
            <a:ext cx="5758920" cy="26042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0" name="Rectangle 16"/>
          <p:cNvSpPr/>
          <p:nvPr/>
        </p:nvSpPr>
        <p:spPr>
          <a:xfrm>
            <a:off x="6263640" y="1783080"/>
            <a:ext cx="5758920" cy="6228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1" name="TextBox 17"/>
          <p:cNvSpPr/>
          <p:nvPr/>
        </p:nvSpPr>
        <p:spPr>
          <a:xfrm>
            <a:off x="6446520" y="1892880"/>
            <a:ext cx="5393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🔄  Refresh Token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8"/>
          <p:cNvSpPr/>
          <p:nvPr/>
        </p:nvSpPr>
        <p:spPr>
          <a:xfrm>
            <a:off x="6446520" y="2450520"/>
            <a:ext cx="100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Tipo: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9"/>
          <p:cNvSpPr/>
          <p:nvPr/>
        </p:nvSpPr>
        <p:spPr>
          <a:xfrm>
            <a:off x="7543800" y="2450520"/>
            <a:ext cx="447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UUID opaco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0"/>
          <p:cNvSpPr/>
          <p:nvPr/>
        </p:nvSpPr>
        <p:spPr>
          <a:xfrm>
            <a:off x="6446520" y="2953440"/>
            <a:ext cx="100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Validade: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1"/>
          <p:cNvSpPr/>
          <p:nvPr/>
        </p:nvSpPr>
        <p:spPr>
          <a:xfrm>
            <a:off x="7543800" y="2953440"/>
            <a:ext cx="447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7 dias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2"/>
          <p:cNvSpPr/>
          <p:nvPr/>
        </p:nvSpPr>
        <p:spPr>
          <a:xfrm>
            <a:off x="6446520" y="3456360"/>
            <a:ext cx="100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Storage: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3"/>
          <p:cNvSpPr/>
          <p:nvPr/>
        </p:nvSpPr>
        <p:spPr>
          <a:xfrm>
            <a:off x="7543800" y="3456360"/>
            <a:ext cx="4478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Stateful — persiste na tabela refresh_tokens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ectangle 24"/>
          <p:cNvSpPr/>
          <p:nvPr/>
        </p:nvSpPr>
        <p:spPr>
          <a:xfrm>
            <a:off x="228600" y="4617720"/>
            <a:ext cx="11748240" cy="171720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9" name="Rectangle 25"/>
          <p:cNvSpPr/>
          <p:nvPr/>
        </p:nvSpPr>
        <p:spPr>
          <a:xfrm>
            <a:off x="228600" y="4617720"/>
            <a:ext cx="11748240" cy="4392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0" name="TextBox 26"/>
          <p:cNvSpPr/>
          <p:nvPr/>
        </p:nvSpPr>
        <p:spPr>
          <a:xfrm>
            <a:off x="365760" y="4663440"/>
            <a:ext cx="457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🔁  Rotação de Refresh Tokens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27"/>
          <p:cNvSpPr/>
          <p:nvPr/>
        </p:nvSpPr>
        <p:spPr>
          <a:xfrm>
            <a:off x="365760" y="5120640"/>
            <a:ext cx="1781280" cy="8942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908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2" name="TextBox 28"/>
          <p:cNvSpPr/>
          <p:nvPr/>
        </p:nvSpPr>
        <p:spPr>
          <a:xfrm>
            <a:off x="411480" y="5447160"/>
            <a:ext cx="1689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Envia refresh token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ounded Rectangle 30"/>
          <p:cNvSpPr/>
          <p:nvPr/>
        </p:nvSpPr>
        <p:spPr>
          <a:xfrm>
            <a:off x="2304360" y="5120640"/>
            <a:ext cx="1781280" cy="8942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908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4" name="TextBox 31"/>
          <p:cNvSpPr/>
          <p:nvPr/>
        </p:nvSpPr>
        <p:spPr>
          <a:xfrm>
            <a:off x="2350080" y="5447160"/>
            <a:ext cx="1689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Verifica no banco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ounded Rectangle 33"/>
          <p:cNvSpPr/>
          <p:nvPr/>
        </p:nvSpPr>
        <p:spPr>
          <a:xfrm>
            <a:off x="4242960" y="5120640"/>
            <a:ext cx="1781280" cy="8942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908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6" name="TextBox 34"/>
          <p:cNvSpPr/>
          <p:nvPr/>
        </p:nvSpPr>
        <p:spPr>
          <a:xfrm>
            <a:off x="4288680" y="5447160"/>
            <a:ext cx="1689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Invalida token antigo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36"/>
          <p:cNvSpPr/>
          <p:nvPr/>
        </p:nvSpPr>
        <p:spPr>
          <a:xfrm>
            <a:off x="6181200" y="5120640"/>
            <a:ext cx="1781280" cy="8942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908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8" name="TextBox 37"/>
          <p:cNvSpPr/>
          <p:nvPr/>
        </p:nvSpPr>
        <p:spPr>
          <a:xfrm>
            <a:off x="6226920" y="5370840"/>
            <a:ext cx="16898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Emite novo par access+refresh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ounded Rectangle 39"/>
          <p:cNvSpPr/>
          <p:nvPr/>
        </p:nvSpPr>
        <p:spPr>
          <a:xfrm>
            <a:off x="8119800" y="5120640"/>
            <a:ext cx="1781280" cy="8942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9080">
            <a:solidFill>
              <a:srgbClr val="f43f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0" name="TextBox 40"/>
          <p:cNvSpPr/>
          <p:nvPr/>
        </p:nvSpPr>
        <p:spPr>
          <a:xfrm>
            <a:off x="8165520" y="5447160"/>
            <a:ext cx="1689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0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Token já revogado?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42"/>
          <p:cNvSpPr/>
          <p:nvPr/>
        </p:nvSpPr>
        <p:spPr>
          <a:xfrm>
            <a:off x="10058400" y="5120640"/>
            <a:ext cx="1781280" cy="8942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9080">
            <a:solidFill>
              <a:srgbClr val="f43f5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2" name="TextBox 43"/>
          <p:cNvSpPr/>
          <p:nvPr/>
        </p:nvSpPr>
        <p:spPr>
          <a:xfrm>
            <a:off x="10104120" y="5370840"/>
            <a:ext cx="16898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0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Revoga TODOS do usuário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44"/>
          <p:cNvSpPr/>
          <p:nvPr/>
        </p:nvSpPr>
        <p:spPr>
          <a:xfrm>
            <a:off x="365760" y="6126480"/>
            <a:ext cx="11428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RefreshTokenService.rotacionar()  ·  detecção de reutilização revoga família inteira do usuário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5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6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09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Qualidade de Software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Pirâmide de testes · JaCoCo enforce 80% · OWASP Dependency Check · SonarCloud Quality Gate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6"/>
          <p:cNvSpPr/>
          <p:nvPr/>
        </p:nvSpPr>
        <p:spPr>
          <a:xfrm>
            <a:off x="228600" y="1691640"/>
            <a:ext cx="3765600" cy="46616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40" name="Rectangle 7"/>
          <p:cNvSpPr/>
          <p:nvPr/>
        </p:nvSpPr>
        <p:spPr>
          <a:xfrm>
            <a:off x="228600" y="1691640"/>
            <a:ext cx="3765600" cy="62280"/>
          </a:xfrm>
          <a:prstGeom prst="rect">
            <a:avLst/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41" name="TextBox 8"/>
          <p:cNvSpPr/>
          <p:nvPr/>
        </p:nvSpPr>
        <p:spPr>
          <a:xfrm>
            <a:off x="411480" y="1783080"/>
            <a:ext cx="638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9"/>
          <p:cNvSpPr/>
          <p:nvPr/>
        </p:nvSpPr>
        <p:spPr>
          <a:xfrm>
            <a:off x="228600" y="2377440"/>
            <a:ext cx="376560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6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104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0"/>
          <p:cNvSpPr/>
          <p:nvPr/>
        </p:nvSpPr>
        <p:spPr>
          <a:xfrm>
            <a:off x="411480" y="3520440"/>
            <a:ext cx="3399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Testes automatizados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1"/>
          <p:cNvSpPr/>
          <p:nvPr/>
        </p:nvSpPr>
        <p:spPr>
          <a:xfrm>
            <a:off x="411480" y="4069080"/>
            <a:ext cx="3399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Domain: JUnit 5 puro (sem Spring)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Application: JUnit 5 + Mockito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Integração: Testcontainers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(PostgreSQL real)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12"/>
          <p:cNvSpPr/>
          <p:nvPr/>
        </p:nvSpPr>
        <p:spPr>
          <a:xfrm>
            <a:off x="4224600" y="1691640"/>
            <a:ext cx="3765600" cy="46616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46" name="Rectangle 13"/>
          <p:cNvSpPr/>
          <p:nvPr/>
        </p:nvSpPr>
        <p:spPr>
          <a:xfrm>
            <a:off x="4224600" y="1691640"/>
            <a:ext cx="3765600" cy="6228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47" name="TextBox 14"/>
          <p:cNvSpPr/>
          <p:nvPr/>
        </p:nvSpPr>
        <p:spPr>
          <a:xfrm>
            <a:off x="4407480" y="1783080"/>
            <a:ext cx="638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📊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5"/>
          <p:cNvSpPr/>
          <p:nvPr/>
        </p:nvSpPr>
        <p:spPr>
          <a:xfrm>
            <a:off x="4224600" y="2377440"/>
            <a:ext cx="376560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6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80%+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6"/>
          <p:cNvSpPr/>
          <p:nvPr/>
        </p:nvSpPr>
        <p:spPr>
          <a:xfrm>
            <a:off x="4407480" y="3520440"/>
            <a:ext cx="3399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Cobertura de domínio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7"/>
          <p:cNvSpPr/>
          <p:nvPr/>
        </p:nvSpPr>
        <p:spPr>
          <a:xfrm>
            <a:off x="4407480" y="4069080"/>
            <a:ext cx="3399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JaCoCo fase verify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Falha o build se &lt; 80%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Pacote: com.oficina.mecanica.domain.*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Automatizado com Sonar na pipeline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8"/>
          <p:cNvSpPr/>
          <p:nvPr/>
        </p:nvSpPr>
        <p:spPr>
          <a:xfrm>
            <a:off x="8220600" y="1691640"/>
            <a:ext cx="3765600" cy="466164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52" name="Rectangle 19"/>
          <p:cNvSpPr/>
          <p:nvPr/>
        </p:nvSpPr>
        <p:spPr>
          <a:xfrm>
            <a:off x="8220600" y="1691640"/>
            <a:ext cx="3765600" cy="6228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53" name="TextBox 20"/>
          <p:cNvSpPr/>
          <p:nvPr/>
        </p:nvSpPr>
        <p:spPr>
          <a:xfrm>
            <a:off x="8403480" y="1783080"/>
            <a:ext cx="638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🛡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21"/>
          <p:cNvSpPr/>
          <p:nvPr/>
        </p:nvSpPr>
        <p:spPr>
          <a:xfrm>
            <a:off x="8220600" y="2377440"/>
            <a:ext cx="376560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6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PASS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22"/>
          <p:cNvSpPr/>
          <p:nvPr/>
        </p:nvSpPr>
        <p:spPr>
          <a:xfrm>
            <a:off x="8403480" y="3520440"/>
            <a:ext cx="3399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OWASP Dep. Check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3"/>
          <p:cNvSpPr/>
          <p:nvPr/>
        </p:nvSpPr>
        <p:spPr>
          <a:xfrm>
            <a:off x="8403480" y="4069080"/>
            <a:ext cx="3399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7 supressões documentadas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3 falsos positivos (DefaultServlet)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4 sem patch — risco aceito 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documentado (Spring Sec + Tomcat)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24"/>
          <p:cNvSpPr/>
          <p:nvPr/>
        </p:nvSpPr>
        <p:spPr>
          <a:xfrm>
            <a:off x="0" y="6473880"/>
            <a:ext cx="12187080" cy="382320"/>
          </a:xfrm>
          <a:prstGeom prst="rect">
            <a:avLst/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58" name="TextBox 25"/>
          <p:cNvSpPr/>
          <p:nvPr/>
        </p:nvSpPr>
        <p:spPr>
          <a:xfrm>
            <a:off x="365760" y="6492240"/>
            <a:ext cx="1179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mvn test   ·   mvn verify   ·   mvn dependency-check:check   ·   GitHub Actions: mvn verify sonar:sonar  →  Quality Gate bloqueante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60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61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10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Débitos Técnicos Conhecidos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Decisões conscientes de MVP — identificadas, documentadas, priorizadas para a próxima fase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6"/>
          <p:cNvSpPr/>
          <p:nvPr/>
        </p:nvSpPr>
        <p:spPr>
          <a:xfrm>
            <a:off x="228600" y="1828800"/>
            <a:ext cx="11729880" cy="136980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65" name="Rectangle 7"/>
          <p:cNvSpPr/>
          <p:nvPr/>
        </p:nvSpPr>
        <p:spPr>
          <a:xfrm>
            <a:off x="228600" y="1828800"/>
            <a:ext cx="62280" cy="1369800"/>
          </a:xfrm>
          <a:prstGeom prst="rect">
            <a:avLst/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66" name="TextBox 8"/>
          <p:cNvSpPr/>
          <p:nvPr/>
        </p:nvSpPr>
        <p:spPr>
          <a:xfrm>
            <a:off x="502920" y="1938600"/>
            <a:ext cx="11245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Mappers manuais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9"/>
          <p:cNvSpPr/>
          <p:nvPr/>
        </p:nvSpPr>
        <p:spPr>
          <a:xfrm>
            <a:off x="502920" y="2304360"/>
            <a:ext cx="5301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⚠ Conversão JPA Entity ↔ Domain Object feita à mão nos adapters de persistência.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0"/>
          <p:cNvSpPr/>
          <p:nvPr/>
        </p:nvSpPr>
        <p:spPr>
          <a:xfrm>
            <a:off x="5989320" y="2304360"/>
            <a:ext cx="57589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MapStruct — geração em compile-time, campo faltante vira erro de compilação, zero overhead em runtime.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11"/>
          <p:cNvSpPr/>
          <p:nvPr/>
        </p:nvSpPr>
        <p:spPr>
          <a:xfrm>
            <a:off x="228600" y="3337560"/>
            <a:ext cx="11729880" cy="136980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0" name="Rectangle 12"/>
          <p:cNvSpPr/>
          <p:nvPr/>
        </p:nvSpPr>
        <p:spPr>
          <a:xfrm>
            <a:off x="228600" y="3337560"/>
            <a:ext cx="62280" cy="1369800"/>
          </a:xfrm>
          <a:prstGeom prst="rect">
            <a:avLst/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1" name="TextBox 13"/>
          <p:cNvSpPr/>
          <p:nvPr/>
        </p:nvSpPr>
        <p:spPr>
          <a:xfrm>
            <a:off x="502920" y="3447360"/>
            <a:ext cx="11245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Notificação stub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4"/>
          <p:cNvSpPr/>
          <p:nvPr/>
        </p:nvSpPr>
        <p:spPr>
          <a:xfrm>
            <a:off x="502920" y="3813120"/>
            <a:ext cx="5301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⚠ NotificacaoService é um port sem implementação concreta. E-mail e SMS não são enviados.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15"/>
          <p:cNvSpPr/>
          <p:nvPr/>
        </p:nvSpPr>
        <p:spPr>
          <a:xfrm>
            <a:off x="5989320" y="3813120"/>
            <a:ext cx="57589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Adapter com JavaMail / SendGrid / AWS SES. Canal ainda indefinido — Hot Spot PA2 do Event Storming.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16"/>
          <p:cNvSpPr/>
          <p:nvPr/>
        </p:nvSpPr>
        <p:spPr>
          <a:xfrm>
            <a:off x="228600" y="4846320"/>
            <a:ext cx="11729880" cy="1369800"/>
          </a:xfrm>
          <a:prstGeom prst="rect">
            <a:avLst/>
          </a:prstGeom>
          <a:solidFill>
            <a:srgbClr val="162944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5" name="Rectangle 17"/>
          <p:cNvSpPr/>
          <p:nvPr/>
        </p:nvSpPr>
        <p:spPr>
          <a:xfrm>
            <a:off x="228600" y="4846320"/>
            <a:ext cx="62280" cy="136980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6" name="TextBox 18"/>
          <p:cNvSpPr/>
          <p:nvPr/>
        </p:nvSpPr>
        <p:spPr>
          <a:xfrm>
            <a:off x="502920" y="4956120"/>
            <a:ext cx="11245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Reconstituidor com 9 parâmetros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9"/>
          <p:cNvSpPr/>
          <p:nvPr/>
        </p:nvSpPr>
        <p:spPr>
          <a:xfrm>
            <a:off x="502920" y="5321880"/>
            <a:ext cx="5301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⚠ Método fromPersistencia em OrdemServico tem 9 parâmetros (Sonar S107).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20"/>
          <p:cNvSpPr/>
          <p:nvPr/>
        </p:nvSpPr>
        <p:spPr>
          <a:xfrm>
            <a:off x="5989320" y="5321880"/>
            <a:ext cx="57589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→ Encapsular em record DadosOrdemServico — 1 parâmetro, invariantes claras, sem Sonar smell.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21"/>
          <p:cNvSpPr/>
          <p:nvPr/>
        </p:nvSpPr>
        <p:spPr>
          <a:xfrm>
            <a:off x="0" y="6473880"/>
            <a:ext cx="12187080" cy="382320"/>
          </a:xfrm>
          <a:prstGeom prst="rect">
            <a:avLst/>
          </a:prstGeom>
          <a:solidFill>
            <a:srgbClr val="1e3a5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80" name="TextBox 22"/>
          <p:cNvSpPr/>
          <p:nvPr/>
        </p:nvSpPr>
        <p:spPr>
          <a:xfrm>
            <a:off x="365760" y="6492240"/>
            <a:ext cx="1179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Documentado em README.md e documento de entrega — seção 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82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11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Demonstração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228600" y="1463040"/>
            <a:ext cx="11428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docker-compose up --build  →  http://localhost:8080/swagger-ui.html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6"/>
          <p:cNvSpPr/>
          <p:nvPr/>
        </p:nvSpPr>
        <p:spPr>
          <a:xfrm>
            <a:off x="228600" y="187452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87" name="TextBox 7"/>
          <p:cNvSpPr/>
          <p:nvPr/>
        </p:nvSpPr>
        <p:spPr>
          <a:xfrm>
            <a:off x="228600" y="187452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8"/>
          <p:cNvSpPr/>
          <p:nvPr/>
        </p:nvSpPr>
        <p:spPr>
          <a:xfrm>
            <a:off x="850320" y="192024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Login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9"/>
          <p:cNvSpPr/>
          <p:nvPr/>
        </p:nvSpPr>
        <p:spPr>
          <a:xfrm>
            <a:off x="850320" y="2331720"/>
            <a:ext cx="5210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POST /api/auth/login — obtém access token + refresh token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ounded Rectangle 10"/>
          <p:cNvSpPr/>
          <p:nvPr/>
        </p:nvSpPr>
        <p:spPr>
          <a:xfrm>
            <a:off x="228600" y="297180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91" name="TextBox 11"/>
          <p:cNvSpPr/>
          <p:nvPr/>
        </p:nvSpPr>
        <p:spPr>
          <a:xfrm>
            <a:off x="228600" y="297180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12"/>
          <p:cNvSpPr/>
          <p:nvPr/>
        </p:nvSpPr>
        <p:spPr>
          <a:xfrm>
            <a:off x="850320" y="301752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Cadastrar Cliente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3"/>
          <p:cNvSpPr/>
          <p:nvPr/>
        </p:nvSpPr>
        <p:spPr>
          <a:xfrm>
            <a:off x="850320" y="3429000"/>
            <a:ext cx="5210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POST /api/clientes — CPF validado por dígito verificador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14"/>
          <p:cNvSpPr/>
          <p:nvPr/>
        </p:nvSpPr>
        <p:spPr>
          <a:xfrm>
            <a:off x="228600" y="406908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95" name="TextBox 15"/>
          <p:cNvSpPr/>
          <p:nvPr/>
        </p:nvSpPr>
        <p:spPr>
          <a:xfrm>
            <a:off x="228600" y="406908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6"/>
          <p:cNvSpPr/>
          <p:nvPr/>
        </p:nvSpPr>
        <p:spPr>
          <a:xfrm>
            <a:off x="850320" y="411480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Cadastrar Veículo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7"/>
          <p:cNvSpPr/>
          <p:nvPr/>
        </p:nvSpPr>
        <p:spPr>
          <a:xfrm>
            <a:off x="850320" y="4526280"/>
            <a:ext cx="5210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POST /api/veiculos — placa formato antigo ou Mercosul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ounded Rectangle 18"/>
          <p:cNvSpPr/>
          <p:nvPr/>
        </p:nvSpPr>
        <p:spPr>
          <a:xfrm>
            <a:off x="228600" y="516636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228600" y="516636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4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20"/>
          <p:cNvSpPr/>
          <p:nvPr/>
        </p:nvSpPr>
        <p:spPr>
          <a:xfrm>
            <a:off x="850320" y="521208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Abrir OS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21"/>
          <p:cNvSpPr/>
          <p:nvPr/>
        </p:nvSpPr>
        <p:spPr>
          <a:xfrm>
            <a:off x="850320" y="5623560"/>
            <a:ext cx="5210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POST /api/ordens — status: Recebida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ounded Rectangle 22"/>
          <p:cNvSpPr/>
          <p:nvPr/>
        </p:nvSpPr>
        <p:spPr>
          <a:xfrm>
            <a:off x="6263640" y="187452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03" name="TextBox 23"/>
          <p:cNvSpPr/>
          <p:nvPr/>
        </p:nvSpPr>
        <p:spPr>
          <a:xfrm>
            <a:off x="6263640" y="187452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24"/>
          <p:cNvSpPr/>
          <p:nvPr/>
        </p:nvSpPr>
        <p:spPr>
          <a:xfrm>
            <a:off x="6885360" y="192024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Fluxo completo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25"/>
          <p:cNvSpPr/>
          <p:nvPr/>
        </p:nvSpPr>
        <p:spPr>
          <a:xfrm>
            <a:off x="6885360" y="2331720"/>
            <a:ext cx="5210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iniciar-diagnostico → adicionar itens → gerar-orcamento → aprovar → concluir → entregar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26"/>
          <p:cNvSpPr/>
          <p:nvPr/>
        </p:nvSpPr>
        <p:spPr>
          <a:xfrm>
            <a:off x="6263640" y="297180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07" name="TextBox 27"/>
          <p:cNvSpPr/>
          <p:nvPr/>
        </p:nvSpPr>
        <p:spPr>
          <a:xfrm>
            <a:off x="6263640" y="297180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6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8"/>
          <p:cNvSpPr/>
          <p:nvPr/>
        </p:nvSpPr>
        <p:spPr>
          <a:xfrm>
            <a:off x="6885360" y="301752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43f5e"/>
                </a:solidFill>
                <a:effectLst/>
                <a:uFillTx/>
                <a:latin typeface="Calibri"/>
                <a:ea typeface="DejaVu Sans"/>
              </a:rPr>
              <a:t>Estorno de estoque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9"/>
          <p:cNvSpPr/>
          <p:nvPr/>
        </p:nvSpPr>
        <p:spPr>
          <a:xfrm>
            <a:off x="6885360" y="3429000"/>
            <a:ext cx="5210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POST …/reprovar — itens devolvidos ao estoque atomicamente, status: Cancelada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ounded Rectangle 30"/>
          <p:cNvSpPr/>
          <p:nvPr/>
        </p:nvSpPr>
        <p:spPr>
          <a:xfrm>
            <a:off x="6263640" y="406908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94a3b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11" name="TextBox 31"/>
          <p:cNvSpPr/>
          <p:nvPr/>
        </p:nvSpPr>
        <p:spPr>
          <a:xfrm>
            <a:off x="6263640" y="406908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7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32"/>
          <p:cNvSpPr/>
          <p:nvPr/>
        </p:nvSpPr>
        <p:spPr>
          <a:xfrm>
            <a:off x="6885360" y="411480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Consulta pública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33"/>
          <p:cNvSpPr/>
          <p:nvPr/>
        </p:nvSpPr>
        <p:spPr>
          <a:xfrm>
            <a:off x="6885360" y="4526280"/>
            <a:ext cx="5210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GET /api/ordens/{id}/status — sem JWT (endpoint público)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ounded Rectangle 34"/>
          <p:cNvSpPr/>
          <p:nvPr/>
        </p:nvSpPr>
        <p:spPr>
          <a:xfrm>
            <a:off x="6263640" y="5166360"/>
            <a:ext cx="528480" cy="86688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15" name="TextBox 35"/>
          <p:cNvSpPr/>
          <p:nvPr/>
        </p:nvSpPr>
        <p:spPr>
          <a:xfrm>
            <a:off x="6263640" y="5166360"/>
            <a:ext cx="5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d172a"/>
                </a:solidFill>
                <a:effectLst/>
                <a:uFillTx/>
                <a:latin typeface="Calibri"/>
                <a:ea typeface="DejaVu Sans"/>
              </a:rPr>
              <a:t>8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36"/>
          <p:cNvSpPr/>
          <p:nvPr/>
        </p:nvSpPr>
        <p:spPr>
          <a:xfrm>
            <a:off x="6885360" y="5212080"/>
            <a:ext cx="521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Renovar Token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37"/>
          <p:cNvSpPr/>
          <p:nvPr/>
        </p:nvSpPr>
        <p:spPr>
          <a:xfrm>
            <a:off x="6885360" y="5623560"/>
            <a:ext cx="5210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POST /api/auth/refresh — rotação: novo par emitido, token antigo revogado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1"/>
          <p:cNvSpPr/>
          <p:nvPr/>
        </p:nvSpPr>
        <p:spPr>
          <a:xfrm>
            <a:off x="0" y="0"/>
            <a:ext cx="12187080" cy="6856200"/>
          </a:xfrm>
          <a:prstGeom prst="rect">
            <a:avLst/>
          </a:prstGeom>
          <a:solidFill>
            <a:srgbClr val="0d172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19" name="Rectangle 2"/>
          <p:cNvSpPr/>
          <p:nvPr/>
        </p:nvSpPr>
        <p:spPr>
          <a:xfrm>
            <a:off x="0" y="0"/>
            <a:ext cx="62280" cy="6856200"/>
          </a:xfrm>
          <a:prstGeom prst="rect">
            <a:avLst/>
          </a:prstGeom>
          <a:solidFill>
            <a:srgbClr val="f59e0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20" name="TextBox 3"/>
          <p:cNvSpPr/>
          <p:nvPr/>
        </p:nvSpPr>
        <p:spPr>
          <a:xfrm>
            <a:off x="228600" y="137160"/>
            <a:ext cx="1278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12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4"/>
          <p:cNvSpPr/>
          <p:nvPr/>
        </p:nvSpPr>
        <p:spPr>
          <a:xfrm>
            <a:off x="228600" y="868680"/>
            <a:ext cx="914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 Que Foi Entregue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5"/>
          <p:cNvSpPr/>
          <p:nvPr/>
        </p:nvSpPr>
        <p:spPr>
          <a:xfrm>
            <a:off x="228600" y="160020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6"/>
          <p:cNvSpPr/>
          <p:nvPr/>
        </p:nvSpPr>
        <p:spPr>
          <a:xfrm>
            <a:off x="731520" y="161856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Back-end monolítico containerizado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7"/>
          <p:cNvSpPr/>
          <p:nvPr/>
        </p:nvSpPr>
        <p:spPr>
          <a:xfrm>
            <a:off x="4937760" y="161856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Spring Boot 3.4.5 + Docker Compose · API RESTful documentada no Swagger UI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8"/>
          <p:cNvSpPr/>
          <p:nvPr/>
        </p:nvSpPr>
        <p:spPr>
          <a:xfrm>
            <a:off x="228600" y="221292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9"/>
          <p:cNvSpPr/>
          <p:nvPr/>
        </p:nvSpPr>
        <p:spPr>
          <a:xfrm>
            <a:off x="731520" y="223128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59e0b"/>
                </a:solidFill>
                <a:effectLst/>
                <a:uFillTx/>
                <a:latin typeface="Calibri"/>
                <a:ea typeface="DejaVu Sans"/>
              </a:rPr>
              <a:t>DDD — Design Estratégico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0"/>
          <p:cNvSpPr/>
          <p:nvPr/>
        </p:nvSpPr>
        <p:spPr>
          <a:xfrm>
            <a:off x="4937760" y="223128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Event Storming · Context Map · Linguagem Ubíqua · 7 bounded contexts modelados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1"/>
          <p:cNvSpPr/>
          <p:nvPr/>
        </p:nvSpPr>
        <p:spPr>
          <a:xfrm>
            <a:off x="228600" y="282564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2"/>
          <p:cNvSpPr/>
          <p:nvPr/>
        </p:nvSpPr>
        <p:spPr>
          <a:xfrm>
            <a:off x="731520" y="284364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DDD — Design Tático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13"/>
          <p:cNvSpPr/>
          <p:nvPr/>
        </p:nvSpPr>
        <p:spPr>
          <a:xfrm>
            <a:off x="4937760" y="284364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Value Objects · Entities · Aggregate Root (OrdemServico) · Use Cases · Repositórios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14"/>
          <p:cNvSpPr/>
          <p:nvPr/>
        </p:nvSpPr>
        <p:spPr>
          <a:xfrm>
            <a:off x="228600" y="343800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15"/>
          <p:cNvSpPr/>
          <p:nvPr/>
        </p:nvSpPr>
        <p:spPr>
          <a:xfrm>
            <a:off x="731520" y="345636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Clean Architecture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6"/>
          <p:cNvSpPr/>
          <p:nvPr/>
        </p:nvSpPr>
        <p:spPr>
          <a:xfrm>
            <a:off x="4937760" y="345636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Domain / Application / Infrastructure · dependência invertida verificável pelos testes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17"/>
          <p:cNvSpPr/>
          <p:nvPr/>
        </p:nvSpPr>
        <p:spPr>
          <a:xfrm>
            <a:off x="228600" y="405072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18"/>
          <p:cNvSpPr/>
          <p:nvPr/>
        </p:nvSpPr>
        <p:spPr>
          <a:xfrm>
            <a:off x="731520" y="406908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b923c"/>
                </a:solidFill>
                <a:effectLst/>
                <a:uFillTx/>
                <a:latin typeface="Calibri"/>
                <a:ea typeface="DejaVu Sans"/>
              </a:rPr>
              <a:t>Ciclo completo da OS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9"/>
          <p:cNvSpPr/>
          <p:nvPr/>
        </p:nvSpPr>
        <p:spPr>
          <a:xfrm>
            <a:off x="4937760" y="406908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8 endpoints de ciclo de vida · snapshot de preço · estorno de estoque atômico · relatório SQL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20"/>
          <p:cNvSpPr/>
          <p:nvPr/>
        </p:nvSpPr>
        <p:spPr>
          <a:xfrm>
            <a:off x="228600" y="466344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21"/>
          <p:cNvSpPr/>
          <p:nvPr/>
        </p:nvSpPr>
        <p:spPr>
          <a:xfrm>
            <a:off x="731520" y="468180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bbf24"/>
                </a:solidFill>
                <a:effectLst/>
                <a:uFillTx/>
                <a:latin typeface="Calibri"/>
                <a:ea typeface="DejaVu Sans"/>
              </a:rPr>
              <a:t>JWT + Refresh Token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22"/>
          <p:cNvSpPr/>
          <p:nvPr/>
        </p:nvSpPr>
        <p:spPr>
          <a:xfrm>
            <a:off x="4937760" y="468180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Access 15 min (HMAC-SHA384) · Refresh 7 dias com rotação e detecção de reutilização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23"/>
          <p:cNvSpPr/>
          <p:nvPr/>
        </p:nvSpPr>
        <p:spPr>
          <a:xfrm>
            <a:off x="228600" y="527616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24"/>
          <p:cNvSpPr/>
          <p:nvPr/>
        </p:nvSpPr>
        <p:spPr>
          <a:xfrm>
            <a:off x="731520" y="529452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2c55e"/>
                </a:solidFill>
                <a:effectLst/>
                <a:uFillTx/>
                <a:latin typeface="Calibri"/>
                <a:ea typeface="DejaVu Sans"/>
              </a:rPr>
              <a:t>104 testes · JaCoCo 80%+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25"/>
          <p:cNvSpPr/>
          <p:nvPr/>
        </p:nvSpPr>
        <p:spPr>
          <a:xfrm>
            <a:off x="4937760" y="529452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JUnit 5 puro · Mockito · Testcontainers (PostgreSQL real) · enforce no build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26"/>
          <p:cNvSpPr/>
          <p:nvPr/>
        </p:nvSpPr>
        <p:spPr>
          <a:xfrm>
            <a:off x="228600" y="588888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27"/>
          <p:cNvSpPr/>
          <p:nvPr/>
        </p:nvSpPr>
        <p:spPr>
          <a:xfrm>
            <a:off x="731520" y="590688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3b82f6"/>
                </a:solidFill>
                <a:effectLst/>
                <a:uFillTx/>
                <a:latin typeface="Calibri"/>
                <a:ea typeface="DejaVu Sans"/>
              </a:rPr>
              <a:t>OWASP Dep. Check aprovado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28"/>
          <p:cNvSpPr/>
          <p:nvPr/>
        </p:nvSpPr>
        <p:spPr>
          <a:xfrm>
            <a:off x="4937760" y="590688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7 supressões documentadas · 3 falsos positivos · 4 sem patch — risco aceito e documentado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29"/>
          <p:cNvSpPr/>
          <p:nvPr/>
        </p:nvSpPr>
        <p:spPr>
          <a:xfrm>
            <a:off x="228600" y="6429240"/>
            <a:ext cx="45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✅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30"/>
          <p:cNvSpPr/>
          <p:nvPr/>
        </p:nvSpPr>
        <p:spPr>
          <a:xfrm>
            <a:off x="731520" y="6447600"/>
            <a:ext cx="4113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b8a6"/>
                </a:solidFill>
                <a:effectLst/>
                <a:uFillTx/>
                <a:latin typeface="Calibri"/>
                <a:ea typeface="DejaVu Sans"/>
              </a:rPr>
              <a:t>CI com SonarCloud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31"/>
          <p:cNvSpPr/>
          <p:nvPr/>
        </p:nvSpPr>
        <p:spPr>
          <a:xfrm>
            <a:off x="4937760" y="6447600"/>
            <a:ext cx="69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94a3b8"/>
                </a:solidFill>
                <a:effectLst/>
                <a:uFillTx/>
                <a:latin typeface="Calibri"/>
                <a:ea typeface="DejaVu Sans"/>
              </a:rPr>
              <a:t>GitHub Actions: build → testes → JaCoCo → sonar → Quality Gate bloqueante na branch main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2026-05-07T19:09:40Z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